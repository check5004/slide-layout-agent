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"ed_cards_feature_left_4",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5312664" cy="3858768"/>
          </a:xfrm>
          <a:prstGeom prst="rect">
            <a:avLst/>
          </a:prstGeom>
          <a:solidFill>
            <a:srgbClr val="E8F3F2"/>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03504" y="2139696"/>
            <a:ext cx="41148" cy="385876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813816" y="2276856"/>
            <a:ext cx="4892040" cy="64008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検索入口を揃える</a:t>
            </a:r>
          </a:p>
        </p:txBody>
      </p:sp>
      <p:sp>
        <p:nvSpPr>
          <p:cNvPr id="12" name="slot:item_1_body"/>
          <p:cNvSpPr txBox="1"/>
          <p:nvPr/>
        </p:nvSpPr>
        <p:spPr>
          <a:xfrm>
            <a:off x="813816" y="3072384"/>
            <a:ext cx="4892040" cy="164592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用語の揺れを減らし、部門をまたいでも同じ資料へ辿れる導線を整える。検索結果には対象範囲を添え、読み手が必要な情報かを判断できるようにする。</a:t>
            </a:r>
          </a:p>
        </p:txBody>
      </p:sp>
      <p:sp>
        <p:nvSpPr>
          <p:cNvPr id="13" name="slot:item_1_evidence"/>
          <p:cNvSpPr txBox="1"/>
          <p:nvPr/>
        </p:nvSpPr>
        <p:spPr>
          <a:xfrm>
            <a:off x="813816" y="4828032"/>
            <a:ext cx="4892040"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対象：資料の入口を確認</a:t>
            </a:r>
          </a:p>
        </p:txBody>
      </p:sp>
      <p:sp>
        <p:nvSpPr>
          <p:cNvPr id="14" name="decor:5"/>
          <p:cNvSpPr/>
          <p:nvPr/>
        </p:nvSpPr>
        <p:spPr>
          <a:xfrm>
            <a:off x="6263640" y="3322320"/>
            <a:ext cx="5312664"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6318503" y="2176272"/>
            <a:ext cx="5202936" cy="420624"/>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6" name="slot:item_2_body"/>
          <p:cNvSpPr txBox="1"/>
          <p:nvPr/>
        </p:nvSpPr>
        <p:spPr>
          <a:xfrm>
            <a:off x="6318503" y="2615184"/>
            <a:ext cx="5202936" cy="350519"/>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原文の条件と確認日を残す。</a:t>
            </a:r>
          </a:p>
        </p:txBody>
      </p:sp>
      <p:sp>
        <p:nvSpPr>
          <p:cNvPr id="17" name="slot:item_2_evidence"/>
          <p:cNvSpPr txBox="1"/>
          <p:nvPr/>
        </p:nvSpPr>
        <p:spPr>
          <a:xfrm>
            <a:off x="6318503" y="3020568"/>
            <a:ext cx="5202936" cy="274320"/>
          </a:xfrm>
          <a:prstGeom prst="rect">
            <a:avLst/>
          </a:prstGeom>
          <a:noFill/>
        </p:spPr>
        <p:txBody>
          <a:bodyPr wrap="square" lIns="18288" rIns="18288" tIns="13716" bIns="13716">
            <a:noAutofit/>
          </a:bodyPr>
          <a:lstStyle/>
          <a:p>
            <a:pPr hangingPunct="0" eaLnBrk="1" latinLnBrk="0">
              <a:lnSpc>
                <a:spcPts val="1625"/>
              </a:lnSpc>
              <a:spcBef>
                <a:spcPts val="0"/>
              </a:spcBef>
              <a:spcAft>
                <a:spcPts val="0"/>
              </a:spcAft>
              <a:defRPr lang="ja-JP" sz="1300" b="0">
                <a:solidFill>
                  <a:srgbClr val="566777"/>
                </a:solidFill>
                <a:latin typeface="Yu Gothic"/>
                <a:ea typeface="Yu Gothic"/>
                <a:cs typeface="Yu Gothic"/>
              </a:defRPr>
            </a:pPr>
            <a:r>
              <a:rPr lang="ja-JP" sz="1300" b="0">
                <a:solidFill>
                  <a:srgbClr val="566777"/>
                </a:solidFill>
                <a:latin typeface="Yu Gothic"/>
                <a:ea typeface="Yu Gothic"/>
                <a:cs typeface="Yu Gothic"/>
              </a:rPr>
              <a:t>根拠：原文の条件</a:t>
            </a:r>
          </a:p>
        </p:txBody>
      </p:sp>
      <p:sp>
        <p:nvSpPr>
          <p:cNvPr id="18" name="decor:6"/>
          <p:cNvSpPr/>
          <p:nvPr/>
        </p:nvSpPr>
        <p:spPr>
          <a:xfrm>
            <a:off x="6263640" y="4660392"/>
            <a:ext cx="5312664"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3_heading"/>
          <p:cNvSpPr txBox="1"/>
          <p:nvPr/>
        </p:nvSpPr>
        <p:spPr>
          <a:xfrm>
            <a:off x="6318503" y="3514344"/>
            <a:ext cx="5202936" cy="420624"/>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0" name="slot:item_3_body"/>
          <p:cNvSpPr txBox="1"/>
          <p:nvPr/>
        </p:nvSpPr>
        <p:spPr>
          <a:xfrm>
            <a:off x="6318503" y="3953256"/>
            <a:ext cx="5202936" cy="350519"/>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更新担当と確認時期を決める。</a:t>
            </a:r>
          </a:p>
        </p:txBody>
      </p:sp>
      <p:sp>
        <p:nvSpPr>
          <p:cNvPr id="21" name="slot:item_3_evidence"/>
          <p:cNvSpPr txBox="1"/>
          <p:nvPr/>
        </p:nvSpPr>
        <p:spPr>
          <a:xfrm>
            <a:off x="6318503" y="4358640"/>
            <a:ext cx="5202936" cy="274320"/>
          </a:xfrm>
          <a:prstGeom prst="rect">
            <a:avLst/>
          </a:prstGeom>
          <a:noFill/>
        </p:spPr>
        <p:txBody>
          <a:bodyPr wrap="square" lIns="18288" rIns="18288" tIns="13716" bIns="13716">
            <a:noAutofit/>
          </a:bodyPr>
          <a:lstStyle/>
          <a:p>
            <a:pPr hangingPunct="0" eaLnBrk="1" latinLnBrk="0">
              <a:lnSpc>
                <a:spcPts val="1625"/>
              </a:lnSpc>
              <a:spcBef>
                <a:spcPts val="0"/>
              </a:spcBef>
              <a:spcAft>
                <a:spcPts val="0"/>
              </a:spcAft>
              <a:defRPr lang="ja-JP" sz="1300" b="0">
                <a:solidFill>
                  <a:srgbClr val="566777"/>
                </a:solidFill>
                <a:latin typeface="Yu Gothic"/>
                <a:ea typeface="Yu Gothic"/>
                <a:cs typeface="Yu Gothic"/>
              </a:defRPr>
            </a:pPr>
            <a:r>
              <a:rPr lang="ja-JP" sz="1300" b="0">
                <a:solidFill>
                  <a:srgbClr val="566777"/>
                </a:solidFill>
                <a:latin typeface="Yu Gothic"/>
                <a:ea typeface="Yu Gothic"/>
                <a:cs typeface="Yu Gothic"/>
              </a:rPr>
              <a:t>留保：運用負荷は未検証</a:t>
            </a:r>
          </a:p>
        </p:txBody>
      </p:sp>
      <p:sp>
        <p:nvSpPr>
          <p:cNvPr id="22" name="decor:7"/>
          <p:cNvSpPr/>
          <p:nvPr/>
        </p:nvSpPr>
        <p:spPr>
          <a:xfrm>
            <a:off x="6263640" y="5998464"/>
            <a:ext cx="5312664"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lot:item_4_heading"/>
          <p:cNvSpPr txBox="1"/>
          <p:nvPr/>
        </p:nvSpPr>
        <p:spPr>
          <a:xfrm>
            <a:off x="6318503" y="4852415"/>
            <a:ext cx="5202936" cy="420624"/>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4" name="slot:item_4_body"/>
          <p:cNvSpPr txBox="1"/>
          <p:nvPr/>
        </p:nvSpPr>
        <p:spPr>
          <a:xfrm>
            <a:off x="6318503" y="5291328"/>
            <a:ext cx="5202936" cy="350519"/>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対象外の場面と前提を記録する。</a:t>
            </a:r>
          </a:p>
        </p:txBody>
      </p:sp>
      <p:sp>
        <p:nvSpPr>
          <p:cNvPr id="25" name="slot:item_4_evidence"/>
          <p:cNvSpPr txBox="1"/>
          <p:nvPr/>
        </p:nvSpPr>
        <p:spPr>
          <a:xfrm>
            <a:off x="6318503" y="5696712"/>
            <a:ext cx="5202936" cy="274320"/>
          </a:xfrm>
          <a:prstGeom prst="rect">
            <a:avLst/>
          </a:prstGeom>
          <a:noFill/>
        </p:spPr>
        <p:txBody>
          <a:bodyPr wrap="square" lIns="18288" rIns="18288" tIns="13716" bIns="13716">
            <a:noAutofit/>
          </a:bodyPr>
          <a:lstStyle/>
          <a:p>
            <a:pPr hangingPunct="0" eaLnBrk="1" latinLnBrk="0">
              <a:lnSpc>
                <a:spcPts val="1625"/>
              </a:lnSpc>
              <a:spcBef>
                <a:spcPts val="0"/>
              </a:spcBef>
              <a:spcAft>
                <a:spcPts val="0"/>
              </a:spcAft>
              <a:defRPr lang="ja-JP" sz="1300" b="0">
                <a:solidFill>
                  <a:srgbClr val="566777"/>
                </a:solidFill>
                <a:latin typeface="Yu Gothic"/>
                <a:ea typeface="Yu Gothic"/>
                <a:cs typeface="Yu Gothic"/>
              </a:defRPr>
            </a:pPr>
            <a:r>
              <a:rPr lang="ja-JP" sz="1300" b="0">
                <a:solidFill>
                  <a:srgbClr val="566777"/>
                </a:solidFill>
                <a:latin typeface="Yu Gothic"/>
                <a:ea typeface="Yu Gothic"/>
                <a:cs typeface="Yu Gothic"/>
              </a:rPr>
              <a:t>注意：適用範囲を確認</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調査所見カード</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