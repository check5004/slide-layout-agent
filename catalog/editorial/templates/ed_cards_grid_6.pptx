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{"layout_id": "ed_cards_grid_6", "license": "MIT License\n\nCopyright (c) 2026 slide-layout-agent contributors\n\nPermission is hereby granted, free of charge, to any person obtaining a copy\nof this software and associated documentation files (the \"Software\"), to deal\nin the Software without restriction, including without limitation the rights\nto use, copy, modify, merge, publish, distribute, sublicense, and/or sell\ncopies of the Software, and to permit persons to whom the Software is\nfurnished to do so, subject to the following conditions:\n\nThe above copyright notice and this permission notice shall be included in all\ncopies or substantial portions of the Software.\n\nTHE SOFTWARE IS PROVIDED \"AS IS\", WITHOUT WARRANTY OF ANY KIND, EXPRESS OR\nIMPLIED, INCLUDING BUT NOT LIMITED TO THE WARRANTIES OF MERCHANTABILITY,\nFITNESS FOR A PARTICULAR PURPOSE AND NONINFRINGEMENT. IN NO EVENT SHALL THE\nAUTHORS OR COPYRIGHT HOLDERS BE LIABLE FOR ANY CLAIM, DAMAGES OR OTHER\nLIABILITY, WHETHER IN AN ACTION OF CONTRACT, TORT OR OTHERWISE, ARISING FROM,\nOUT OF OR IN CONNECTION WITH THE SOFTWARE OR THE USE OR OTHER DEALINGS IN THE\nSOFTWARE.\n", "provenance": "Original design; fictional content"}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7F8FA"/>
        </a:solidFill>
        <a:effectLst/>
      </p:bgPr>
    </p:bg>
    <p:spTree>
      <p:nvGrpSpPr>
        <p:cNvPr id="1" name=""/>
        <p:cNvGrpSpPr/>
        <p:nvPr/>
      </p:nvGrpSpPr>
      <p:grpSpPr/>
      <p:sp>
        <p:nvSpPr>
          <p:cNvPr id="2" name="decor:1"/>
          <p:cNvSpPr/>
          <p:nvPr/>
        </p:nvSpPr>
        <p:spPr>
          <a:xfrm>
            <a:off x="566928" y="393192"/>
            <a:ext cx="292608" cy="50292"/>
          </a:xfrm>
          <a:prstGeom prst="rect">
            <a:avLst/>
          </a:prstGeom>
          <a:solidFill>
            <a:srgbClr val="087E8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meta:header"/>
          <p:cNvSpPr txBox="1"/>
          <p:nvPr/>
        </p:nvSpPr>
        <p:spPr>
          <a:xfrm>
            <a:off x="960120" y="292608"/>
            <a:ext cx="9052560" cy="292608"/>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架空調査｜社内ナレッジ共有</a:t>
            </a:r>
          </a:p>
        </p:txBody>
      </p:sp>
      <p:sp>
        <p:nvSpPr>
          <p:cNvPr id="4" name="meta:page"/>
          <p:cNvSpPr txBox="1"/>
          <p:nvPr/>
        </p:nvSpPr>
        <p:spPr>
          <a:xfrm>
            <a:off x="10972800" y="6391656"/>
            <a:ext cx="621792" cy="274320"/>
          </a:xfrm>
          <a:prstGeom prst="rect">
            <a:avLst/>
          </a:prstGeom>
          <a:noFill/>
        </p:spPr>
        <p:txBody>
          <a:bodyPr wrap="square" anchor="t" lIns="18288" rIns="18288" tIns="13716" bIns="13716">
            <a:noAutofit/>
          </a:bodyPr>
          <a:lstStyle/>
          <a:p>
            <a:pPr hangingPunct="0" eaLnBrk="1" latinLnBrk="0">
              <a:lnSpc>
                <a:spcPts val="1500"/>
              </a:lnSpc>
              <a:spcBef>
                <a:spcPts val="0"/>
              </a:spcBef>
              <a:spcAft>
                <a:spcPts val="0"/>
              </a:spcAft>
              <a:defRPr lang="ja-JP" sz="1200" b="0">
                <a:solidFill>
                  <a:srgbClr val="566777"/>
                </a:solidFill>
                <a:latin typeface="Yu Gothic"/>
                <a:ea typeface="Yu Gothic"/>
                <a:cs typeface="Yu Gothic"/>
              </a:defRPr>
            </a:pPr>
            <a:r>
              <a:rPr lang="ja-JP" sz="1200" b="0">
                <a:solidFill>
                  <a:srgbClr val="566777"/>
                </a:solidFill>
                <a:latin typeface="Yu Gothic"/>
                <a:ea typeface="Yu Gothic"/>
                <a:cs typeface="Yu Gothic"/>
              </a:rPr>
              <a:t>01</a:t>
            </a:r>
          </a:p>
        </p:txBody>
      </p:sp>
      <p:sp>
        <p:nvSpPr>
          <p:cNvPr id="5" name="meta:footer"/>
          <p:cNvSpPr txBox="1"/>
          <p:nvPr/>
        </p:nvSpPr>
        <p:spPr>
          <a:xfrm>
            <a:off x="603504" y="6419088"/>
            <a:ext cx="9601200" cy="237744"/>
          </a:xfrm>
          <a:prstGeom prst="rect">
            <a:avLst/>
          </a:prstGeom>
          <a:noFill/>
        </p:spPr>
        <p:txBody>
          <a:bodyPr wrap="square" anchor="t" lIns="18288" rIns="18288" tIns="13716" bIns="13716">
            <a:noAutofit/>
          </a:bodyPr>
          <a:lstStyle/>
          <a:p>
            <a:pPr hangingPunct="0" eaLnBrk="1" latinLnBrk="0">
              <a:lnSpc>
                <a:spcPts val="1250"/>
              </a:lnSpc>
              <a:spcBef>
                <a:spcPts val="0"/>
              </a:spcBef>
              <a:spcAft>
                <a:spcPts val="0"/>
              </a:spcAft>
              <a:defRPr lang="ja-JP" sz="1000" b="0">
                <a:solidFill>
                  <a:srgbClr val="566777"/>
                </a:solidFill>
                <a:latin typeface="Yu Gothic"/>
                <a:ea typeface="Yu Gothic"/>
                <a:cs typeface="Yu Gothic"/>
              </a:defRPr>
            </a:pPr>
            <a:r>
              <a:rPr lang="ja-JP" sz="1000" b="0">
                <a:solidFill>
                  <a:srgbClr val="566777"/>
                </a:solidFill>
                <a:latin typeface="Yu Gothic"/>
                <a:ea typeface="Yu Gothic"/>
                <a:cs typeface="Yu Gothic"/>
              </a:rPr>
              <a:t>FICTIONAL RESEARCH / EDITORIAL</a:t>
            </a:r>
          </a:p>
        </p:txBody>
      </p:sp>
      <p:sp>
        <p:nvSpPr>
          <p:cNvPr id="6" name="decor:2"/>
          <p:cNvSpPr/>
          <p:nvPr/>
        </p:nvSpPr>
        <p:spPr>
          <a:xfrm>
            <a:off x="603504" y="6263640"/>
            <a:ext cx="10972800" cy="10972"/>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lot:title"/>
          <p:cNvSpPr txBox="1"/>
          <p:nvPr/>
        </p:nvSpPr>
        <p:spPr>
          <a:xfrm>
            <a:off x="603504" y="786384"/>
            <a:ext cx="10972800" cy="603504"/>
          </a:xfrm>
          <a:prstGeom prst="rect">
            <a:avLst/>
          </a:prstGeom>
          <a:noFill/>
        </p:spPr>
        <p:txBody>
          <a:bodyPr wrap="square" anchor="t" lIns="18288" rIns="18288" tIns="13716" bIns="13716">
            <a:noAutofit/>
          </a:bodyPr>
          <a:lstStyle/>
          <a:p>
            <a:pPr hangingPunct="0" eaLnBrk="1" latinLnBrk="0">
              <a:lnSpc>
                <a:spcPts val="3500"/>
              </a:lnSpc>
              <a:spcBef>
                <a:spcPts val="0"/>
              </a:spcBef>
              <a:spcAft>
                <a:spcPts val="0"/>
              </a:spcAft>
              <a:defRPr lang="ja-JP" sz="2800" b="1">
                <a:solidFill>
                  <a:srgbClr val="213547"/>
                </a:solidFill>
                <a:latin typeface="Yu Gothic"/>
                <a:ea typeface="Yu Gothic"/>
                <a:cs typeface="Yu Gothic"/>
              </a:defRPr>
            </a:pPr>
            <a:r>
              <a:rPr lang="ja-JP" sz="2800" b="1">
                <a:solidFill>
                  <a:srgbClr val="213547"/>
                </a:solidFill>
                <a:latin typeface="Yu Gothic"/>
                <a:ea typeface="Yu Gothic"/>
                <a:cs typeface="Yu Gothic"/>
              </a:rPr>
              <a:t>社内ナレッジを探しやすくする条件</a:t>
            </a:r>
          </a:p>
        </p:txBody>
      </p:sp>
      <p:sp>
        <p:nvSpPr>
          <p:cNvPr id="8" name="slot:context"/>
          <p:cNvSpPr txBox="1"/>
          <p:nvPr/>
        </p:nvSpPr>
        <p:spPr>
          <a:xfrm>
            <a:off x="621792" y="1490472"/>
            <a:ext cx="10927080" cy="502920"/>
          </a:xfrm>
          <a:prstGeom prst="rect">
            <a:avLst/>
          </a:prstGeom>
          <a:noFill/>
        </p:spPr>
        <p:txBody>
          <a:bodyPr wrap="square" anchor="t" lIns="18288" rIns="18288" tIns="13716" bIns="13716">
            <a:noAutofit/>
          </a:bodyPr>
          <a:lstStyle/>
          <a:p>
            <a:pPr hangingPunct="0" eaLnBrk="1" latinLnBrk="0">
              <a:lnSpc>
                <a:spcPts val="1875"/>
              </a:lnSpc>
              <a:spcBef>
                <a:spcPts val="0"/>
              </a:spcBef>
              <a:spcAft>
                <a:spcPts val="0"/>
              </a:spcAft>
              <a:defRPr lang="ja-JP" sz="1500" b="0">
                <a:solidFill>
                  <a:srgbClr val="566777"/>
                </a:solidFill>
                <a:latin typeface="Yu Gothic"/>
                <a:ea typeface="Yu Gothic"/>
                <a:cs typeface="Yu Gothic"/>
              </a:defRPr>
            </a:pPr>
            <a:r>
              <a:rPr lang="ja-JP" sz="1500" b="0">
                <a:solidFill>
                  <a:srgbClr val="566777"/>
                </a:solidFill>
                <a:latin typeface="Yu Gothic"/>
                <a:ea typeface="Yu Gothic"/>
                <a:cs typeface="Yu Gothic"/>
              </a:rPr>
              <a:t>架空の社内調査。運用条件を整理した所見であり、効果を実証したものではない。</a:t>
            </a:r>
          </a:p>
        </p:txBody>
      </p:sp>
      <p:sp>
        <p:nvSpPr>
          <p:cNvPr id="9" name="decor:3"/>
          <p:cNvSpPr/>
          <p:nvPr/>
        </p:nvSpPr>
        <p:spPr>
          <a:xfrm>
            <a:off x="603504"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decor:4"/>
          <p:cNvSpPr/>
          <p:nvPr/>
        </p:nvSpPr>
        <p:spPr>
          <a:xfrm>
            <a:off x="603504"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lot:item_1_heading"/>
          <p:cNvSpPr txBox="1"/>
          <p:nvPr/>
        </p:nvSpPr>
        <p:spPr>
          <a:xfrm>
            <a:off x="813816" y="2276856"/>
            <a:ext cx="310286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検索入口を揃える</a:t>
            </a:r>
          </a:p>
        </p:txBody>
      </p:sp>
      <p:sp>
        <p:nvSpPr>
          <p:cNvPr id="12" name="slot:item_1_body"/>
          <p:cNvSpPr txBox="1"/>
          <p:nvPr/>
        </p:nvSpPr>
        <p:spPr>
          <a:xfrm>
            <a:off x="813816" y="2798063"/>
            <a:ext cx="3102864" cy="630936"/>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用語を揃え、同じ資料へ辿れる入口を整える。</a:t>
            </a:r>
          </a:p>
        </p:txBody>
      </p:sp>
      <p:sp>
        <p:nvSpPr>
          <p:cNvPr id="13" name="slot:item_1_evidence"/>
          <p:cNvSpPr txBox="1"/>
          <p:nvPr/>
        </p:nvSpPr>
        <p:spPr>
          <a:xfrm>
            <a:off x="813816" y="3538727"/>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対象：資料の入口を確認</a:t>
            </a:r>
          </a:p>
        </p:txBody>
      </p:sp>
      <p:sp>
        <p:nvSpPr>
          <p:cNvPr id="14" name="decor:5"/>
          <p:cNvSpPr/>
          <p:nvPr/>
        </p:nvSpPr>
        <p:spPr>
          <a:xfrm>
            <a:off x="4328160"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decor:6"/>
          <p:cNvSpPr/>
          <p:nvPr/>
        </p:nvSpPr>
        <p:spPr>
          <a:xfrm>
            <a:off x="4328160"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lot:item_2_heading"/>
          <p:cNvSpPr txBox="1"/>
          <p:nvPr/>
        </p:nvSpPr>
        <p:spPr>
          <a:xfrm>
            <a:off x="4538472" y="2276856"/>
            <a:ext cx="310286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根拠まで辿れる</a:t>
            </a:r>
          </a:p>
        </p:txBody>
      </p:sp>
      <p:sp>
        <p:nvSpPr>
          <p:cNvPr id="17" name="slot:item_2_body"/>
          <p:cNvSpPr txBox="1"/>
          <p:nvPr/>
        </p:nvSpPr>
        <p:spPr>
          <a:xfrm>
            <a:off x="4538472" y="2798063"/>
            <a:ext cx="3102864" cy="630936"/>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原文の条件と確認日を、要約とともに残す。</a:t>
            </a:r>
          </a:p>
        </p:txBody>
      </p:sp>
      <p:sp>
        <p:nvSpPr>
          <p:cNvPr id="18" name="slot:item_2_evidence"/>
          <p:cNvSpPr txBox="1"/>
          <p:nvPr/>
        </p:nvSpPr>
        <p:spPr>
          <a:xfrm>
            <a:off x="4538472" y="3538727"/>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根拠：原文の条件を保持</a:t>
            </a:r>
          </a:p>
        </p:txBody>
      </p:sp>
      <p:sp>
        <p:nvSpPr>
          <p:cNvPr id="19" name="decor:7"/>
          <p:cNvSpPr/>
          <p:nvPr/>
        </p:nvSpPr>
        <p:spPr>
          <a:xfrm>
            <a:off x="8052816" y="2139696"/>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decor:8"/>
          <p:cNvSpPr/>
          <p:nvPr/>
        </p:nvSpPr>
        <p:spPr>
          <a:xfrm>
            <a:off x="8052816" y="2139696"/>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slot:item_3_heading"/>
          <p:cNvSpPr txBox="1"/>
          <p:nvPr/>
        </p:nvSpPr>
        <p:spPr>
          <a:xfrm>
            <a:off x="8263128" y="2276856"/>
            <a:ext cx="310286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更新範囲を決める</a:t>
            </a:r>
          </a:p>
        </p:txBody>
      </p:sp>
      <p:sp>
        <p:nvSpPr>
          <p:cNvPr id="22" name="slot:item_3_body"/>
          <p:cNvSpPr txBox="1"/>
          <p:nvPr/>
        </p:nvSpPr>
        <p:spPr>
          <a:xfrm>
            <a:off x="8263128" y="2798063"/>
            <a:ext cx="3102864" cy="630936"/>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変更頻度に応じて担当と再確認の時期を決める。</a:t>
            </a:r>
          </a:p>
        </p:txBody>
      </p:sp>
      <p:sp>
        <p:nvSpPr>
          <p:cNvPr id="23" name="slot:item_3_evidence"/>
          <p:cNvSpPr txBox="1"/>
          <p:nvPr/>
        </p:nvSpPr>
        <p:spPr>
          <a:xfrm>
            <a:off x="8263128" y="3538727"/>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留保：運用負荷は未検証</a:t>
            </a:r>
          </a:p>
        </p:txBody>
      </p:sp>
      <p:sp>
        <p:nvSpPr>
          <p:cNvPr id="24" name="decor:9"/>
          <p:cNvSpPr/>
          <p:nvPr/>
        </p:nvSpPr>
        <p:spPr>
          <a:xfrm>
            <a:off x="603504"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decor:10"/>
          <p:cNvSpPr/>
          <p:nvPr/>
        </p:nvSpPr>
        <p:spPr>
          <a:xfrm>
            <a:off x="603504"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slot:item_4_heading"/>
          <p:cNvSpPr txBox="1"/>
          <p:nvPr/>
        </p:nvSpPr>
        <p:spPr>
          <a:xfrm>
            <a:off x="813816" y="4306824"/>
            <a:ext cx="310286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例外を見える化</a:t>
            </a:r>
          </a:p>
        </p:txBody>
      </p:sp>
      <p:sp>
        <p:nvSpPr>
          <p:cNvPr id="27" name="slot:item_4_body"/>
          <p:cNvSpPr txBox="1"/>
          <p:nvPr/>
        </p:nvSpPr>
        <p:spPr>
          <a:xfrm>
            <a:off x="813816" y="4828031"/>
            <a:ext cx="3102864" cy="630936"/>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適用できない場面も記録し、前提の違いを残す。</a:t>
            </a:r>
          </a:p>
        </p:txBody>
      </p:sp>
      <p:sp>
        <p:nvSpPr>
          <p:cNvPr id="28" name="slot:item_4_evidence"/>
          <p:cNvSpPr txBox="1"/>
          <p:nvPr/>
        </p:nvSpPr>
        <p:spPr>
          <a:xfrm>
            <a:off x="813816" y="5568696"/>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注意：対象外の場面を含む</a:t>
            </a:r>
          </a:p>
        </p:txBody>
      </p:sp>
      <p:sp>
        <p:nvSpPr>
          <p:cNvPr id="29" name="decor:11"/>
          <p:cNvSpPr/>
          <p:nvPr/>
        </p:nvSpPr>
        <p:spPr>
          <a:xfrm>
            <a:off x="4328160"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decor:12"/>
          <p:cNvSpPr/>
          <p:nvPr/>
        </p:nvSpPr>
        <p:spPr>
          <a:xfrm>
            <a:off x="4328160"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slot:item_5_heading"/>
          <p:cNvSpPr txBox="1"/>
          <p:nvPr/>
        </p:nvSpPr>
        <p:spPr>
          <a:xfrm>
            <a:off x="4538472" y="4306824"/>
            <a:ext cx="310286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比較軸を共有する</a:t>
            </a:r>
          </a:p>
        </p:txBody>
      </p:sp>
      <p:sp>
        <p:nvSpPr>
          <p:cNvPr id="32" name="slot:item_5_body"/>
          <p:cNvSpPr txBox="1"/>
          <p:nvPr/>
        </p:nvSpPr>
        <p:spPr>
          <a:xfrm>
            <a:off x="4538472" y="4828031"/>
            <a:ext cx="3102864" cy="630936"/>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評価項目を揃え、異なる条件の結果を混同しない。</a:t>
            </a:r>
          </a:p>
        </p:txBody>
      </p:sp>
      <p:sp>
        <p:nvSpPr>
          <p:cNvPr id="33" name="slot:item_5_evidence"/>
          <p:cNvSpPr txBox="1"/>
          <p:nvPr/>
        </p:nvSpPr>
        <p:spPr>
          <a:xfrm>
            <a:off x="4538472" y="5568696"/>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根拠：比較条件を照合</a:t>
            </a:r>
          </a:p>
        </p:txBody>
      </p:sp>
      <p:sp>
        <p:nvSpPr>
          <p:cNvPr id="34" name="decor:13"/>
          <p:cNvSpPr/>
          <p:nvPr/>
        </p:nvSpPr>
        <p:spPr>
          <a:xfrm>
            <a:off x="8052816" y="4169663"/>
            <a:ext cx="3523488" cy="1828799"/>
          </a:xfrm>
          <a:prstGeom prst="rect">
            <a:avLst/>
          </a:prstGeom>
          <a:solidFill>
            <a:srgbClr val="FFFFFF"/>
          </a:solidFill>
          <a:ln w="8890">
            <a:solidFill>
              <a:srgbClr val="DCE3E9"/>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decor:14"/>
          <p:cNvSpPr/>
          <p:nvPr/>
        </p:nvSpPr>
        <p:spPr>
          <a:xfrm>
            <a:off x="8052816" y="4169663"/>
            <a:ext cx="41148" cy="1828799"/>
          </a:xfrm>
          <a:prstGeom prst="rect">
            <a:avLst/>
          </a:prstGeom>
          <a:solidFill>
            <a:srgbClr val="DCE3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slot:item_6_heading"/>
          <p:cNvSpPr txBox="1"/>
          <p:nvPr/>
        </p:nvSpPr>
        <p:spPr>
          <a:xfrm>
            <a:off x="8263128" y="4306824"/>
            <a:ext cx="3102864" cy="438912"/>
          </a:xfrm>
          <a:prstGeom prst="rect">
            <a:avLst/>
          </a:prstGeom>
          <a:noFill/>
        </p:spPr>
        <p:txBody>
          <a:bodyPr wrap="square" anchor="t" lIns="18288" rIns="18288" tIns="13716" bIns="13716">
            <a:noAutofit/>
          </a:bodyPr>
          <a:lstStyle/>
          <a:p>
            <a:pPr hangingPunct="0" eaLnBrk="1" latinLnBrk="0">
              <a:lnSpc>
                <a:spcPts val="2500"/>
              </a:lnSpc>
              <a:spcBef>
                <a:spcPts val="0"/>
              </a:spcBef>
              <a:spcAft>
                <a:spcPts val="0"/>
              </a:spcAft>
              <a:defRPr lang="ja-JP" sz="2000" b="1">
                <a:solidFill>
                  <a:srgbClr val="213547"/>
                </a:solidFill>
                <a:latin typeface="Yu Gothic"/>
                <a:ea typeface="Yu Gothic"/>
                <a:cs typeface="Yu Gothic"/>
              </a:defRPr>
            </a:pPr>
            <a:r>
              <a:rPr lang="ja-JP" sz="2000" b="1">
                <a:solidFill>
                  <a:srgbClr val="213547"/>
                </a:solidFill>
                <a:latin typeface="Yu Gothic"/>
                <a:ea typeface="Yu Gothic"/>
                <a:cs typeface="Yu Gothic"/>
              </a:rPr>
              <a:t>確認先を残す</a:t>
            </a:r>
          </a:p>
        </p:txBody>
      </p:sp>
      <p:sp>
        <p:nvSpPr>
          <p:cNvPr id="37" name="slot:item_6_body"/>
          <p:cNvSpPr txBox="1"/>
          <p:nvPr/>
        </p:nvSpPr>
        <p:spPr>
          <a:xfrm>
            <a:off x="8263128" y="4828031"/>
            <a:ext cx="3102864" cy="630936"/>
          </a:xfrm>
          <a:prstGeom prst="rect">
            <a:avLst/>
          </a:prstGeom>
          <a:noFill/>
        </p:spPr>
        <p:txBody>
          <a:bodyPr wrap="square" anchor="t" lIns="18288" rIns="18288" tIns="13716" bIns="13716">
            <a:noAutofit/>
          </a:bodyPr>
          <a:lstStyle/>
          <a:p>
            <a:pPr hangingPunct="0" eaLnBrk="1" latinLnBrk="0">
              <a:lnSpc>
                <a:spcPts val="2250"/>
              </a:lnSpc>
              <a:spcBef>
                <a:spcPts val="0"/>
              </a:spcBef>
              <a:spcAft>
                <a:spcPts val="0"/>
              </a:spcAft>
              <a:defRPr lang="ja-JP" sz="1800" b="0">
                <a:solidFill>
                  <a:srgbClr val="213547"/>
                </a:solidFill>
                <a:latin typeface="Yu Gothic"/>
                <a:ea typeface="Yu Gothic"/>
                <a:cs typeface="Yu Gothic"/>
              </a:defRPr>
            </a:pPr>
            <a:r>
              <a:rPr lang="ja-JP" sz="1800" b="0">
                <a:solidFill>
                  <a:srgbClr val="213547"/>
                </a:solidFill>
                <a:latin typeface="Yu Gothic"/>
                <a:ea typeface="Yu Gothic"/>
                <a:cs typeface="Yu Gothic"/>
              </a:rPr>
              <a:t>未確認の論点と、追加調査で確かめる点を残す。</a:t>
            </a:r>
          </a:p>
        </p:txBody>
      </p:sp>
      <p:sp>
        <p:nvSpPr>
          <p:cNvPr id="38" name="slot:item_6_evidence"/>
          <p:cNvSpPr txBox="1"/>
          <p:nvPr/>
        </p:nvSpPr>
        <p:spPr>
          <a:xfrm>
            <a:off x="8263128" y="5568696"/>
            <a:ext cx="3102864" cy="310896"/>
          </a:xfrm>
          <a:prstGeom prst="rect">
            <a:avLst/>
          </a:prstGeom>
          <a:noFill/>
        </p:spPr>
        <p:txBody>
          <a:bodyPr wrap="square" anchor="t" lIns="18288" rIns="18288" tIns="13716" bIns="13716">
            <a:noAutofit/>
          </a:bodyPr>
          <a:lstStyle/>
          <a:p>
            <a:pPr hangingPunct="0" eaLnBrk="1" latinLnBrk="0">
              <a:lnSpc>
                <a:spcPts val="1750"/>
              </a:lnSpc>
              <a:spcBef>
                <a:spcPts val="0"/>
              </a:spcBef>
              <a:spcAft>
                <a:spcPts val="0"/>
              </a:spcAft>
              <a:defRPr lang="ja-JP" sz="1400" b="0">
                <a:solidFill>
                  <a:srgbClr val="566777"/>
                </a:solidFill>
                <a:latin typeface="Yu Gothic"/>
                <a:ea typeface="Yu Gothic"/>
                <a:cs typeface="Yu Gothic"/>
              </a:defRPr>
            </a:pPr>
            <a:r>
              <a:rPr lang="ja-JP" sz="1400" b="0">
                <a:solidFill>
                  <a:srgbClr val="566777"/>
                </a:solidFill>
                <a:latin typeface="Yu Gothic"/>
                <a:ea typeface="Yu Gothic"/>
                <a:cs typeface="Yu Gothic"/>
              </a:rPr>
              <a:t>保留：担当部署へ確認</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調査所見カード</dc:title>
  <dc:subject/>
  <dc:creator>slide-layout-agent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