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{"layout_id": "ed_cards_image_right_2", "license": "MIT License\n\nCopyright (c) 2026 slide-layout-agent contributors\n\nPermission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 "provenance": "Original design; fictional content"}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decor:1"/>
          <p:cNvSpPr/>
          <p:nvPr/>
        </p:nvSpPr>
        <p:spPr>
          <a:xfrm>
            <a:off x="566928" y="393192"/>
            <a:ext cx="292608" cy="50292"/>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eta:header"/>
          <p:cNvSpPr txBox="1"/>
          <p:nvPr/>
        </p:nvSpPr>
        <p:spPr>
          <a:xfrm>
            <a:off x="960120" y="292608"/>
            <a:ext cx="9052560" cy="292608"/>
          </a:xfrm>
          <a:prstGeom prst="rect">
            <a:avLst/>
          </a:prstGeom>
          <a:noFill/>
        </p:spPr>
        <p:txBody>
          <a:bodyPr wrap="square" anchor="t"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架空調査｜社内ナレッジ共有</a:t>
            </a:r>
          </a:p>
        </p:txBody>
      </p:sp>
      <p:sp>
        <p:nvSpPr>
          <p:cNvPr id="4" name="meta:page"/>
          <p:cNvSpPr txBox="1"/>
          <p:nvPr/>
        </p:nvSpPr>
        <p:spPr>
          <a:xfrm>
            <a:off x="10972800" y="6391656"/>
            <a:ext cx="621792" cy="274320"/>
          </a:xfrm>
          <a:prstGeom prst="rect">
            <a:avLst/>
          </a:prstGeom>
          <a:noFill/>
        </p:spPr>
        <p:txBody>
          <a:bodyPr wrap="square" anchor="t"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01</a:t>
            </a:r>
          </a:p>
        </p:txBody>
      </p:sp>
      <p:sp>
        <p:nvSpPr>
          <p:cNvPr id="5" name="meta:footer"/>
          <p:cNvSpPr txBox="1"/>
          <p:nvPr/>
        </p:nvSpPr>
        <p:spPr>
          <a:xfrm>
            <a:off x="603504" y="6419088"/>
            <a:ext cx="9601200" cy="237744"/>
          </a:xfrm>
          <a:prstGeom prst="rect">
            <a:avLst/>
          </a:prstGeom>
          <a:noFill/>
        </p:spPr>
        <p:txBody>
          <a:bodyPr wrap="square" anchor="t" lIns="18288" rIns="18288" tIns="13716" bIns="13716">
            <a:noAutofit/>
          </a:bodyPr>
          <a:lstStyle/>
          <a:p>
            <a:pPr hangingPunct="0" eaLnBrk="1" latinLnBrk="0">
              <a:lnSpc>
                <a:spcPts val="1250"/>
              </a:lnSpc>
              <a:spcBef>
                <a:spcPts val="0"/>
              </a:spcBef>
              <a:spcAft>
                <a:spcPts val="0"/>
              </a:spcAft>
              <a:defRPr lang="ja-JP" sz="1000" b="0">
                <a:solidFill>
                  <a:srgbClr val="566777"/>
                </a:solidFill>
                <a:latin typeface="Yu Gothic"/>
                <a:ea typeface="Yu Gothic"/>
                <a:cs typeface="Yu Gothic"/>
              </a:defRPr>
            </a:pPr>
            <a:r>
              <a:rPr lang="ja-JP" sz="1000" b="0">
                <a:solidFill>
                  <a:srgbClr val="566777"/>
                </a:solidFill>
                <a:latin typeface="Yu Gothic"/>
                <a:ea typeface="Yu Gothic"/>
                <a:cs typeface="Yu Gothic"/>
              </a:rPr>
              <a:t>FICTIONAL RESEARCH / EDITORIAL</a:t>
            </a:r>
          </a:p>
        </p:txBody>
      </p:sp>
      <p:sp>
        <p:nvSpPr>
          <p:cNvPr id="6" name="decor:2"/>
          <p:cNvSpPr/>
          <p:nvPr/>
        </p:nvSpPr>
        <p:spPr>
          <a:xfrm>
            <a:off x="603504" y="6263640"/>
            <a:ext cx="109728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lot:title"/>
          <p:cNvSpPr txBox="1"/>
          <p:nvPr/>
        </p:nvSpPr>
        <p:spPr>
          <a:xfrm>
            <a:off x="603504" y="786384"/>
            <a:ext cx="10972800" cy="603504"/>
          </a:xfrm>
          <a:prstGeom prst="rect">
            <a:avLst/>
          </a:prstGeom>
          <a:noFill/>
        </p:spPr>
        <p:txBody>
          <a:bodyPr wrap="square" anchor="t" lIns="18288" rIns="18288" tIns="13716" bIns="13716">
            <a:noAutofit/>
          </a:bodyPr>
          <a:lstStyle/>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社内ナレッジを探しやすくする条件</a:t>
            </a:r>
          </a:p>
        </p:txBody>
      </p:sp>
      <p:sp>
        <p:nvSpPr>
          <p:cNvPr id="8" name="slot:context"/>
          <p:cNvSpPr txBox="1"/>
          <p:nvPr/>
        </p:nvSpPr>
        <p:spPr>
          <a:xfrm>
            <a:off x="621792" y="1490472"/>
            <a:ext cx="10927080" cy="502920"/>
          </a:xfrm>
          <a:prstGeom prst="rect">
            <a:avLst/>
          </a:prstGeom>
          <a:noFill/>
        </p:spPr>
        <p:txBody>
          <a:bodyPr wrap="square" anchor="t" lIns="18288" rIns="18288" tIns="13716" bIns="13716">
            <a:noAutofit/>
          </a:bodyPr>
          <a:lstStyle/>
          <a:p>
            <a:pPr hangingPunct="0" eaLnBrk="1" latinLnBrk="0">
              <a:lnSpc>
                <a:spcPts val="1875"/>
              </a:lnSpc>
              <a:spcBef>
                <a:spcPts val="0"/>
              </a:spcBef>
              <a:spcAft>
                <a:spcPts val="0"/>
              </a:spcAft>
              <a:defRPr lang="ja-JP" sz="1500" b="0">
                <a:solidFill>
                  <a:srgbClr val="566777"/>
                </a:solidFill>
                <a:latin typeface="Yu Gothic"/>
                <a:ea typeface="Yu Gothic"/>
                <a:cs typeface="Yu Gothic"/>
              </a:defRPr>
            </a:pPr>
            <a:r>
              <a:rPr lang="ja-JP" sz="1500" b="0">
                <a:solidFill>
                  <a:srgbClr val="566777"/>
                </a:solidFill>
                <a:latin typeface="Yu Gothic"/>
                <a:ea typeface="Yu Gothic"/>
                <a:cs typeface="Yu Gothic"/>
              </a:rPr>
              <a:t>架空の社内調査。運用条件を整理した所見であり、効果を実証したものではない。</a:t>
            </a:r>
          </a:p>
        </p:txBody>
      </p:sp>
      <p:sp>
        <p:nvSpPr>
          <p:cNvPr id="9" name="slot:image"/>
          <p:cNvSpPr/>
          <p:nvPr/>
        </p:nvSpPr>
        <p:spPr>
          <a:xfrm>
            <a:off x="6272784" y="2139696"/>
            <a:ext cx="5303520" cy="3858768"/>
          </a:xfrm>
          <a:prstGeom prst="rect">
            <a:avLst/>
          </a:prstGeom>
          <a:solidFill>
            <a:srgbClr val="E3EA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ecor:4"/>
          <p:cNvSpPr/>
          <p:nvPr/>
        </p:nvSpPr>
        <p:spPr>
          <a:xfrm>
            <a:off x="603504" y="2139696"/>
            <a:ext cx="5303520" cy="1837943"/>
          </a:xfrm>
          <a:prstGeom prst="rect">
            <a:avLst/>
          </a:prstGeom>
          <a:solidFill>
            <a:srgbClr val="FFFFFF"/>
          </a:solidFill>
          <a:ln w="8890">
            <a:solidFill>
              <a:srgbClr val="DCE3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ecor:5"/>
          <p:cNvSpPr/>
          <p:nvPr/>
        </p:nvSpPr>
        <p:spPr>
          <a:xfrm>
            <a:off x="603504" y="2139696"/>
            <a:ext cx="41148" cy="1837943"/>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slot:item_1_heading"/>
          <p:cNvSpPr txBox="1"/>
          <p:nvPr/>
        </p:nvSpPr>
        <p:spPr>
          <a:xfrm>
            <a:off x="813816" y="2276856"/>
            <a:ext cx="4882896" cy="438912"/>
          </a:xfrm>
          <a:prstGeom prst="rect">
            <a:avLst/>
          </a:prstGeom>
          <a:noFill/>
        </p:spPr>
        <p:txBody>
          <a:bodyPr wrap="square" anchor="t"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検索入口を揃える</a:t>
            </a:r>
          </a:p>
        </p:txBody>
      </p:sp>
      <p:sp>
        <p:nvSpPr>
          <p:cNvPr id="13" name="slot:item_1_body"/>
          <p:cNvSpPr txBox="1"/>
          <p:nvPr/>
        </p:nvSpPr>
        <p:spPr>
          <a:xfrm>
            <a:off x="813816" y="2798063"/>
            <a:ext cx="4882896" cy="640080"/>
          </a:xfrm>
          <a:prstGeom prst="rect">
            <a:avLst/>
          </a:prstGeom>
          <a:noFill/>
        </p:spPr>
        <p:txBody>
          <a:bodyPr wrap="square" anchor="t"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用語を揃え、同じ資料へ辿れる入口を整える。</a:t>
            </a:r>
          </a:p>
        </p:txBody>
      </p:sp>
      <p:sp>
        <p:nvSpPr>
          <p:cNvPr id="14" name="slot:item_1_evidence"/>
          <p:cNvSpPr txBox="1"/>
          <p:nvPr/>
        </p:nvSpPr>
        <p:spPr>
          <a:xfrm>
            <a:off x="813816" y="3547872"/>
            <a:ext cx="4882896" cy="310896"/>
          </a:xfrm>
          <a:prstGeom prst="rect">
            <a:avLst/>
          </a:prstGeom>
          <a:noFill/>
        </p:spPr>
        <p:txBody>
          <a:bodyPr wrap="square" anchor="t" lIns="18288" rIns="18288" tIns="13716" bIns="13716">
            <a:noAutofit/>
          </a:bodyPr>
          <a:lstStyle/>
          <a:p>
            <a:pPr hangingPunct="0" eaLnBrk="1" latinLnBrk="0">
              <a:lnSpc>
                <a:spcPts val="1750"/>
              </a:lnSpc>
              <a:spcBef>
                <a:spcPts val="0"/>
              </a:spcBef>
              <a:spcAft>
                <a:spcPts val="0"/>
              </a:spcAft>
              <a:defRPr lang="ja-JP" sz="1400" b="0">
                <a:solidFill>
                  <a:srgbClr val="566777"/>
                </a:solidFill>
                <a:latin typeface="Yu Gothic"/>
                <a:ea typeface="Yu Gothic"/>
                <a:cs typeface="Yu Gothic"/>
              </a:defRPr>
            </a:pPr>
            <a:r>
              <a:rPr lang="ja-JP" sz="1400" b="0">
                <a:solidFill>
                  <a:srgbClr val="566777"/>
                </a:solidFill>
                <a:latin typeface="Yu Gothic"/>
                <a:ea typeface="Yu Gothic"/>
                <a:cs typeface="Yu Gothic"/>
              </a:rPr>
              <a:t>対象：資料の入口を確認</a:t>
            </a:r>
          </a:p>
        </p:txBody>
      </p:sp>
      <p:sp>
        <p:nvSpPr>
          <p:cNvPr id="15" name="decor:6"/>
          <p:cNvSpPr/>
          <p:nvPr/>
        </p:nvSpPr>
        <p:spPr>
          <a:xfrm>
            <a:off x="603504" y="4160520"/>
            <a:ext cx="5303520" cy="1837943"/>
          </a:xfrm>
          <a:prstGeom prst="rect">
            <a:avLst/>
          </a:prstGeom>
          <a:solidFill>
            <a:srgbClr val="FFFFFF"/>
          </a:solidFill>
          <a:ln w="8890">
            <a:solidFill>
              <a:srgbClr val="DCE3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decor:7"/>
          <p:cNvSpPr/>
          <p:nvPr/>
        </p:nvSpPr>
        <p:spPr>
          <a:xfrm>
            <a:off x="603504" y="4160520"/>
            <a:ext cx="41148" cy="1837943"/>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slot:item_2_heading"/>
          <p:cNvSpPr txBox="1"/>
          <p:nvPr/>
        </p:nvSpPr>
        <p:spPr>
          <a:xfrm>
            <a:off x="813816" y="4297680"/>
            <a:ext cx="4882896" cy="438912"/>
          </a:xfrm>
          <a:prstGeom prst="rect">
            <a:avLst/>
          </a:prstGeom>
          <a:noFill/>
        </p:spPr>
        <p:txBody>
          <a:bodyPr wrap="square" anchor="t"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根拠まで辿れる</a:t>
            </a:r>
          </a:p>
        </p:txBody>
      </p:sp>
      <p:sp>
        <p:nvSpPr>
          <p:cNvPr id="18" name="slot:item_2_body"/>
          <p:cNvSpPr txBox="1"/>
          <p:nvPr/>
        </p:nvSpPr>
        <p:spPr>
          <a:xfrm>
            <a:off x="813816" y="4818888"/>
            <a:ext cx="4882896" cy="640080"/>
          </a:xfrm>
          <a:prstGeom prst="rect">
            <a:avLst/>
          </a:prstGeom>
          <a:noFill/>
        </p:spPr>
        <p:txBody>
          <a:bodyPr wrap="square" anchor="t"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原文の条件と確認日を、要約とともに残す。</a:t>
            </a:r>
          </a:p>
        </p:txBody>
      </p:sp>
      <p:sp>
        <p:nvSpPr>
          <p:cNvPr id="19" name="slot:item_2_evidence"/>
          <p:cNvSpPr txBox="1"/>
          <p:nvPr/>
        </p:nvSpPr>
        <p:spPr>
          <a:xfrm>
            <a:off x="813816" y="5568696"/>
            <a:ext cx="4882896" cy="310896"/>
          </a:xfrm>
          <a:prstGeom prst="rect">
            <a:avLst/>
          </a:prstGeom>
          <a:noFill/>
        </p:spPr>
        <p:txBody>
          <a:bodyPr wrap="square" anchor="t" lIns="18288" rIns="18288" tIns="13716" bIns="13716">
            <a:noAutofit/>
          </a:bodyPr>
          <a:lstStyle/>
          <a:p>
            <a:pPr hangingPunct="0" eaLnBrk="1" latinLnBrk="0">
              <a:lnSpc>
                <a:spcPts val="1750"/>
              </a:lnSpc>
              <a:spcBef>
                <a:spcPts val="0"/>
              </a:spcBef>
              <a:spcAft>
                <a:spcPts val="0"/>
              </a:spcAft>
              <a:defRPr lang="ja-JP" sz="1400" b="0">
                <a:solidFill>
                  <a:srgbClr val="566777"/>
                </a:solidFill>
                <a:latin typeface="Yu Gothic"/>
                <a:ea typeface="Yu Gothic"/>
                <a:cs typeface="Yu Gothic"/>
              </a:defRPr>
            </a:pPr>
            <a:r>
              <a:rPr lang="ja-JP" sz="1400" b="0">
                <a:solidFill>
                  <a:srgbClr val="566777"/>
                </a:solidFill>
                <a:latin typeface="Yu Gothic"/>
                <a:ea typeface="Yu Gothic"/>
                <a:cs typeface="Yu Gothic"/>
              </a:rPr>
              <a:t>根拠：原文の条件を保持</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調査所見カード</dc:title>
  <dc:subject/>
  <dc:creator>slide-layout-agent</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