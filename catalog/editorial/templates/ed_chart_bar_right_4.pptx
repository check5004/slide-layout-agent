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架空集計（件）</c:v>
                </c:pt>
              </c:strCache>
            </c:strRef>
          </c:tx>
          <c:spPr>
            <a:solidFill>
              <a:srgbClr val="087E83"/>
            </a:solidFill>
            <a:ln>
              <a:noFill/>
            </a:ln>
          </c:spPr>
          <c:cat>
            <c:strRef>
              <c:f>Sheet1!$A$2:$A$5</c:f>
              <c:strCache>
                <c:ptCount val="4"/>
                <c:pt idx="0">
                  <c:v>検索</c:v>
                </c:pt>
                <c:pt idx="1">
                  <c:v>出典</c:v>
                </c:pt>
                <c:pt idx="2">
                  <c:v>更新</c:v>
                </c:pt>
                <c:pt idx="3">
                  <c:v>共有</c:v>
                </c:pt>
              </c:strCache>
            </c:strRef>
          </c:cat>
          <c:val>
            <c:numRef>
              <c:f>Sheet1!$B$2:$B$5</c:f>
              <c:numCache>
                <c:formatCode>General</c:formatCode>
                <c:ptCount val="4"/>
                <c:pt idx="0">
                  <c:v>42</c:v>
                </c:pt>
                <c:pt idx="1">
                  <c:v>35</c:v>
                </c:pt>
                <c:pt idx="2">
                  <c:v>28</c:v>
                </c:pt>
                <c:pt idx="3">
                  <c:v>18</c:v>
                </c:pt>
              </c:numCache>
            </c:numRef>
          </c:val>
        </c:ser>
        <c:dLbls>
          <c:numFmt formatCode="General" sourceLinked="0"/>
          <c:txPr>
            <a:bodyPr/>
            <a:lstStyle/>
            <a:p>
              <a:pPr>
                <a:defRPr sz="1600">
                  <a:solidFill>
                    <a:srgbClr val="213547"/>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113994440"/>
        <c:crosses val="autoZero"/>
        <c:auto val="1"/>
        <c:lblAlgn val="ctr"/>
        <c:lblOffset val="100"/>
        <c:noMultiLvlLbl val="0"/>
      </c:catAx>
      <c:valAx>
        <c:axId val="-2113994440"/>
        <c:scaling>
          <c:min val="0.0"/>
        </c:scaling>
        <c:delete val="0"/>
        <c:axPos val="b"/>
        <c:majorGridlines>
          <c:spPr>
            <a:ln w="7620">
              <a:solidFill>
                <a:srgbClr val="DCE3E9"/>
              </a:solidFill>
            </a:ln>
          </c:spPr>
        </c:majorGridlines>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"ed_chart_bar_right_4",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lot:unit"/>
          <p:cNvSpPr txBox="1"/>
          <p:nvPr/>
        </p:nvSpPr>
        <p:spPr>
          <a:xfrm>
            <a:off x="4572000" y="2157984"/>
            <a:ext cx="6986016" cy="292608"/>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課題の言及数（件）／複数回答・架空例</a:t>
            </a:r>
          </a:p>
        </p:txBody>
      </p:sp>
      <p:graphicFrame>
        <p:nvGraphicFramePr>
          <p:cNvPr id="10" name="slot:chart"/>
          <p:cNvGraphicFramePr>
            <a:graphicFrameLocks noGrp="1"/>
          </p:cNvGraphicFramePr>
          <p:nvPr/>
        </p:nvGraphicFramePr>
        <p:xfrm>
          <a:off x="4572000" y="2496312"/>
          <a:ext cx="6986016" cy="3447288"/>
        </p:xfrm>
        <a:graphic>
          <a:graphicData uri="http://schemas.openxmlformats.org/drawingml/2006/chart">
            <c:chart xmlns:c="http://schemas.openxmlformats.org/drawingml/2006/chart" r:id="rId2"/>
          </a:graphicData>
        </a:graphic>
      </p:graphicFrame>
      <p:sp>
        <p:nvSpPr>
          <p:cNvPr id="11" name="slot:insight"/>
          <p:cNvSpPr txBox="1"/>
          <p:nvPr/>
        </p:nvSpPr>
        <p:spPr>
          <a:xfrm>
            <a:off x="603504" y="2304288"/>
            <a:ext cx="3621024" cy="283464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検索の課題が多いが、回答件数のみで重要度を判断することはできない。</a:t>
            </a:r>
          </a:p>
        </p:txBody>
      </p:sp>
      <p:sp>
        <p:nvSpPr>
          <p:cNvPr id="12" name="slot:note"/>
          <p:cNvSpPr txBox="1"/>
          <p:nvPr/>
        </p:nvSpPr>
        <p:spPr>
          <a:xfrm>
            <a:off x="603504" y="5358384"/>
            <a:ext cx="3621024" cy="658368"/>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架空集計であり、効果や因果関係は未検証。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グラフと所見</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