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架空集計（件）</c:v>
                </c:pt>
              </c:strCache>
            </c:strRef>
          </c:tx>
          <c:spPr>
            <a:solidFill>
              <a:srgbClr val="087E83"/>
            </a:solidFill>
            <a:ln>
              <a:noFill/>
            </a:ln>
          </c:spPr>
          <c:cat>
            <c:strRef>
              <c:f>Sheet1!$A$2:$A$5</c:f>
              <c:strCache>
                <c:ptCount val="4"/>
                <c:pt idx="0">
                  <c:v>検索</c:v>
                </c:pt>
                <c:pt idx="1">
                  <c:v>出典</c:v>
                </c:pt>
                <c:pt idx="2">
                  <c:v>更新</c:v>
                </c:pt>
                <c:pt idx="3">
                  <c:v>共有</c:v>
                </c:pt>
              </c:strCache>
            </c:strRef>
          </c:cat>
          <c:val>
            <c:numRef>
              <c:f>Sheet1!$B$2:$B$5</c:f>
              <c:numCache>
                <c:formatCode>General</c:formatCode>
                <c:ptCount val="4"/>
                <c:pt idx="0">
                  <c:v>42</c:v>
                </c:pt>
                <c:pt idx="1">
                  <c:v>35</c:v>
                </c:pt>
                <c:pt idx="2">
                  <c:v>28</c:v>
                </c:pt>
                <c:pt idx="3">
                  <c:v>18</c:v>
                </c:pt>
              </c:numCache>
            </c:numRef>
          </c:val>
        </c:ser>
        <c:dLbls>
          <c:numFmt formatCode="General" sourceLinked="0"/>
          <c:txPr>
            <a:bodyPr/>
            <a:lstStyle/>
            <a:p>
              <a:pPr>
                <a:defRPr sz="1600">
                  <a:solidFill>
                    <a:srgbClr val="213547"/>
                  </a:solidFill>
                  <a:latin typeface="Yu Gothic"/>
                </a:defRPr>
              </a:pPr>
            </a:p>
          </c:txPr>
          <c:dLblPos val="outEnd"/>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numFmt formatCode="General" sourceLinked="0"/>
        <c:majorTickMark val="none"/>
        <c:minorTickMark val="none"/>
        <c:tickLblPos val="nextTo"/>
        <c:spPr>
          <a:ln>
            <a:noFill/>
          </a:ln>
        </c:spPr>
        <c:txPr>
          <a:bodyPr/>
          <a:lstStyle/>
          <a:p>
            <a:pPr>
              <a:defRPr sz="1500">
                <a:solidFill>
                  <a:srgbClr val="566777"/>
                </a:solidFill>
                <a:latin typeface="Yu Gothic"/>
              </a:defRPr>
            </a:pPr>
          </a:p>
        </c:txPr>
        <c:crossAx val="-2113994440"/>
        <c:crosses val="autoZero"/>
        <c:auto val="1"/>
        <c:lblAlgn val="ctr"/>
        <c:lblOffset val="100"/>
        <c:noMultiLvlLbl val="0"/>
      </c:catAx>
      <c:valAx>
        <c:axId val="-2113994440"/>
        <c:scaling>
          <c:min val="0.0"/>
        </c:scaling>
        <c:delete val="0"/>
        <c:axPos val="l"/>
        <c:majorGridlines>
          <c:spPr>
            <a:ln w="7620">
              <a:solidFill>
                <a:srgbClr val="DCE3E9"/>
              </a:solidFill>
            </a:ln>
          </c:spPr>
        </c:majorGridlines>
        <c:numFmt formatCode="General" sourceLinked="0"/>
        <c:majorTickMark val="none"/>
        <c:minorTickMark val="none"/>
        <c:tickLblPos val="nextTo"/>
        <c:spPr>
          <a:ln>
            <a:noFill/>
          </a:ln>
        </c:spPr>
        <c:txPr>
          <a:bodyPr/>
          <a:lstStyle/>
          <a:p>
            <a:pPr>
              <a:defRPr sz="1500">
                <a:solidFill>
                  <a:srgbClr val="566777"/>
                </a:solidFill>
                <a:latin typeface="Yu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"ed_chart_column_bottom_4", "license": "MIT License\n\nCopyright (c) 2026 slide-layout-agent contributors\n\nPermission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 "provenance": "Original design; fictional content"}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decor:1"/>
          <p:cNvSpPr/>
          <p:nvPr/>
        </p:nvSpPr>
        <p:spPr>
          <a:xfrm>
            <a:off x="566928" y="393192"/>
            <a:ext cx="292608" cy="50292"/>
          </a:xfrm>
          <a:prstGeom prst="rect">
            <a:avLst/>
          </a:prstGeom>
          <a:solidFill>
            <a:srgbClr val="087E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meta:header"/>
          <p:cNvSpPr txBox="1"/>
          <p:nvPr/>
        </p:nvSpPr>
        <p:spPr>
          <a:xfrm>
            <a:off x="960120" y="292608"/>
            <a:ext cx="9052560" cy="292608"/>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架空調査｜社内ナレッジ共有</a:t>
            </a:r>
          </a:p>
        </p:txBody>
      </p:sp>
      <p:sp>
        <p:nvSpPr>
          <p:cNvPr id="4" name="meta:page"/>
          <p:cNvSpPr txBox="1"/>
          <p:nvPr/>
        </p:nvSpPr>
        <p:spPr>
          <a:xfrm>
            <a:off x="10972800" y="6391656"/>
            <a:ext cx="621792" cy="274320"/>
          </a:xfrm>
          <a:prstGeom prst="rect">
            <a:avLst/>
          </a:prstGeom>
          <a:noFill/>
        </p:spPr>
        <p:txBody>
          <a:bodyPr wrap="square" lIns="18288" rIns="18288" tIns="13716" bIns="13716">
            <a:noAutofit/>
          </a:bodyPr>
          <a:lstStyle/>
          <a:p>
            <a:pPr hangingPunct="0" eaLnBrk="1" latinLnBrk="0">
              <a:lnSpc>
                <a:spcPts val="1500"/>
              </a:lnSpc>
              <a:spcBef>
                <a:spcPts val="0"/>
              </a:spcBef>
              <a:spcAft>
                <a:spcPts val="0"/>
              </a:spcAft>
              <a:defRPr lang="ja-JP" sz="1200" b="0">
                <a:solidFill>
                  <a:srgbClr val="566777"/>
                </a:solidFill>
                <a:latin typeface="Yu Gothic"/>
                <a:ea typeface="Yu Gothic"/>
                <a:cs typeface="Yu Gothic"/>
              </a:defRPr>
            </a:pPr>
            <a:r>
              <a:rPr lang="ja-JP" sz="1200" b="0">
                <a:solidFill>
                  <a:srgbClr val="566777"/>
                </a:solidFill>
                <a:latin typeface="Yu Gothic"/>
                <a:ea typeface="Yu Gothic"/>
                <a:cs typeface="Yu Gothic"/>
              </a:rPr>
              <a:t>01</a:t>
            </a:r>
          </a:p>
        </p:txBody>
      </p:sp>
      <p:sp>
        <p:nvSpPr>
          <p:cNvPr id="5" name="meta:footer"/>
          <p:cNvSpPr txBox="1"/>
          <p:nvPr/>
        </p:nvSpPr>
        <p:spPr>
          <a:xfrm>
            <a:off x="603504" y="6419088"/>
            <a:ext cx="9601200" cy="237744"/>
          </a:xfrm>
          <a:prstGeom prst="rect">
            <a:avLst/>
          </a:prstGeom>
          <a:noFill/>
        </p:spPr>
        <p:txBody>
          <a:bodyPr wrap="square" lIns="18288" rIns="18288" tIns="13716" bIns="13716">
            <a:noAutofit/>
          </a:bodyPr>
          <a:lstStyle/>
          <a:p>
            <a:pPr hangingPunct="0" eaLnBrk="1" latinLnBrk="0">
              <a:lnSpc>
                <a:spcPts val="1250"/>
              </a:lnSpc>
              <a:spcBef>
                <a:spcPts val="0"/>
              </a:spcBef>
              <a:spcAft>
                <a:spcPts val="0"/>
              </a:spcAft>
              <a:defRPr lang="ja-JP" sz="1000" b="0">
                <a:solidFill>
                  <a:srgbClr val="566777"/>
                </a:solidFill>
                <a:latin typeface="Yu Gothic"/>
                <a:ea typeface="Yu Gothic"/>
                <a:cs typeface="Yu Gothic"/>
              </a:defRPr>
            </a:pPr>
            <a:r>
              <a:rPr lang="ja-JP" sz="1000" b="0">
                <a:solidFill>
                  <a:srgbClr val="566777"/>
                </a:solidFill>
                <a:latin typeface="Yu Gothic"/>
                <a:ea typeface="Yu Gothic"/>
                <a:cs typeface="Yu Gothic"/>
              </a:rPr>
              <a:t>FICTIONAL RESEARCH / EDITORIAL</a:t>
            </a:r>
          </a:p>
        </p:txBody>
      </p:sp>
      <p:sp>
        <p:nvSpPr>
          <p:cNvPr id="6" name="decor:2"/>
          <p:cNvSpPr/>
          <p:nvPr/>
        </p:nvSpPr>
        <p:spPr>
          <a:xfrm>
            <a:off x="603504" y="6263640"/>
            <a:ext cx="10972800" cy="10972"/>
          </a:xfrm>
          <a:prstGeom prst="rect">
            <a:avLst/>
          </a:prstGeom>
          <a:solidFill>
            <a:srgbClr val="DCE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lot:title"/>
          <p:cNvSpPr txBox="1"/>
          <p:nvPr/>
        </p:nvSpPr>
        <p:spPr>
          <a:xfrm>
            <a:off x="603504" y="786384"/>
            <a:ext cx="10972800" cy="603504"/>
          </a:xfrm>
          <a:prstGeom prst="rect">
            <a:avLst/>
          </a:prstGeom>
          <a:noFill/>
        </p:spPr>
        <p:txBody>
          <a:bodyPr wrap="square" lIns="18288" rIns="18288" tIns="13716" bIns="13716">
            <a:noAutofit/>
          </a:bodyPr>
          <a:lstStyle/>
          <a:p>
            <a:pPr hangingPunct="0" eaLnBrk="1" latinLnBrk="0">
              <a:lnSpc>
                <a:spcPts val="3500"/>
              </a:lnSpc>
              <a:spcBef>
                <a:spcPts val="0"/>
              </a:spcBef>
              <a:spcAft>
                <a:spcPts val="0"/>
              </a:spcAft>
              <a:defRPr lang="ja-JP" sz="2800" b="1">
                <a:solidFill>
                  <a:srgbClr val="213547"/>
                </a:solidFill>
                <a:latin typeface="Yu Gothic"/>
                <a:ea typeface="Yu Gothic"/>
                <a:cs typeface="Yu Gothic"/>
              </a:defRPr>
            </a:pPr>
            <a:r>
              <a:rPr lang="ja-JP" sz="2800" b="1">
                <a:solidFill>
                  <a:srgbClr val="213547"/>
                </a:solidFill>
                <a:latin typeface="Yu Gothic"/>
                <a:ea typeface="Yu Gothic"/>
                <a:cs typeface="Yu Gothic"/>
              </a:rPr>
              <a:t>社内ナレッジを探しやすくする条件</a:t>
            </a:r>
          </a:p>
        </p:txBody>
      </p:sp>
      <p:sp>
        <p:nvSpPr>
          <p:cNvPr id="8" name="slot:context"/>
          <p:cNvSpPr txBox="1"/>
          <p:nvPr/>
        </p:nvSpPr>
        <p:spPr>
          <a:xfrm>
            <a:off x="621792" y="1490472"/>
            <a:ext cx="10927080" cy="502920"/>
          </a:xfrm>
          <a:prstGeom prst="rect">
            <a:avLst/>
          </a:prstGeom>
          <a:noFill/>
        </p:spPr>
        <p:txBody>
          <a:bodyPr wrap="square" lIns="18288" rIns="18288" tIns="13716" bIns="13716">
            <a:noAutofit/>
          </a:bodyPr>
          <a:lstStyle/>
          <a:p>
            <a:pPr hangingPunct="0" eaLnBrk="1" latinLnBrk="0">
              <a:lnSpc>
                <a:spcPts val="1875"/>
              </a:lnSpc>
              <a:spcBef>
                <a:spcPts val="0"/>
              </a:spcBef>
              <a:spcAft>
                <a:spcPts val="0"/>
              </a:spcAft>
              <a:defRPr lang="ja-JP" sz="1500" b="0">
                <a:solidFill>
                  <a:srgbClr val="566777"/>
                </a:solidFill>
                <a:latin typeface="Yu Gothic"/>
                <a:ea typeface="Yu Gothic"/>
                <a:cs typeface="Yu Gothic"/>
              </a:defRPr>
            </a:pPr>
            <a:r>
              <a:rPr lang="ja-JP" sz="1500" b="0">
                <a:solidFill>
                  <a:srgbClr val="566777"/>
                </a:solidFill>
                <a:latin typeface="Yu Gothic"/>
                <a:ea typeface="Yu Gothic"/>
                <a:cs typeface="Yu Gothic"/>
              </a:rPr>
              <a:t>架空の社内調査。運用条件を整理した所見であり、効果を実証したものではない。</a:t>
            </a:r>
          </a:p>
        </p:txBody>
      </p:sp>
      <p:sp>
        <p:nvSpPr>
          <p:cNvPr id="9" name="slot:unit"/>
          <p:cNvSpPr txBox="1"/>
          <p:nvPr/>
        </p:nvSpPr>
        <p:spPr>
          <a:xfrm>
            <a:off x="603504" y="3346704"/>
            <a:ext cx="10972800" cy="292608"/>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課題の言及数（件）／複数回答・架空例</a:t>
            </a:r>
          </a:p>
        </p:txBody>
      </p:sp>
      <p:graphicFrame>
        <p:nvGraphicFramePr>
          <p:cNvPr id="10" name="slot:chart"/>
          <p:cNvGraphicFramePr>
            <a:graphicFrameLocks noGrp="1"/>
          </p:cNvGraphicFramePr>
          <p:nvPr/>
        </p:nvGraphicFramePr>
        <p:xfrm>
          <a:off x="603504" y="3685032"/>
          <a:ext cx="10972800" cy="2212848"/>
        </p:xfrm>
        <a:graphic>
          <a:graphicData uri="http://schemas.openxmlformats.org/drawingml/2006/chart">
            <c:chart xmlns:c="http://schemas.openxmlformats.org/drawingml/2006/chart" r:id="rId2"/>
          </a:graphicData>
        </a:graphic>
      </p:graphicFrame>
      <p:sp>
        <p:nvSpPr>
          <p:cNvPr id="11" name="slot:insight"/>
          <p:cNvSpPr txBox="1"/>
          <p:nvPr/>
        </p:nvSpPr>
        <p:spPr>
          <a:xfrm>
            <a:off x="731520" y="2130552"/>
            <a:ext cx="10698480" cy="685800"/>
          </a:xfrm>
          <a:prstGeom prst="rect">
            <a:avLst/>
          </a:prstGeom>
          <a:noFill/>
        </p:spPr>
        <p:txBody>
          <a:bodyPr wrap="square" lIns="18288" rIns="18288" tIns="13716" bIns="13716">
            <a:noAutofit/>
          </a:bodyPr>
          <a:lstStyle/>
          <a:p>
            <a:pPr hangingPunct="0" eaLnBrk="1" latinLnBrk="0">
              <a:lnSpc>
                <a:spcPts val="2625"/>
              </a:lnSpc>
              <a:spcBef>
                <a:spcPts val="0"/>
              </a:spcBef>
              <a:spcAft>
                <a:spcPts val="0"/>
              </a:spcAft>
              <a:defRPr lang="ja-JP" sz="2100" b="1">
                <a:solidFill>
                  <a:srgbClr val="213547"/>
                </a:solidFill>
                <a:latin typeface="Yu Gothic"/>
                <a:ea typeface="Yu Gothic"/>
                <a:cs typeface="Yu Gothic"/>
              </a:defRPr>
            </a:pPr>
            <a:r>
              <a:rPr lang="ja-JP" sz="2100" b="1">
                <a:solidFill>
                  <a:srgbClr val="213547"/>
                </a:solidFill>
                <a:latin typeface="Yu Gothic"/>
                <a:ea typeface="Yu Gothic"/>
                <a:cs typeface="Yu Gothic"/>
              </a:rPr>
              <a:t>検索の課題が多いが、回答件数のみで重要度を判断することはできない。</a:t>
            </a:r>
          </a:p>
        </p:txBody>
      </p:sp>
      <p:sp>
        <p:nvSpPr>
          <p:cNvPr id="12" name="slot:note"/>
          <p:cNvSpPr txBox="1"/>
          <p:nvPr/>
        </p:nvSpPr>
        <p:spPr>
          <a:xfrm>
            <a:off x="731520" y="2898648"/>
            <a:ext cx="10698480" cy="365760"/>
          </a:xfrm>
          <a:prstGeom prst="rect">
            <a:avLst/>
          </a:prstGeom>
          <a:noFill/>
        </p:spPr>
        <p:txBody>
          <a:bodyPr wrap="square" lIns="18288" rIns="18288" tIns="13716" bIns="13716">
            <a:noAutofit/>
          </a:bodyPr>
          <a:lstStyle/>
          <a:p>
            <a:pPr hangingPunct="0" eaLnBrk="1" latinLnBrk="0">
              <a:lnSpc>
                <a:spcPts val="1750"/>
              </a:lnSpc>
              <a:spcBef>
                <a:spcPts val="0"/>
              </a:spcBef>
              <a:spcAft>
                <a:spcPts val="0"/>
              </a:spcAft>
              <a:defRPr lang="ja-JP" sz="1400" b="0">
                <a:solidFill>
                  <a:srgbClr val="566777"/>
                </a:solidFill>
                <a:latin typeface="Yu Gothic"/>
                <a:ea typeface="Yu Gothic"/>
                <a:cs typeface="Yu Gothic"/>
              </a:defRPr>
            </a:pPr>
            <a:r>
              <a:rPr lang="ja-JP" sz="1400" b="0">
                <a:solidFill>
                  <a:srgbClr val="566777"/>
                </a:solidFill>
                <a:latin typeface="Yu Gothic"/>
                <a:ea typeface="Yu Gothic"/>
                <a:cs typeface="Yu Gothic"/>
              </a:rPr>
              <a:t>架空集計であり、効果や因果関係は未検証。</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グラフと所見</dc:title>
  <dc:subject/>
  <dc:creator>slide-layout-agent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