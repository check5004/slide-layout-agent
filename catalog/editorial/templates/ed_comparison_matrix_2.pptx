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"ed_comparison_matrix_2",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decor:3"/>
          <p:cNvSpPr/>
          <p:nvPr/>
        </p:nvSpPr>
        <p:spPr>
          <a:xfrm>
            <a:off x="603504" y="2139696"/>
            <a:ext cx="10972800" cy="182880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lot:a_heading"/>
          <p:cNvSpPr txBox="1"/>
          <p:nvPr/>
        </p:nvSpPr>
        <p:spPr>
          <a:xfrm>
            <a:off x="832104" y="2276856"/>
            <a:ext cx="2194560" cy="457200"/>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集約型</a:t>
            </a:r>
          </a:p>
        </p:txBody>
      </p:sp>
      <p:sp>
        <p:nvSpPr>
          <p:cNvPr id="11" name="slot:a_axis_1"/>
          <p:cNvSpPr txBox="1"/>
          <p:nvPr/>
        </p:nvSpPr>
        <p:spPr>
          <a:xfrm>
            <a:off x="3291840" y="2267712"/>
            <a:ext cx="3675887" cy="25603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2" name="slot:a_point_1"/>
          <p:cNvSpPr txBox="1"/>
          <p:nvPr/>
        </p:nvSpPr>
        <p:spPr>
          <a:xfrm>
            <a:off x="3291840" y="2624328"/>
            <a:ext cx="3675887" cy="1252728"/>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入口を統一し、部署をまたぐ検索をしやすくする。</a:t>
            </a:r>
          </a:p>
        </p:txBody>
      </p:sp>
      <p:sp>
        <p:nvSpPr>
          <p:cNvPr id="13" name="slot:a_axis_2"/>
          <p:cNvSpPr txBox="1"/>
          <p:nvPr/>
        </p:nvSpPr>
        <p:spPr>
          <a:xfrm>
            <a:off x="7315200" y="2267712"/>
            <a:ext cx="3675887" cy="25603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14" name="slot:a_point_2"/>
          <p:cNvSpPr txBox="1"/>
          <p:nvPr/>
        </p:nvSpPr>
        <p:spPr>
          <a:xfrm>
            <a:off x="7315200" y="2624328"/>
            <a:ext cx="3675887" cy="1252728"/>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更新作業が担当者に集中するため、確認待ちの滞留に注意する。</a:t>
            </a:r>
          </a:p>
        </p:txBody>
      </p:sp>
      <p:sp>
        <p:nvSpPr>
          <p:cNvPr id="15" name="decor:4"/>
          <p:cNvSpPr/>
          <p:nvPr/>
        </p:nvSpPr>
        <p:spPr>
          <a:xfrm>
            <a:off x="603504" y="4169664"/>
            <a:ext cx="10972800" cy="1828800"/>
          </a:xfrm>
          <a:prstGeom prst="rect">
            <a:avLst/>
          </a:prstGeom>
          <a:solidFill>
            <a:srgbClr val="FFFFFF"/>
          </a:solidFill>
          <a:ln w="8890">
            <a:solidFill>
              <a:srgbClr val="DCE3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lot:b_heading"/>
          <p:cNvSpPr txBox="1"/>
          <p:nvPr/>
        </p:nvSpPr>
        <p:spPr>
          <a:xfrm>
            <a:off x="832104" y="4306824"/>
            <a:ext cx="2194560" cy="457200"/>
          </a:xfrm>
          <a:prstGeom prst="rect">
            <a:avLst/>
          </a:prstGeom>
          <a:noFill/>
        </p:spPr>
        <p:txBody>
          <a:bodyPr wrap="square" lIns="18288" rIns="18288" tIns="13716" bIns="13716">
            <a:noAutofit/>
          </a:bodyPr>
          <a:lstStyle/>
          <a:p>
            <a:pPr hangingPunct="0" eaLnBrk="1" latinLnBrk="0">
              <a:lnSpc>
                <a:spcPts val="2875"/>
              </a:lnSpc>
              <a:spcBef>
                <a:spcPts val="0"/>
              </a:spcBef>
              <a:spcAft>
                <a:spcPts val="0"/>
              </a:spcAft>
              <a:defRPr lang="ja-JP" sz="2300" b="1">
                <a:solidFill>
                  <a:srgbClr val="087E83"/>
                </a:solidFill>
                <a:latin typeface="Yu Gothic"/>
                <a:ea typeface="Yu Gothic"/>
                <a:cs typeface="Yu Gothic"/>
              </a:defRPr>
            </a:pPr>
            <a:r>
              <a:rPr lang="ja-JP" sz="2300" b="1">
                <a:solidFill>
                  <a:srgbClr val="087E83"/>
                </a:solidFill>
                <a:latin typeface="Yu Gothic"/>
                <a:ea typeface="Yu Gothic"/>
                <a:cs typeface="Yu Gothic"/>
              </a:rPr>
              <a:t>分散型</a:t>
            </a:r>
          </a:p>
        </p:txBody>
      </p:sp>
      <p:sp>
        <p:nvSpPr>
          <p:cNvPr id="17" name="slot:b_axis_1"/>
          <p:cNvSpPr txBox="1"/>
          <p:nvPr/>
        </p:nvSpPr>
        <p:spPr>
          <a:xfrm>
            <a:off x="3291840" y="4297680"/>
            <a:ext cx="3675887" cy="25603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検索上の特徴</a:t>
            </a:r>
          </a:p>
        </p:txBody>
      </p:sp>
      <p:sp>
        <p:nvSpPr>
          <p:cNvPr id="18" name="slot:b_point_1"/>
          <p:cNvSpPr txBox="1"/>
          <p:nvPr/>
        </p:nvSpPr>
        <p:spPr>
          <a:xfrm>
            <a:off x="3291840" y="4654296"/>
            <a:ext cx="3675887" cy="1252728"/>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各部署が原文を管理し、専門用語や例外の説明を保ちやすい。</a:t>
            </a:r>
          </a:p>
        </p:txBody>
      </p:sp>
      <p:sp>
        <p:nvSpPr>
          <p:cNvPr id="19" name="slot:b_axis_2"/>
          <p:cNvSpPr txBox="1"/>
          <p:nvPr/>
        </p:nvSpPr>
        <p:spPr>
          <a:xfrm>
            <a:off x="7315200" y="4297680"/>
            <a:ext cx="3675887" cy="256032"/>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1">
                <a:solidFill>
                  <a:srgbClr val="566777"/>
                </a:solidFill>
                <a:latin typeface="Yu Gothic"/>
                <a:ea typeface="Yu Gothic"/>
                <a:cs typeface="Yu Gothic"/>
              </a:defRPr>
            </a:pPr>
            <a:r>
              <a:rPr lang="ja-JP" sz="1400" b="1">
                <a:solidFill>
                  <a:srgbClr val="566777"/>
                </a:solidFill>
                <a:latin typeface="Yu Gothic"/>
                <a:ea typeface="Yu Gothic"/>
                <a:cs typeface="Yu Gothic"/>
              </a:rPr>
              <a:t>運用上の注意</a:t>
            </a:r>
          </a:p>
        </p:txBody>
      </p:sp>
      <p:sp>
        <p:nvSpPr>
          <p:cNvPr id="20" name="slot:b_point_2"/>
          <p:cNvSpPr txBox="1"/>
          <p:nvPr/>
        </p:nvSpPr>
        <p:spPr>
          <a:xfrm>
            <a:off x="7315200" y="4654296"/>
            <a:ext cx="3675887" cy="1252728"/>
          </a:xfrm>
          <a:prstGeom prst="rect">
            <a:avLst/>
          </a:prstGeom>
          <a:noFill/>
        </p:spPr>
        <p:txBody>
          <a:bodyPr wrap="square" lIns="18288" rIns="18288" tIns="13716" bIns="13716">
            <a:noAutofit/>
          </a:bodyPr>
          <a:lstStyle/>
          <a:p>
            <a:pPr hangingPunct="0" eaLnBrk="1" latinLnBrk="0">
              <a:lnSpc>
                <a:spcPts val="2500"/>
              </a:lnSpc>
              <a:spcBef>
                <a:spcPts val="0"/>
              </a:spcBef>
              <a:spcAft>
                <a:spcPts val="0"/>
              </a:spcAft>
              <a:defRPr lang="ja-JP" sz="2000" b="0">
                <a:solidFill>
                  <a:srgbClr val="213547"/>
                </a:solidFill>
                <a:latin typeface="Yu Gothic"/>
                <a:ea typeface="Yu Gothic"/>
                <a:cs typeface="Yu Gothic"/>
              </a:defRPr>
            </a:pPr>
            <a:r>
              <a:rPr lang="ja-JP" sz="2000" b="0">
                <a:solidFill>
                  <a:srgbClr val="213547"/>
                </a:solidFill>
                <a:latin typeface="Yu Gothic"/>
                <a:ea typeface="Yu Gothic"/>
                <a:cs typeface="Yu Gothic"/>
              </a:rPr>
              <a:t>横断検索には共通の索引が必要。部署ごとの分類の違いを整理する。</a:t>
            </a:r>
          </a:p>
        </p:txBody>
      </p:sp>
      <p:sp>
        <p:nvSpPr>
          <p:cNvPr id="21" name="decor:5"/>
          <p:cNvSpPr/>
          <p:nvPr/>
        </p:nvSpPr>
        <p:spPr>
          <a:xfrm>
            <a:off x="7077456" y="2139696"/>
            <a:ext cx="22860"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ecor:6"/>
          <p:cNvSpPr/>
          <p:nvPr/>
        </p:nvSpPr>
        <p:spPr>
          <a:xfrm>
            <a:off x="3054096" y="2139696"/>
            <a:ext cx="22860" cy="3858768"/>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二案の比較</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