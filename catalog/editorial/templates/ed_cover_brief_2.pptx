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"ed_cover_brief_2",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40080" y="1097280"/>
            <a:ext cx="9875520" cy="1143000"/>
          </a:xfrm>
          <a:prstGeom prst="rect">
            <a:avLst/>
          </a:prstGeom>
          <a:noFill/>
        </p:spPr>
        <p:txBody>
          <a:bodyPr wrap="square" anchor="t" lIns="18288" rIns="18288" tIns="13716" bIns="13716">
            <a:noAutofit/>
          </a:bodyPr>
          <a:lstStyle/>
          <a:p>
            <a:pPr hangingPunct="0" eaLnBrk="1" latinLnBrk="0">
              <a:lnSpc>
                <a:spcPts val="4250"/>
              </a:lnSpc>
              <a:spcBef>
                <a:spcPts val="0"/>
              </a:spcBef>
              <a:spcAft>
                <a:spcPts val="0"/>
              </a:spcAft>
              <a:defRPr lang="ja-JP" sz="3400" b="1">
                <a:solidFill>
                  <a:srgbClr val="213547"/>
                </a:solidFill>
                <a:latin typeface="Yu Gothic"/>
                <a:ea typeface="Yu Gothic"/>
                <a:cs typeface="Yu Gothic"/>
              </a:defRPr>
            </a:pPr>
            <a:r>
              <a:rPr lang="ja-JP" sz="3400" b="1">
                <a:solidFill>
                  <a:srgbClr val="213547"/>
                </a:solidFill>
                <a:latin typeface="Yu Gothic"/>
                <a:ea typeface="Yu Gothic"/>
                <a:cs typeface="Yu Gothic"/>
              </a:rPr>
              <a:t>社内ナレッジ共有の調査メモ</a:t>
            </a:r>
          </a:p>
        </p:txBody>
      </p:sp>
      <p:sp>
        <p:nvSpPr>
          <p:cNvPr id="8" name="slot:context"/>
          <p:cNvSpPr txBox="1"/>
          <p:nvPr/>
        </p:nvSpPr>
        <p:spPr>
          <a:xfrm>
            <a:off x="658368" y="2423160"/>
            <a:ext cx="10607040" cy="685800"/>
          </a:xfrm>
          <a:prstGeom prst="rect">
            <a:avLst/>
          </a:prstGeom>
          <a:noFill/>
        </p:spPr>
        <p:txBody>
          <a:bodyPr wrap="square" anchor="t" lIns="18288" rIns="18288" tIns="13716" bIns="13716">
            <a:noAutofit/>
          </a:bodyPr>
          <a:lstStyle/>
          <a:p>
            <a:pPr hangingPunct="0" eaLnBrk="1" latinLnBrk="0">
              <a:lnSpc>
                <a:spcPts val="2875"/>
              </a:lnSpc>
              <a:spcBef>
                <a:spcPts val="0"/>
              </a:spcBef>
              <a:spcAft>
                <a:spcPts val="0"/>
              </a:spcAft>
              <a:defRPr lang="ja-JP" sz="2300" b="0">
                <a:solidFill>
                  <a:srgbClr val="566777"/>
                </a:solidFill>
                <a:latin typeface="Yu Gothic"/>
                <a:ea typeface="Yu Gothic"/>
                <a:cs typeface="Yu Gothic"/>
              </a:defRPr>
            </a:pPr>
            <a:r>
              <a:rPr lang="ja-JP" sz="2300" b="0">
                <a:solidFill>
                  <a:srgbClr val="566777"/>
                </a:solidFill>
                <a:latin typeface="Yu Gothic"/>
                <a:ea typeface="Yu Gothic"/>
                <a:cs typeface="Yu Gothic"/>
              </a:rPr>
              <a:t>検索性と信頼性を両立するための運用条件</a:t>
            </a:r>
          </a:p>
        </p:txBody>
      </p:sp>
      <p:sp>
        <p:nvSpPr>
          <p:cNvPr id="9" name="decor:3"/>
          <p:cNvSpPr/>
          <p:nvPr/>
        </p:nvSpPr>
        <p:spPr>
          <a:xfrm>
            <a:off x="640080" y="3657600"/>
            <a:ext cx="5413248" cy="219456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40080" y="3657600"/>
            <a:ext cx="41148" cy="2194560"/>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850392" y="3794760"/>
            <a:ext cx="4992624" cy="438912"/>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2" name="slot:item_1_body"/>
          <p:cNvSpPr txBox="1"/>
          <p:nvPr/>
        </p:nvSpPr>
        <p:spPr>
          <a:xfrm>
            <a:off x="850392" y="4315968"/>
            <a:ext cx="4992624" cy="1444752"/>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3" name="decor:5"/>
          <p:cNvSpPr/>
          <p:nvPr/>
        </p:nvSpPr>
        <p:spPr>
          <a:xfrm>
            <a:off x="6217920" y="3657600"/>
            <a:ext cx="5413248" cy="219456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ecor:6"/>
          <p:cNvSpPr/>
          <p:nvPr/>
        </p:nvSpPr>
        <p:spPr>
          <a:xfrm>
            <a:off x="6217920" y="3657600"/>
            <a:ext cx="41148" cy="2194560"/>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item_2_heading"/>
          <p:cNvSpPr txBox="1"/>
          <p:nvPr/>
        </p:nvSpPr>
        <p:spPr>
          <a:xfrm>
            <a:off x="6428232" y="3794760"/>
            <a:ext cx="4992624" cy="438912"/>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6" name="slot:item_2_body"/>
          <p:cNvSpPr txBox="1"/>
          <p:nvPr/>
        </p:nvSpPr>
        <p:spPr>
          <a:xfrm>
            <a:off x="6428232" y="4315968"/>
            <a:ext cx="4992624" cy="1444752"/>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調査の入口</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