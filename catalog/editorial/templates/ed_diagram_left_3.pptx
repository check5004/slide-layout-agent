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"ed_diagram_left_3",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21208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850392" y="2350008"/>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node_1"/>
          <p:cNvSpPr txBox="1"/>
          <p:nvPr/>
        </p:nvSpPr>
        <p:spPr>
          <a:xfrm>
            <a:off x="1060704" y="2423160"/>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入力資料</a:t>
            </a:r>
          </a:p>
        </p:txBody>
      </p:sp>
      <p:sp>
        <p:nvSpPr>
          <p:cNvPr id="12" name="slot:node_1_detail"/>
          <p:cNvSpPr txBox="1"/>
          <p:nvPr/>
        </p:nvSpPr>
        <p:spPr>
          <a:xfrm>
            <a:off x="1060704" y="2871215"/>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原文・確認日・対象範囲を受け取る</a:t>
            </a:r>
          </a:p>
        </p:txBody>
      </p:sp>
      <p:sp>
        <p:nvSpPr>
          <p:cNvPr id="13" name="static:arrow_0"/>
          <p:cNvSpPr txBox="1"/>
          <p:nvPr/>
        </p:nvSpPr>
        <p:spPr>
          <a:xfrm>
            <a:off x="3026664" y="3227832"/>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4" name="decor:5"/>
          <p:cNvSpPr/>
          <p:nvPr/>
        </p:nvSpPr>
        <p:spPr>
          <a:xfrm>
            <a:off x="850392" y="3502152"/>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node_2"/>
          <p:cNvSpPr txBox="1"/>
          <p:nvPr/>
        </p:nvSpPr>
        <p:spPr>
          <a:xfrm>
            <a:off x="1060704" y="3575304"/>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条件の確認</a:t>
            </a:r>
          </a:p>
        </p:txBody>
      </p:sp>
      <p:sp>
        <p:nvSpPr>
          <p:cNvPr id="16" name="slot:node_2_detail"/>
          <p:cNvSpPr txBox="1"/>
          <p:nvPr/>
        </p:nvSpPr>
        <p:spPr>
          <a:xfrm>
            <a:off x="1060704" y="4023360"/>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定義と比較条件の違いを整理する</a:t>
            </a:r>
          </a:p>
        </p:txBody>
      </p:sp>
      <p:sp>
        <p:nvSpPr>
          <p:cNvPr id="17" name="static:arrow_1"/>
          <p:cNvSpPr txBox="1"/>
          <p:nvPr/>
        </p:nvSpPr>
        <p:spPr>
          <a:xfrm>
            <a:off x="3026664" y="4379976"/>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8" name="decor:6"/>
          <p:cNvSpPr/>
          <p:nvPr/>
        </p:nvSpPr>
        <p:spPr>
          <a:xfrm>
            <a:off x="850392" y="4654296"/>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node_3"/>
          <p:cNvSpPr txBox="1"/>
          <p:nvPr/>
        </p:nvSpPr>
        <p:spPr>
          <a:xfrm>
            <a:off x="1060704" y="4727448"/>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所見の共有</a:t>
            </a:r>
          </a:p>
        </p:txBody>
      </p:sp>
      <p:sp>
        <p:nvSpPr>
          <p:cNvPr id="20" name="slot:node_3_detail"/>
          <p:cNvSpPr txBox="1"/>
          <p:nvPr/>
        </p:nvSpPr>
        <p:spPr>
          <a:xfrm>
            <a:off x="1060704" y="5175504"/>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根拠と未確認の論点を残して渡す</a:t>
            </a:r>
          </a:p>
        </p:txBody>
      </p:sp>
      <p:sp>
        <p:nvSpPr>
          <p:cNvPr id="21" name="slot:explanation_heading"/>
          <p:cNvSpPr txBox="1"/>
          <p:nvPr/>
        </p:nvSpPr>
        <p:spPr>
          <a:xfrm>
            <a:off x="6199632" y="2322576"/>
            <a:ext cx="5376672" cy="768096"/>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213547"/>
                </a:solidFill>
                <a:latin typeface="Yu Gothic"/>
                <a:ea typeface="Yu Gothic"/>
                <a:cs typeface="Yu Gothic"/>
              </a:defRPr>
            </a:pPr>
            <a:r>
              <a:rPr lang="ja-JP" sz="2300" b="1">
                <a:solidFill>
                  <a:srgbClr val="213547"/>
                </a:solidFill>
                <a:latin typeface="Yu Gothic"/>
                <a:ea typeface="Yu Gothic"/>
                <a:cs typeface="Yu Gothic"/>
              </a:rPr>
              <a:t>原文とのつながりを残す</a:t>
            </a:r>
          </a:p>
        </p:txBody>
      </p:sp>
      <p:sp>
        <p:nvSpPr>
          <p:cNvPr id="22" name="slot:explanation"/>
          <p:cNvSpPr txBox="1"/>
          <p:nvPr/>
        </p:nvSpPr>
        <p:spPr>
          <a:xfrm>
            <a:off x="6199632" y="3264408"/>
            <a:ext cx="5376672" cy="19659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資料を集めた後で、対象範囲と比較条件を確認する。共有時には原文の位置を添え、読み手が結論の前提へ戻れるようにする。</a:t>
            </a:r>
          </a:p>
        </p:txBody>
      </p:sp>
      <p:sp>
        <p:nvSpPr>
          <p:cNvPr id="23" name="slot:caveat"/>
          <p:cNvSpPr txBox="1"/>
          <p:nvPr/>
        </p:nvSpPr>
        <p:spPr>
          <a:xfrm>
            <a:off x="6199632" y="5486400"/>
            <a:ext cx="5376672" cy="47548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留保：因果関係を示す工程図ではない。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仕組みと説明</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