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"ed_diagram_wide_right_3",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5038344" y="2139696"/>
            <a:ext cx="6537960"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5285231" y="2350008"/>
            <a:ext cx="604418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node_1"/>
          <p:cNvSpPr txBox="1"/>
          <p:nvPr/>
        </p:nvSpPr>
        <p:spPr>
          <a:xfrm>
            <a:off x="5495544" y="2423160"/>
            <a:ext cx="5623560" cy="38404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入力資料</a:t>
            </a:r>
          </a:p>
        </p:txBody>
      </p:sp>
      <p:sp>
        <p:nvSpPr>
          <p:cNvPr id="12" name="slot:node_1_detail"/>
          <p:cNvSpPr txBox="1"/>
          <p:nvPr/>
        </p:nvSpPr>
        <p:spPr>
          <a:xfrm>
            <a:off x="5495544" y="2871215"/>
            <a:ext cx="5623560" cy="283464"/>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原文・確認日・対象範囲を受け取る</a:t>
            </a:r>
          </a:p>
        </p:txBody>
      </p:sp>
      <p:sp>
        <p:nvSpPr>
          <p:cNvPr id="13" name="static:arrow_0"/>
          <p:cNvSpPr txBox="1"/>
          <p:nvPr/>
        </p:nvSpPr>
        <p:spPr>
          <a:xfrm>
            <a:off x="8124444" y="3227832"/>
            <a:ext cx="457200" cy="2743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087E83"/>
                </a:solidFill>
                <a:latin typeface="Yu Gothic"/>
                <a:ea typeface="Yu Gothic"/>
                <a:cs typeface="Yu Gothic"/>
              </a:defRPr>
            </a:pPr>
            <a:r>
              <a:rPr lang="ja-JP" sz="1500" b="0">
                <a:solidFill>
                  <a:srgbClr val="087E83"/>
                </a:solidFill>
                <a:latin typeface="Yu Gothic"/>
                <a:ea typeface="Yu Gothic"/>
                <a:cs typeface="Yu Gothic"/>
              </a:rPr>
              <a:t>↓</a:t>
            </a:r>
          </a:p>
        </p:txBody>
      </p:sp>
      <p:sp>
        <p:nvSpPr>
          <p:cNvPr id="14" name="decor:5"/>
          <p:cNvSpPr/>
          <p:nvPr/>
        </p:nvSpPr>
        <p:spPr>
          <a:xfrm>
            <a:off x="5285231" y="3502152"/>
            <a:ext cx="604418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node_2"/>
          <p:cNvSpPr txBox="1"/>
          <p:nvPr/>
        </p:nvSpPr>
        <p:spPr>
          <a:xfrm>
            <a:off x="5495544" y="3575304"/>
            <a:ext cx="5623560" cy="38404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条件の確認</a:t>
            </a:r>
          </a:p>
        </p:txBody>
      </p:sp>
      <p:sp>
        <p:nvSpPr>
          <p:cNvPr id="16" name="slot:node_2_detail"/>
          <p:cNvSpPr txBox="1"/>
          <p:nvPr/>
        </p:nvSpPr>
        <p:spPr>
          <a:xfrm>
            <a:off x="5495544" y="4023360"/>
            <a:ext cx="5623560" cy="283464"/>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定義と比較条件の違いを整理する</a:t>
            </a:r>
          </a:p>
        </p:txBody>
      </p:sp>
      <p:sp>
        <p:nvSpPr>
          <p:cNvPr id="17" name="static:arrow_1"/>
          <p:cNvSpPr txBox="1"/>
          <p:nvPr/>
        </p:nvSpPr>
        <p:spPr>
          <a:xfrm>
            <a:off x="8124444" y="4379976"/>
            <a:ext cx="457200" cy="2743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087E83"/>
                </a:solidFill>
                <a:latin typeface="Yu Gothic"/>
                <a:ea typeface="Yu Gothic"/>
                <a:cs typeface="Yu Gothic"/>
              </a:defRPr>
            </a:pPr>
            <a:r>
              <a:rPr lang="ja-JP" sz="1500" b="0">
                <a:solidFill>
                  <a:srgbClr val="087E83"/>
                </a:solidFill>
                <a:latin typeface="Yu Gothic"/>
                <a:ea typeface="Yu Gothic"/>
                <a:cs typeface="Yu Gothic"/>
              </a:rPr>
              <a:t>↓</a:t>
            </a:r>
          </a:p>
        </p:txBody>
      </p:sp>
      <p:sp>
        <p:nvSpPr>
          <p:cNvPr id="18" name="decor:6"/>
          <p:cNvSpPr/>
          <p:nvPr/>
        </p:nvSpPr>
        <p:spPr>
          <a:xfrm>
            <a:off x="5285231" y="4654296"/>
            <a:ext cx="604418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node_3"/>
          <p:cNvSpPr txBox="1"/>
          <p:nvPr/>
        </p:nvSpPr>
        <p:spPr>
          <a:xfrm>
            <a:off x="5495544" y="4727448"/>
            <a:ext cx="5623560" cy="38404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所見の共有</a:t>
            </a:r>
          </a:p>
        </p:txBody>
      </p:sp>
      <p:sp>
        <p:nvSpPr>
          <p:cNvPr id="20" name="slot:node_3_detail"/>
          <p:cNvSpPr txBox="1"/>
          <p:nvPr/>
        </p:nvSpPr>
        <p:spPr>
          <a:xfrm>
            <a:off x="5495544" y="5175504"/>
            <a:ext cx="5623560" cy="283464"/>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根拠と未確認の論点を残して渡す</a:t>
            </a:r>
          </a:p>
        </p:txBody>
      </p:sp>
      <p:sp>
        <p:nvSpPr>
          <p:cNvPr id="21" name="slot:explanation_heading"/>
          <p:cNvSpPr txBox="1"/>
          <p:nvPr/>
        </p:nvSpPr>
        <p:spPr>
          <a:xfrm>
            <a:off x="603504" y="2322576"/>
            <a:ext cx="4050791" cy="768096"/>
          </a:xfrm>
          <a:prstGeom prst="rect">
            <a:avLst/>
          </a:prstGeom>
          <a:noFill/>
        </p:spPr>
        <p:txBody>
          <a:bodyPr wrap="square" anchor="t" lIns="18288" rIns="18288" tIns="13716" bIns="13716">
            <a:noAutofit/>
          </a:bodyPr>
          <a:lstStyle/>
          <a:p>
            <a:pPr hangingPunct="0" eaLnBrk="1" latinLnBrk="0">
              <a:lnSpc>
                <a:spcPts val="2875"/>
              </a:lnSpc>
              <a:spcBef>
                <a:spcPts val="0"/>
              </a:spcBef>
              <a:spcAft>
                <a:spcPts val="0"/>
              </a:spcAft>
              <a:defRPr lang="ja-JP" sz="2300" b="1">
                <a:solidFill>
                  <a:srgbClr val="213547"/>
                </a:solidFill>
                <a:latin typeface="Yu Gothic"/>
                <a:ea typeface="Yu Gothic"/>
                <a:cs typeface="Yu Gothic"/>
              </a:defRPr>
            </a:pPr>
            <a:r>
              <a:rPr lang="ja-JP" sz="2300" b="1">
                <a:solidFill>
                  <a:srgbClr val="213547"/>
                </a:solidFill>
                <a:latin typeface="Yu Gothic"/>
                <a:ea typeface="Yu Gothic"/>
                <a:cs typeface="Yu Gothic"/>
              </a:rPr>
              <a:t>原文とのつながりを残す</a:t>
            </a:r>
          </a:p>
        </p:txBody>
      </p:sp>
      <p:sp>
        <p:nvSpPr>
          <p:cNvPr id="22" name="slot:explanation"/>
          <p:cNvSpPr txBox="1"/>
          <p:nvPr/>
        </p:nvSpPr>
        <p:spPr>
          <a:xfrm>
            <a:off x="603504" y="3264408"/>
            <a:ext cx="4050791" cy="196596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資料を集めた後で、対象範囲と比較条件を確認する。共有時には原文の位置を添え、読み手が結論の前提へ戻れるようにする。</a:t>
            </a:r>
          </a:p>
        </p:txBody>
      </p:sp>
      <p:sp>
        <p:nvSpPr>
          <p:cNvPr id="23" name="slot:caveat"/>
          <p:cNvSpPr txBox="1"/>
          <p:nvPr/>
        </p:nvSpPr>
        <p:spPr>
          <a:xfrm>
            <a:off x="603504" y="5486400"/>
            <a:ext cx="4050791" cy="475488"/>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留保：因果関係を示す工程図ではない。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仕組みと説明</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