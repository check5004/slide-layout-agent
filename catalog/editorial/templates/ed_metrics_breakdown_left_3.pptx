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"ed_metrics_breakdown_left_3",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架空の資料一覧を、相互に重ならない確認状態で整理した例。業務への効果は未検証。</a:t>
            </a:r>
          </a:p>
        </p:txBody>
      </p:sp>
      <p:sp>
        <p:nvSpPr>
          <p:cNvPr id="9" name="decor:3"/>
          <p:cNvSpPr/>
          <p:nvPr/>
        </p:nvSpPr>
        <p:spPr>
          <a:xfrm>
            <a:off x="603504" y="2139696"/>
            <a:ext cx="2852928"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total_heading"/>
          <p:cNvSpPr txBox="1"/>
          <p:nvPr/>
        </p:nvSpPr>
        <p:spPr>
          <a:xfrm>
            <a:off x="813816" y="2304288"/>
            <a:ext cx="2432304" cy="49377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対象資料の総数</a:t>
            </a:r>
          </a:p>
        </p:txBody>
      </p:sp>
      <p:sp>
        <p:nvSpPr>
          <p:cNvPr id="11" name="slot:total_label"/>
          <p:cNvSpPr txBox="1"/>
          <p:nvPr/>
        </p:nvSpPr>
        <p:spPr>
          <a:xfrm>
            <a:off x="813816" y="3081528"/>
            <a:ext cx="2468880" cy="768096"/>
          </a:xfrm>
          <a:prstGeom prst="rect">
            <a:avLst/>
          </a:prstGeom>
          <a:noFill/>
        </p:spPr>
        <p:txBody>
          <a:bodyPr wrap="square" lIns="18288" rIns="18288" tIns="13716" bIns="13716">
            <a:noAutofit/>
          </a:bodyPr>
          <a:lstStyle/>
          <a:p>
            <a:pPr hangingPunct="0" eaLnBrk="1" latinLnBrk="0">
              <a:lnSpc>
                <a:spcPts val="4500"/>
              </a:lnSpc>
              <a:spcBef>
                <a:spcPts val="0"/>
              </a:spcBef>
              <a:spcAft>
                <a:spcPts val="0"/>
              </a:spcAft>
              <a:defRPr lang="ja-JP" sz="3600" b="1">
                <a:solidFill>
                  <a:srgbClr val="087E83"/>
                </a:solidFill>
                <a:latin typeface="Yu Gothic"/>
                <a:ea typeface="Yu Gothic"/>
                <a:cs typeface="Yu Gothic"/>
              </a:defRPr>
            </a:pPr>
            <a:r>
              <a:rPr lang="ja-JP" sz="3600" b="1">
                <a:solidFill>
                  <a:srgbClr val="087E83"/>
                </a:solidFill>
                <a:latin typeface="Yu Gothic"/>
                <a:ea typeface="Yu Gothic"/>
                <a:cs typeface="Yu Gothic"/>
              </a:rPr>
              <a:t>120件</a:t>
            </a:r>
          </a:p>
        </p:txBody>
      </p:sp>
      <p:sp>
        <p:nvSpPr>
          <p:cNvPr id="12" name="slot:total_note"/>
          <p:cNvSpPr txBox="1"/>
          <p:nvPr/>
        </p:nvSpPr>
        <p:spPr>
          <a:xfrm>
            <a:off x="813816" y="4197096"/>
            <a:ext cx="2432304" cy="1389888"/>
          </a:xfrm>
          <a:prstGeom prst="rect">
            <a:avLst/>
          </a:prstGeom>
          <a:noFill/>
        </p:spPr>
        <p:txBody>
          <a:bodyPr wrap="square" lIns="18288" rIns="18288" tIns="13716" bIns="13716">
            <a:noAutofit/>
          </a:bodyPr>
          <a:lstStyle/>
          <a:p>
            <a:pPr hangingPunct="0" eaLnBrk="1" latinLnBrk="0">
              <a:lnSpc>
                <a:spcPts val="2000"/>
              </a:lnSpc>
              <a:spcBef>
                <a:spcPts val="0"/>
              </a:spcBef>
              <a:spcAft>
                <a:spcPts val="0"/>
              </a:spcAft>
              <a:defRPr lang="ja-JP" sz="1600" b="0">
                <a:solidFill>
                  <a:srgbClr val="566777"/>
                </a:solidFill>
                <a:latin typeface="Yu Gothic"/>
                <a:ea typeface="Yu Gothic"/>
                <a:cs typeface="Yu Gothic"/>
              </a:defRPr>
            </a:pPr>
            <a:r>
              <a:rPr lang="ja-JP" sz="1600" b="0">
                <a:solidFill>
                  <a:srgbClr val="566777"/>
                </a:solidFill>
                <a:latin typeface="Yu Gothic"/>
                <a:ea typeface="Yu Gothic"/>
                <a:cs typeface="Yu Gothic"/>
              </a:rPr>
              <a:t>各資料を一つの状態に分類した架空の棚卸し。</a:t>
            </a:r>
          </a:p>
        </p:txBody>
      </p:sp>
      <p:sp>
        <p:nvSpPr>
          <p:cNvPr id="13" name="decor:4"/>
          <p:cNvSpPr/>
          <p:nvPr/>
        </p:nvSpPr>
        <p:spPr>
          <a:xfrm>
            <a:off x="3730752" y="2139696"/>
            <a:ext cx="7845552"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1_heading"/>
          <p:cNvSpPr txBox="1"/>
          <p:nvPr/>
        </p:nvSpPr>
        <p:spPr>
          <a:xfrm>
            <a:off x="3931920" y="2286000"/>
            <a:ext cx="192024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確認済み</a:t>
            </a:r>
          </a:p>
        </p:txBody>
      </p:sp>
      <p:sp>
        <p:nvSpPr>
          <p:cNvPr id="15" name="slot:metric_label_1"/>
          <p:cNvSpPr txBox="1"/>
          <p:nvPr/>
        </p:nvSpPr>
        <p:spPr>
          <a:xfrm>
            <a:off x="5925312" y="2322576"/>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84件</a:t>
            </a:r>
          </a:p>
        </p:txBody>
      </p:sp>
      <p:sp>
        <p:nvSpPr>
          <p:cNvPr id="16" name="slot:item_1_body"/>
          <p:cNvSpPr txBox="1"/>
          <p:nvPr/>
        </p:nvSpPr>
        <p:spPr>
          <a:xfrm>
            <a:off x="8165592" y="2322576"/>
            <a:ext cx="3200400" cy="82296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対象範囲と担当を確認済み。</a:t>
            </a:r>
          </a:p>
        </p:txBody>
      </p:sp>
      <p:sp>
        <p:nvSpPr>
          <p:cNvPr id="17" name="decor:5"/>
          <p:cNvSpPr/>
          <p:nvPr/>
        </p:nvSpPr>
        <p:spPr>
          <a:xfrm>
            <a:off x="3730752" y="3456432"/>
            <a:ext cx="7845552"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2_heading"/>
          <p:cNvSpPr txBox="1"/>
          <p:nvPr/>
        </p:nvSpPr>
        <p:spPr>
          <a:xfrm>
            <a:off x="3931920" y="3602736"/>
            <a:ext cx="192024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要確認</a:t>
            </a:r>
          </a:p>
        </p:txBody>
      </p:sp>
      <p:sp>
        <p:nvSpPr>
          <p:cNvPr id="19" name="slot:metric_label_2"/>
          <p:cNvSpPr txBox="1"/>
          <p:nvPr/>
        </p:nvSpPr>
        <p:spPr>
          <a:xfrm>
            <a:off x="5925312" y="3639312"/>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24件</a:t>
            </a:r>
          </a:p>
        </p:txBody>
      </p:sp>
      <p:sp>
        <p:nvSpPr>
          <p:cNvPr id="20" name="slot:item_2_body"/>
          <p:cNvSpPr txBox="1"/>
          <p:nvPr/>
        </p:nvSpPr>
        <p:spPr>
          <a:xfrm>
            <a:off x="8165592" y="3639312"/>
            <a:ext cx="3200400" cy="82296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条件か確認日の照合が必要。</a:t>
            </a:r>
          </a:p>
        </p:txBody>
      </p:sp>
      <p:sp>
        <p:nvSpPr>
          <p:cNvPr id="21" name="decor:6"/>
          <p:cNvSpPr/>
          <p:nvPr/>
        </p:nvSpPr>
        <p:spPr>
          <a:xfrm>
            <a:off x="3730752" y="4773168"/>
            <a:ext cx="7845552"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3_heading"/>
          <p:cNvSpPr txBox="1"/>
          <p:nvPr/>
        </p:nvSpPr>
        <p:spPr>
          <a:xfrm>
            <a:off x="3931920" y="4919472"/>
            <a:ext cx="1920240" cy="448056"/>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更新予定</a:t>
            </a:r>
          </a:p>
        </p:txBody>
      </p:sp>
      <p:sp>
        <p:nvSpPr>
          <p:cNvPr id="23" name="slot:metric_label_3"/>
          <p:cNvSpPr txBox="1"/>
          <p:nvPr/>
        </p:nvSpPr>
        <p:spPr>
          <a:xfrm>
            <a:off x="5925312" y="4956048"/>
            <a:ext cx="2011680" cy="649224"/>
          </a:xfrm>
          <a:prstGeom prst="rect">
            <a:avLst/>
          </a:prstGeom>
          <a:noFill/>
        </p:spPr>
        <p:txBody>
          <a:bodyPr wrap="square" lIns="18288" rIns="18288" tIns="13716" bIns="13716">
            <a:noAutofit/>
          </a:bodyPr>
          <a:lstStyle/>
          <a:p>
            <a:pPr hangingPunct="0" eaLnBrk="1" latinLnBrk="0">
              <a:lnSpc>
                <a:spcPts val="4000"/>
              </a:lnSpc>
              <a:spcBef>
                <a:spcPts val="0"/>
              </a:spcBef>
              <a:spcAft>
                <a:spcPts val="0"/>
              </a:spcAft>
              <a:defRPr lang="ja-JP" sz="3200" b="1">
                <a:solidFill>
                  <a:srgbClr val="087E83"/>
                </a:solidFill>
                <a:latin typeface="Yu Gothic"/>
                <a:ea typeface="Yu Gothic"/>
                <a:cs typeface="Yu Gothic"/>
              </a:defRPr>
            </a:pPr>
            <a:r>
              <a:rPr lang="ja-JP" sz="3200" b="1">
                <a:solidFill>
                  <a:srgbClr val="087E83"/>
                </a:solidFill>
                <a:latin typeface="Yu Gothic"/>
                <a:ea typeface="Yu Gothic"/>
                <a:cs typeface="Yu Gothic"/>
              </a:rPr>
              <a:t>12件</a:t>
            </a:r>
          </a:p>
        </p:txBody>
      </p:sp>
      <p:sp>
        <p:nvSpPr>
          <p:cNvPr id="24" name="slot:item_3_body"/>
          <p:cNvSpPr txBox="1"/>
          <p:nvPr/>
        </p:nvSpPr>
        <p:spPr>
          <a:xfrm>
            <a:off x="8165592" y="4956048"/>
            <a:ext cx="3200400" cy="822960"/>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改訂の予定を登録済み。</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数値と留保</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