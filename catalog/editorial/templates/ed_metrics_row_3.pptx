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"ed_metrics_row_3",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架空集計：資料120件の記載状況。項目間には重複があり、合計を総数として扱わない。</a:t>
            </a:r>
          </a:p>
        </p:txBody>
      </p:sp>
      <p:sp>
        <p:nvSpPr>
          <p:cNvPr id="9" name="decor:3"/>
          <p:cNvSpPr/>
          <p:nvPr/>
        </p:nvSpPr>
        <p:spPr>
          <a:xfrm>
            <a:off x="603504" y="2139696"/>
            <a:ext cx="3511296"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804672" y="2368296"/>
            <a:ext cx="3108960" cy="64008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対象範囲の記載</a:t>
            </a:r>
          </a:p>
        </p:txBody>
      </p:sp>
      <p:sp>
        <p:nvSpPr>
          <p:cNvPr id="11" name="slot:metric_label_1"/>
          <p:cNvSpPr txBox="1"/>
          <p:nvPr/>
        </p:nvSpPr>
        <p:spPr>
          <a:xfrm>
            <a:off x="804672" y="3282696"/>
            <a:ext cx="3108960" cy="777240"/>
          </a:xfrm>
          <a:prstGeom prst="rect">
            <a:avLst/>
          </a:prstGeom>
          <a:noFill/>
        </p:spPr>
        <p:txBody>
          <a:bodyPr wrap="square" anchor="t" lIns="18288" rIns="18288" tIns="13716" bIns="13716">
            <a:noAutofit/>
          </a:bodyPr>
          <a:lstStyle/>
          <a:p>
            <a:pPr hangingPunct="0" eaLnBrk="1" latinLnBrk="0">
              <a:lnSpc>
                <a:spcPts val="4750"/>
              </a:lnSpc>
              <a:spcBef>
                <a:spcPts val="0"/>
              </a:spcBef>
              <a:spcAft>
                <a:spcPts val="0"/>
              </a:spcAft>
              <a:defRPr lang="ja-JP" sz="3800" b="1">
                <a:solidFill>
                  <a:srgbClr val="087E83"/>
                </a:solidFill>
                <a:latin typeface="Yu Gothic"/>
                <a:ea typeface="Yu Gothic"/>
                <a:cs typeface="Yu Gothic"/>
              </a:defRPr>
            </a:pPr>
            <a:r>
              <a:rPr lang="ja-JP" sz="3800" b="1">
                <a:solidFill>
                  <a:srgbClr val="087E83"/>
                </a:solidFill>
                <a:latin typeface="Yu Gothic"/>
                <a:ea typeface="Yu Gothic"/>
                <a:cs typeface="Yu Gothic"/>
              </a:rPr>
              <a:t>120件</a:t>
            </a:r>
          </a:p>
        </p:txBody>
      </p:sp>
      <p:sp>
        <p:nvSpPr>
          <p:cNvPr id="12" name="slot:item_1_body"/>
          <p:cNvSpPr txBox="1"/>
          <p:nvPr/>
        </p:nvSpPr>
        <p:spPr>
          <a:xfrm>
            <a:off x="804672" y="4334256"/>
            <a:ext cx="3108960" cy="1078992"/>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適用できる業務範囲が記載された文書。</a:t>
            </a:r>
          </a:p>
        </p:txBody>
      </p:sp>
      <p:sp>
        <p:nvSpPr>
          <p:cNvPr id="13" name="decor:4"/>
          <p:cNvSpPr/>
          <p:nvPr/>
        </p:nvSpPr>
        <p:spPr>
          <a:xfrm>
            <a:off x="4334256" y="2139696"/>
            <a:ext cx="3511296"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4535424" y="2368296"/>
            <a:ext cx="3108960" cy="64008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確認担当の記載</a:t>
            </a:r>
          </a:p>
        </p:txBody>
      </p:sp>
      <p:sp>
        <p:nvSpPr>
          <p:cNvPr id="15" name="slot:metric_label_2"/>
          <p:cNvSpPr txBox="1"/>
          <p:nvPr/>
        </p:nvSpPr>
        <p:spPr>
          <a:xfrm>
            <a:off x="4535424" y="3282696"/>
            <a:ext cx="3108960" cy="777240"/>
          </a:xfrm>
          <a:prstGeom prst="rect">
            <a:avLst/>
          </a:prstGeom>
          <a:noFill/>
        </p:spPr>
        <p:txBody>
          <a:bodyPr wrap="square" anchor="t" lIns="18288" rIns="18288" tIns="13716" bIns="13716">
            <a:noAutofit/>
          </a:bodyPr>
          <a:lstStyle/>
          <a:p>
            <a:pPr hangingPunct="0" eaLnBrk="1" latinLnBrk="0">
              <a:lnSpc>
                <a:spcPts val="4750"/>
              </a:lnSpc>
              <a:spcBef>
                <a:spcPts val="0"/>
              </a:spcBef>
              <a:spcAft>
                <a:spcPts val="0"/>
              </a:spcAft>
              <a:defRPr lang="ja-JP" sz="3800" b="1">
                <a:solidFill>
                  <a:srgbClr val="087E83"/>
                </a:solidFill>
                <a:latin typeface="Yu Gothic"/>
                <a:ea typeface="Yu Gothic"/>
                <a:cs typeface="Yu Gothic"/>
              </a:defRPr>
            </a:pPr>
            <a:r>
              <a:rPr lang="ja-JP" sz="3800" b="1">
                <a:solidFill>
                  <a:srgbClr val="087E83"/>
                </a:solidFill>
                <a:latin typeface="Yu Gothic"/>
                <a:ea typeface="Yu Gothic"/>
                <a:cs typeface="Yu Gothic"/>
              </a:rPr>
              <a:t>84件</a:t>
            </a:r>
          </a:p>
        </p:txBody>
      </p:sp>
      <p:sp>
        <p:nvSpPr>
          <p:cNvPr id="16" name="slot:item_2_body"/>
          <p:cNvSpPr txBox="1"/>
          <p:nvPr/>
        </p:nvSpPr>
        <p:spPr>
          <a:xfrm>
            <a:off x="4535424" y="4334256"/>
            <a:ext cx="3108960" cy="1078992"/>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内容を確認する担当が記載された文書。</a:t>
            </a:r>
          </a:p>
        </p:txBody>
      </p:sp>
      <p:sp>
        <p:nvSpPr>
          <p:cNvPr id="17" name="decor:5"/>
          <p:cNvSpPr/>
          <p:nvPr/>
        </p:nvSpPr>
        <p:spPr>
          <a:xfrm>
            <a:off x="8065008" y="2139696"/>
            <a:ext cx="3511296"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3_heading"/>
          <p:cNvSpPr txBox="1"/>
          <p:nvPr/>
        </p:nvSpPr>
        <p:spPr>
          <a:xfrm>
            <a:off x="8266176" y="2368296"/>
            <a:ext cx="3108960" cy="64008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更新日の記載</a:t>
            </a:r>
          </a:p>
        </p:txBody>
      </p:sp>
      <p:sp>
        <p:nvSpPr>
          <p:cNvPr id="19" name="slot:metric_label_3"/>
          <p:cNvSpPr txBox="1"/>
          <p:nvPr/>
        </p:nvSpPr>
        <p:spPr>
          <a:xfrm>
            <a:off x="8266176" y="3282696"/>
            <a:ext cx="3108960" cy="777240"/>
          </a:xfrm>
          <a:prstGeom prst="rect">
            <a:avLst/>
          </a:prstGeom>
          <a:noFill/>
        </p:spPr>
        <p:txBody>
          <a:bodyPr wrap="square" anchor="t" lIns="18288" rIns="18288" tIns="13716" bIns="13716">
            <a:noAutofit/>
          </a:bodyPr>
          <a:lstStyle/>
          <a:p>
            <a:pPr hangingPunct="0" eaLnBrk="1" latinLnBrk="0">
              <a:lnSpc>
                <a:spcPts val="4750"/>
              </a:lnSpc>
              <a:spcBef>
                <a:spcPts val="0"/>
              </a:spcBef>
              <a:spcAft>
                <a:spcPts val="0"/>
              </a:spcAft>
              <a:defRPr lang="ja-JP" sz="3800" b="1">
                <a:solidFill>
                  <a:srgbClr val="087E83"/>
                </a:solidFill>
                <a:latin typeface="Yu Gothic"/>
                <a:ea typeface="Yu Gothic"/>
                <a:cs typeface="Yu Gothic"/>
              </a:defRPr>
            </a:pPr>
            <a:r>
              <a:rPr lang="ja-JP" sz="3800" b="1">
                <a:solidFill>
                  <a:srgbClr val="087E83"/>
                </a:solidFill>
                <a:latin typeface="Yu Gothic"/>
                <a:ea typeface="Yu Gothic"/>
                <a:cs typeface="Yu Gothic"/>
              </a:rPr>
              <a:t>24件</a:t>
            </a:r>
          </a:p>
        </p:txBody>
      </p:sp>
      <p:sp>
        <p:nvSpPr>
          <p:cNvPr id="20" name="slot:item_3_body"/>
          <p:cNvSpPr txBox="1"/>
          <p:nvPr/>
        </p:nvSpPr>
        <p:spPr>
          <a:xfrm>
            <a:off x="8266176" y="4334256"/>
            <a:ext cx="3108960" cy="1078992"/>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原文の最終確認日が記載された文書。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数値と留保</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