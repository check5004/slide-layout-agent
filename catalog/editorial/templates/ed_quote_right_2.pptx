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{"layout_id": "ed_quote_right_2", "license":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 "provenance": "Original design; fictional content"}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架空調査｜社内ナレッジ共有</a:t>
            </a:r>
          </a:p>
        </p:txBody>
      </p:sp>
      <p:sp>
        <p:nvSpPr>
          <p:cNvPr id="4" name="meta:page"/>
          <p:cNvSpPr txBox="1"/>
          <p:nvPr/>
        </p:nvSpPr>
        <p:spPr>
          <a:xfrm>
            <a:off x="10972800" y="6391656"/>
            <a:ext cx="621792" cy="274320"/>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01</a:t>
            </a:r>
          </a:p>
        </p:txBody>
      </p:sp>
      <p:sp>
        <p:nvSpPr>
          <p:cNvPr id="5" name="meta:footer"/>
          <p:cNvSpPr txBox="1"/>
          <p:nvPr/>
        </p:nvSpPr>
        <p:spPr>
          <a:xfrm>
            <a:off x="603504" y="6419088"/>
            <a:ext cx="9601200" cy="237744"/>
          </a:xfrm>
          <a:prstGeom prst="rect">
            <a:avLst/>
          </a:prstGeom>
          <a:noFill/>
        </p:spPr>
        <p:txBody>
          <a:bodyPr wrap="square" anchor="t"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a:solidFill>
                  <a:srgbClr val="566777"/>
                </a:solidFill>
                <a:latin typeface="Yu Gothic"/>
                <a:ea typeface="Yu Gothic"/>
                <a:cs typeface="Yu Gothic"/>
              </a:rPr>
              <a:t>FICTIONAL RESEARCH / EDITORIAL</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786384"/>
            <a:ext cx="10972800" cy="603504"/>
          </a:xfrm>
          <a:prstGeom prst="rect">
            <a:avLst/>
          </a:prstGeom>
          <a:noFill/>
        </p:spPr>
        <p:txBody>
          <a:bodyPr wrap="square" anchor="t"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社内ナレッジを探しやすくする条件</a:t>
            </a:r>
          </a:p>
        </p:txBody>
      </p:sp>
      <p:sp>
        <p:nvSpPr>
          <p:cNvPr id="8" name="slot:context"/>
          <p:cNvSpPr txBox="1"/>
          <p:nvPr/>
        </p:nvSpPr>
        <p:spPr>
          <a:xfrm>
            <a:off x="621792" y="1490472"/>
            <a:ext cx="10927080" cy="502920"/>
          </a:xfrm>
          <a:prstGeom prst="rect">
            <a:avLst/>
          </a:prstGeom>
          <a:noFill/>
        </p:spPr>
        <p:txBody>
          <a:bodyPr wrap="square" anchor="t"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架空の社内調査。運用条件を整理した所見であり、効果を実証したものではない。</a:t>
            </a:r>
          </a:p>
        </p:txBody>
      </p:sp>
      <p:sp>
        <p:nvSpPr>
          <p:cNvPr id="9" name="decor:3"/>
          <p:cNvSpPr/>
          <p:nvPr/>
        </p:nvSpPr>
        <p:spPr>
          <a:xfrm>
            <a:off x="5907024" y="2139696"/>
            <a:ext cx="5669280" cy="3858768"/>
          </a:xfrm>
          <a:prstGeom prst="rect">
            <a:avLst/>
          </a:prstGeom>
          <a:solidFill>
            <a:srgbClr val="E8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lot:quotation"/>
          <p:cNvSpPr txBox="1"/>
          <p:nvPr/>
        </p:nvSpPr>
        <p:spPr>
          <a:xfrm>
            <a:off x="6126480" y="2478024"/>
            <a:ext cx="5230368" cy="2916935"/>
          </a:xfrm>
          <a:prstGeom prst="rect">
            <a:avLst/>
          </a:prstGeom>
          <a:noFill/>
        </p:spPr>
        <p:txBody>
          <a:bodyPr wrap="square" anchor="t" lIns="18288" rIns="18288" tIns="13716" bIns="13716">
            <a:noAutofit/>
          </a:bodyPr>
          <a:lstStyle/>
          <a:p>
            <a:pPr hangingPunct="0" eaLnBrk="1" latinLnBrk="0">
              <a:lnSpc>
                <a:spcPts val="3125"/>
              </a:lnSpc>
              <a:spcBef>
                <a:spcPts val="0"/>
              </a:spcBef>
              <a:spcAft>
                <a:spcPts val="0"/>
              </a:spcAft>
              <a:defRPr lang="ja-JP" sz="2500" b="1">
                <a:solidFill>
                  <a:srgbClr val="087E83"/>
                </a:solidFill>
                <a:latin typeface="Yu Gothic"/>
                <a:ea typeface="Yu Gothic"/>
                <a:cs typeface="Yu Gothic"/>
              </a:defRPr>
            </a:pPr>
            <a:r>
              <a:rPr lang="ja-JP" sz="2500" b="1">
                <a:solidFill>
                  <a:srgbClr val="087E83"/>
                </a:solidFill>
                <a:latin typeface="Yu Gothic"/>
                <a:ea typeface="Yu Gothic"/>
                <a:cs typeface="Yu Gothic"/>
              </a:rPr>
              <a:t>資料を見つけた後で、いま使える内容かを判断するのに時間がかかる。</a:t>
            </a:r>
          </a:p>
        </p:txBody>
      </p:sp>
      <p:sp>
        <p:nvSpPr>
          <p:cNvPr id="11" name="slot:attribution"/>
          <p:cNvSpPr txBox="1"/>
          <p:nvPr/>
        </p:nvSpPr>
        <p:spPr>
          <a:xfrm>
            <a:off x="6181344" y="5394959"/>
            <a:ext cx="5120640" cy="475488"/>
          </a:xfrm>
          <a:prstGeom prst="rect">
            <a:avLst/>
          </a:prstGeom>
          <a:noFill/>
        </p:spPr>
        <p:txBody>
          <a:bodyPr wrap="square" anchor="t" lIns="18288" rIns="18288" tIns="13716" bIns="13716">
            <a:noAutofit/>
          </a:bodyPr>
          <a:lstStyle/>
          <a:p>
            <a:pPr hangingPunct="0" eaLnBrk="1" latinLnBrk="0">
              <a:lnSpc>
                <a:spcPts val="1750"/>
              </a:lnSpc>
              <a:spcBef>
                <a:spcPts val="0"/>
              </a:spcBef>
              <a:spcAft>
                <a:spcPts val="0"/>
              </a:spcAft>
              <a:defRPr lang="ja-JP" sz="1400" b="0">
                <a:solidFill>
                  <a:srgbClr val="566777"/>
                </a:solidFill>
                <a:latin typeface="Yu Gothic"/>
                <a:ea typeface="Yu Gothic"/>
                <a:cs typeface="Yu Gothic"/>
              </a:defRPr>
            </a:pPr>
            <a:r>
              <a:rPr lang="ja-JP" sz="1400" b="0">
                <a:solidFill>
                  <a:srgbClr val="566777"/>
                </a:solidFill>
                <a:latin typeface="Yu Gothic"/>
                <a:ea typeface="Yu Gothic"/>
                <a:cs typeface="Yu Gothic"/>
              </a:rPr>
              <a:t>架空ヒアリングの発言例。一般化は未検証。</a:t>
            </a:r>
          </a:p>
        </p:txBody>
      </p:sp>
      <p:sp>
        <p:nvSpPr>
          <p:cNvPr id="12" name="slot:interpretation"/>
          <p:cNvSpPr txBox="1"/>
          <p:nvPr/>
        </p:nvSpPr>
        <p:spPr>
          <a:xfrm>
            <a:off x="603504" y="2331720"/>
            <a:ext cx="4846320" cy="2377440"/>
          </a:xfrm>
          <a:prstGeom prst="rect">
            <a:avLst/>
          </a:prstGeom>
          <a:noFill/>
        </p:spPr>
        <p:txBody>
          <a:bodyPr wrap="square" anchor="t" lIns="18288" rIns="18288" tIns="13716" bIns="13716">
            <a:noAutofit/>
          </a:bodyPr>
          <a:lstStyle/>
          <a:p>
            <a:pPr hangingPunct="0" eaLnBrk="1" latinLnBrk="0">
              <a:lnSpc>
                <a:spcPts val="2625"/>
              </a:lnSpc>
              <a:spcBef>
                <a:spcPts val="0"/>
              </a:spcBef>
              <a:spcAft>
                <a:spcPts val="0"/>
              </a:spcAft>
              <a:defRPr lang="ja-JP" sz="2100" b="0">
                <a:solidFill>
                  <a:srgbClr val="213547"/>
                </a:solidFill>
                <a:latin typeface="Yu Gothic"/>
                <a:ea typeface="Yu Gothic"/>
                <a:cs typeface="Yu Gothic"/>
              </a:defRPr>
            </a:pPr>
            <a:r>
              <a:rPr lang="ja-JP" sz="2100" b="0">
                <a:solidFill>
                  <a:srgbClr val="213547"/>
                </a:solidFill>
                <a:latin typeface="Yu Gothic"/>
                <a:ea typeface="Yu Gothic"/>
                <a:cs typeface="Yu Gothic"/>
              </a:rPr>
              <a:t>示唆：検索結果と一緒に更新日・適用範囲・確認担当を示す。</a:t>
            </a:r>
          </a:p>
        </p:txBody>
      </p:sp>
      <p:sp>
        <p:nvSpPr>
          <p:cNvPr id="13" name="slot:caveat"/>
          <p:cNvSpPr txBox="1"/>
          <p:nvPr/>
        </p:nvSpPr>
        <p:spPr>
          <a:xfrm>
            <a:off x="603504" y="5696712"/>
            <a:ext cx="4846320" cy="411480"/>
          </a:xfrm>
          <a:prstGeom prst="rect">
            <a:avLst/>
          </a:prstGeom>
          <a:noFill/>
        </p:spPr>
        <p:txBody>
          <a:bodyPr wrap="square" anchor="t" lIns="18288" rIns="18288" tIns="13716" bIns="13716">
            <a:noAutofit/>
          </a:bodyPr>
          <a:lstStyle/>
          <a:p>
            <a:pPr hangingPunct="0" eaLnBrk="1" latinLnBrk="0">
              <a:lnSpc>
                <a:spcPts val="1750"/>
              </a:lnSpc>
              <a:spcBef>
                <a:spcPts val="0"/>
              </a:spcBef>
              <a:spcAft>
                <a:spcPts val="0"/>
              </a:spcAft>
              <a:defRPr lang="ja-JP" sz="1400" b="0">
                <a:solidFill>
                  <a:srgbClr val="566777"/>
                </a:solidFill>
                <a:latin typeface="Yu Gothic"/>
                <a:ea typeface="Yu Gothic"/>
                <a:cs typeface="Yu Gothic"/>
              </a:defRPr>
            </a:pPr>
            <a:r>
              <a:rPr lang="ja-JP" sz="1400" b="0">
                <a:solidFill>
                  <a:srgbClr val="566777"/>
                </a:solidFill>
                <a:latin typeface="Yu Gothic"/>
                <a:ea typeface="Yu Gothic"/>
                <a:cs typeface="Yu Gothic"/>
              </a:rPr>
              <a:t>留保：発言と分析者の解釈を区別する。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引用と解釈</dc:title>
  <dc:subject/>
  <dc:creator>slide-layout-agent</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