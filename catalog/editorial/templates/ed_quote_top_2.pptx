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"ed_quote_top_2",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10972800" cy="219456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quotation"/>
          <p:cNvSpPr txBox="1"/>
          <p:nvPr/>
        </p:nvSpPr>
        <p:spPr>
          <a:xfrm>
            <a:off x="822960" y="2478024"/>
            <a:ext cx="10533888" cy="1252728"/>
          </a:xfrm>
          <a:prstGeom prst="rect">
            <a:avLst/>
          </a:prstGeom>
          <a:noFill/>
        </p:spPr>
        <p:txBody>
          <a:bodyPr wrap="square" lIns="18288" rIns="18288" tIns="13716" bIns="13716">
            <a:noAutofit/>
          </a:bodyPr>
          <a:lstStyle/>
          <a:p>
            <a:pPr hangingPunct="0" eaLnBrk="1" latinLnBrk="0">
              <a:lnSpc>
                <a:spcPts val="3125"/>
              </a:lnSpc>
              <a:spcBef>
                <a:spcPts val="0"/>
              </a:spcBef>
              <a:spcAft>
                <a:spcPts val="0"/>
              </a:spcAft>
              <a:defRPr lang="ja-JP" sz="2500" b="1">
                <a:solidFill>
                  <a:srgbClr val="087E83"/>
                </a:solidFill>
                <a:latin typeface="Yu Gothic"/>
                <a:ea typeface="Yu Gothic"/>
                <a:cs typeface="Yu Gothic"/>
              </a:defRPr>
            </a:pPr>
            <a:r>
              <a:rPr lang="ja-JP" sz="2500" b="1">
                <a:solidFill>
                  <a:srgbClr val="087E83"/>
                </a:solidFill>
                <a:latin typeface="Yu Gothic"/>
                <a:ea typeface="Yu Gothic"/>
                <a:cs typeface="Yu Gothic"/>
              </a:rPr>
              <a:t>資料を見つけた後で、いま使える内容かを判断するのに時間がかかる。</a:t>
            </a:r>
          </a:p>
        </p:txBody>
      </p:sp>
      <p:sp>
        <p:nvSpPr>
          <p:cNvPr id="11" name="slot:attribution"/>
          <p:cNvSpPr txBox="1"/>
          <p:nvPr/>
        </p:nvSpPr>
        <p:spPr>
          <a:xfrm>
            <a:off x="877824" y="3730752"/>
            <a:ext cx="10424160"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架空ヒアリングの発言例。一般化は未検証。</a:t>
            </a:r>
          </a:p>
        </p:txBody>
      </p:sp>
      <p:sp>
        <p:nvSpPr>
          <p:cNvPr id="12" name="slot:interpretation"/>
          <p:cNvSpPr txBox="1"/>
          <p:nvPr/>
        </p:nvSpPr>
        <p:spPr>
          <a:xfrm>
            <a:off x="694944" y="4645152"/>
            <a:ext cx="10789920" cy="96012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0">
                <a:solidFill>
                  <a:srgbClr val="213547"/>
                </a:solidFill>
                <a:latin typeface="Yu Gothic"/>
                <a:ea typeface="Yu Gothic"/>
                <a:cs typeface="Yu Gothic"/>
              </a:defRPr>
            </a:pPr>
            <a:r>
              <a:rPr lang="ja-JP" sz="2100" b="0">
                <a:solidFill>
                  <a:srgbClr val="213547"/>
                </a:solidFill>
                <a:latin typeface="Yu Gothic"/>
                <a:ea typeface="Yu Gothic"/>
                <a:cs typeface="Yu Gothic"/>
              </a:rPr>
              <a:t>示唆：検索結果と一緒に更新日・適用範囲・確認担当を示す。</a:t>
            </a:r>
          </a:p>
        </p:txBody>
      </p:sp>
      <p:sp>
        <p:nvSpPr>
          <p:cNvPr id="13" name="slot:caveat"/>
          <p:cNvSpPr txBox="1"/>
          <p:nvPr/>
        </p:nvSpPr>
        <p:spPr>
          <a:xfrm>
            <a:off x="694944" y="5696712"/>
            <a:ext cx="10789920" cy="411480"/>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留保：発言と分析者の解釈を区別する。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引用と解釈</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