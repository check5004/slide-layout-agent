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"ed_steps_horizontal_2",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static:sequence_0"/>
          <p:cNvSpPr txBox="1"/>
          <p:nvPr/>
        </p:nvSpPr>
        <p:spPr>
          <a:xfrm>
            <a:off x="603504" y="2249424"/>
            <a:ext cx="5330952" cy="356616"/>
          </a:xfrm>
          <a:prstGeom prst="rect">
            <a:avLst/>
          </a:prstGeom>
          <a:noFill/>
        </p:spPr>
        <p:txBody>
          <a:bodyPr wrap="square" anchor="t"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01</a:t>
            </a:r>
          </a:p>
        </p:txBody>
      </p:sp>
      <p:sp>
        <p:nvSpPr>
          <p:cNvPr id="10" name="decor:3"/>
          <p:cNvSpPr/>
          <p:nvPr/>
        </p:nvSpPr>
        <p:spPr>
          <a:xfrm>
            <a:off x="603504" y="2734056"/>
            <a:ext cx="5330952" cy="36576"/>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603504" y="2907792"/>
            <a:ext cx="5330952" cy="777240"/>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検索入口を揃える</a:t>
            </a:r>
          </a:p>
        </p:txBody>
      </p:sp>
      <p:sp>
        <p:nvSpPr>
          <p:cNvPr id="12" name="slot:item_1_body"/>
          <p:cNvSpPr txBox="1"/>
          <p:nvPr/>
        </p:nvSpPr>
        <p:spPr>
          <a:xfrm>
            <a:off x="603504" y="3739896"/>
            <a:ext cx="5330952" cy="2011680"/>
          </a:xfrm>
          <a:prstGeom prst="rect">
            <a:avLst/>
          </a:prstGeom>
          <a:noFill/>
        </p:spPr>
        <p:txBody>
          <a:bodyPr wrap="square" anchor="t" lIns="18288" rIns="18288" tIns="13716" bIns="13716">
            <a:noAutofit/>
          </a:bodyPr>
          <a:lstStyle/>
          <a:p>
            <a:pPr hangingPunct="0" eaLnBrk="1" latinLnBrk="0">
              <a:lnSpc>
                <a:spcPts val="2375"/>
              </a:lnSpc>
              <a:spcBef>
                <a:spcPts val="0"/>
              </a:spcBef>
              <a:spcAft>
                <a:spcPts val="0"/>
              </a:spcAft>
              <a:defRPr lang="ja-JP" sz="1900" b="0">
                <a:solidFill>
                  <a:srgbClr val="213547"/>
                </a:solidFill>
                <a:latin typeface="Yu Gothic"/>
                <a:ea typeface="Yu Gothic"/>
                <a:cs typeface="Yu Gothic"/>
              </a:defRPr>
            </a:pPr>
            <a:r>
              <a:rPr lang="ja-JP" sz="1900" b="0">
                <a:solidFill>
                  <a:srgbClr val="213547"/>
                </a:solidFill>
                <a:latin typeface="Yu Gothic"/>
                <a:ea typeface="Yu Gothic"/>
                <a:cs typeface="Yu Gothic"/>
              </a:rPr>
              <a:t>用語を揃え、同じ資料へ辿れる入口を整える。</a:t>
            </a:r>
          </a:p>
        </p:txBody>
      </p:sp>
      <p:sp>
        <p:nvSpPr>
          <p:cNvPr id="13" name="static:sequence_1"/>
          <p:cNvSpPr txBox="1"/>
          <p:nvPr/>
        </p:nvSpPr>
        <p:spPr>
          <a:xfrm>
            <a:off x="6245352" y="2249424"/>
            <a:ext cx="5330952" cy="356616"/>
          </a:xfrm>
          <a:prstGeom prst="rect">
            <a:avLst/>
          </a:prstGeom>
          <a:noFill/>
        </p:spPr>
        <p:txBody>
          <a:bodyPr wrap="square" anchor="t" lIns="18288" rIns="18288" tIns="13716" bIns="13716">
            <a:noAutofit/>
          </a:bodyPr>
          <a:lstStyle/>
          <a:p>
            <a:pPr hangingPunct="0" eaLnBrk="1" latinLnBrk="0">
              <a:lnSpc>
                <a:spcPts val="2125"/>
              </a:lnSpc>
              <a:spcBef>
                <a:spcPts val="0"/>
              </a:spcBef>
              <a:spcAft>
                <a:spcPts val="0"/>
              </a:spcAft>
              <a:defRPr lang="ja-JP" sz="1700" b="1">
                <a:solidFill>
                  <a:srgbClr val="087E83"/>
                </a:solidFill>
                <a:latin typeface="Yu Gothic"/>
                <a:ea typeface="Yu Gothic"/>
                <a:cs typeface="Yu Gothic"/>
              </a:defRPr>
            </a:pPr>
            <a:r>
              <a:rPr lang="ja-JP" sz="1700" b="1">
                <a:solidFill>
                  <a:srgbClr val="087E83"/>
                </a:solidFill>
                <a:latin typeface="Yu Gothic"/>
                <a:ea typeface="Yu Gothic"/>
                <a:cs typeface="Yu Gothic"/>
              </a:rPr>
              <a:t>02</a:t>
            </a:r>
          </a:p>
        </p:txBody>
      </p:sp>
      <p:sp>
        <p:nvSpPr>
          <p:cNvPr id="14" name="decor:4"/>
          <p:cNvSpPr/>
          <p:nvPr/>
        </p:nvSpPr>
        <p:spPr>
          <a:xfrm>
            <a:off x="6245352" y="2734056"/>
            <a:ext cx="5330952" cy="36576"/>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ot:item_2_heading"/>
          <p:cNvSpPr txBox="1"/>
          <p:nvPr/>
        </p:nvSpPr>
        <p:spPr>
          <a:xfrm>
            <a:off x="6245352" y="2907792"/>
            <a:ext cx="5330952" cy="777240"/>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1">
                <a:solidFill>
                  <a:srgbClr val="213547"/>
                </a:solidFill>
                <a:latin typeface="Yu Gothic"/>
                <a:ea typeface="Yu Gothic"/>
                <a:cs typeface="Yu Gothic"/>
              </a:defRPr>
            </a:pPr>
            <a:r>
              <a:rPr lang="ja-JP" sz="2100" b="1">
                <a:solidFill>
                  <a:srgbClr val="213547"/>
                </a:solidFill>
                <a:latin typeface="Yu Gothic"/>
                <a:ea typeface="Yu Gothic"/>
                <a:cs typeface="Yu Gothic"/>
              </a:rPr>
              <a:t>根拠まで辿れる</a:t>
            </a:r>
          </a:p>
        </p:txBody>
      </p:sp>
      <p:sp>
        <p:nvSpPr>
          <p:cNvPr id="16" name="slot:item_2_body"/>
          <p:cNvSpPr txBox="1"/>
          <p:nvPr/>
        </p:nvSpPr>
        <p:spPr>
          <a:xfrm>
            <a:off x="6245352" y="3739896"/>
            <a:ext cx="5330952" cy="2011680"/>
          </a:xfrm>
          <a:prstGeom prst="rect">
            <a:avLst/>
          </a:prstGeom>
          <a:noFill/>
        </p:spPr>
        <p:txBody>
          <a:bodyPr wrap="square" anchor="t" lIns="18288" rIns="18288" tIns="13716" bIns="13716">
            <a:noAutofit/>
          </a:bodyPr>
          <a:lstStyle/>
          <a:p>
            <a:pPr hangingPunct="0" eaLnBrk="1" latinLnBrk="0">
              <a:lnSpc>
                <a:spcPts val="2375"/>
              </a:lnSpc>
              <a:spcBef>
                <a:spcPts val="0"/>
              </a:spcBef>
              <a:spcAft>
                <a:spcPts val="0"/>
              </a:spcAft>
              <a:defRPr lang="ja-JP" sz="1900" b="0">
                <a:solidFill>
                  <a:srgbClr val="213547"/>
                </a:solidFill>
                <a:latin typeface="Yu Gothic"/>
                <a:ea typeface="Yu Gothic"/>
                <a:cs typeface="Yu Gothic"/>
              </a:defRPr>
            </a:pPr>
            <a:r>
              <a:rPr lang="ja-JP" sz="1900" b="0">
                <a:solidFill>
                  <a:srgbClr val="213547"/>
                </a:solidFill>
                <a:latin typeface="Yu Gothic"/>
                <a:ea typeface="Yu Gothic"/>
                <a:cs typeface="Yu Gothic"/>
              </a:rPr>
              <a:t>原文の条件と確認日を、要約とともに残す。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順序のある手順</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