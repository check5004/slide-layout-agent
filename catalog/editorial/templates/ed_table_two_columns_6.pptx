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"ed_table_two_columns_6",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graphicFrame>
        <p:nvGraphicFramePr>
          <p:cNvPr id="9" name="slot:table"/>
          <p:cNvGraphicFramePr>
            <a:graphicFrameLocks noGrp="1"/>
          </p:cNvGraphicFramePr>
          <p:nvPr/>
        </p:nvGraphicFramePr>
        <p:xfrm>
          <a:off x="603504" y="2148840"/>
          <a:ext cx="10972800" cy="3566160"/>
        </p:xfrm>
        <a:graphic>
          <a:graphicData uri="http://schemas.openxmlformats.org/drawingml/2006/table">
            <a:tbl>
              <a:tblPr firstRow="1" bandRow="1">
                <a:tableStyleId>{5C22544A-7EE6-4342-B048-85BDC9FD1C3A}</a:tableStyleId>
              </a:tblPr>
              <a:tblGrid>
                <a:gridCol w="5486400"/>
                <a:gridCol w="5486400"/>
              </a:tblGrid>
              <a:tr h="509451">
                <a:tc>
                  <a:txBody>
                    <a:bodyPr wrap="square"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観点</a:t>
                      </a:r>
                    </a:p>
                  </a:txBody>
                  <a:tcPr marL="155448" marR="155448" marT="64008" marB="64008">
                    <a:solidFill>
                      <a:srgbClr val="213547"/>
                    </a:solidFill>
                  </a:tcPr>
                </a:tc>
                <a:tc>
                  <a:txBody>
                    <a:bodyPr wrap="square"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確認事項</a:t>
                      </a:r>
                    </a:p>
                  </a:txBody>
                  <a:tcPr marL="155448" marR="155448" marT="64008" marB="64008">
                    <a:solidFill>
                      <a:srgbClr val="213547"/>
                    </a:solidFill>
                  </a:tcPr>
                </a:tc>
              </a:tr>
              <a:tr h="509451">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検索入口を揃える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索引と用語の対応を確認</a:t>
                      </a:r>
                    </a:p>
                  </a:txBody>
                  <a:tcPr marL="155448" marR="155448" marT="64008" marB="64008">
                    <a:solidFill>
                      <a:srgbClr val="FFFFFF"/>
                    </a:solidFill>
                  </a:tcPr>
                </a:tc>
              </a:tr>
              <a:tr h="509451">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根拠まで辿れる</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引用箇所と調査条件を照合</a:t>
                      </a:r>
                    </a:p>
                  </a:txBody>
                  <a:tcPr marL="155448" marR="155448" marT="64008" marB="64008">
                    <a:solidFill>
                      <a:srgbClr val="EDF1F4"/>
                    </a:solidFill>
                  </a:tcPr>
                </a:tc>
              </a:tr>
              <a:tr h="509451">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更新範囲を決める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担当と確認時期を決める</a:t>
                      </a:r>
                    </a:p>
                  </a:txBody>
                  <a:tcPr marL="155448" marR="155448" marT="64008" marB="64008">
                    <a:solidFill>
                      <a:srgbClr val="FFFFFF"/>
                    </a:solidFill>
                  </a:tcPr>
                </a:tc>
              </a:tr>
              <a:tr h="509451">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例外を見える化</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適用できない場面を記録</a:t>
                      </a:r>
                    </a:p>
                  </a:txBody>
                  <a:tcPr marL="155448" marR="155448" marT="64008" marB="64008">
                    <a:solidFill>
                      <a:srgbClr val="EDF1F4"/>
                    </a:solidFill>
                  </a:tcPr>
                </a:tc>
              </a:tr>
              <a:tr h="509451">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比較軸を共有する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評価項目の定義を揃える</a:t>
                      </a:r>
                    </a:p>
                  </a:txBody>
                  <a:tcPr marL="155448" marR="155448" marT="64008" marB="64008">
                    <a:solidFill>
                      <a:srgbClr val="FFFFFF"/>
                    </a:solidFill>
                  </a:tcPr>
                </a:tc>
              </a:tr>
              <a:tr h="509454">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確認先を残す</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未確認の論点を引き継ぐ</a:t>
                      </a:r>
                    </a:p>
                  </a:txBody>
                  <a:tcPr marL="155448" marR="155448" marT="64008" marB="64008">
                    <a:solidFill>
                      <a:srgbClr val="EDF1F4"/>
                    </a:solidFill>
                  </a:tcPr>
                </a:tc>
              </a:tr>
            </a:tbl>
          </a:graphicData>
        </a:graphic>
      </p:graphicFrame>
      <p:sp>
        <p:nvSpPr>
          <p:cNvPr id="10" name="slot:note"/>
          <p:cNvSpPr txBox="1"/>
          <p:nvPr/>
        </p:nvSpPr>
        <p:spPr>
          <a:xfrm>
            <a:off x="658368" y="5806440"/>
            <a:ext cx="10789920" cy="393192"/>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留保：同じ条件で比較した結果ではない。各資料の対象範囲を確認する。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比較表</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