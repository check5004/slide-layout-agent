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"ed_timeline_vertical_4", "license":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 "provenance": "Original design; fictional content"}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架空調査｜社内ナレッジ共有</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01</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FICTIONAL RESEARCH / EDITORIAL</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1920240" y="2295144"/>
            <a:ext cx="22860" cy="3566160"/>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ecor:4"/>
          <p:cNvSpPr/>
          <p:nvPr/>
        </p:nvSpPr>
        <p:spPr>
          <a:xfrm>
            <a:off x="2212848" y="3092958"/>
            <a:ext cx="9308592"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ot:item_1_heading"/>
          <p:cNvSpPr txBox="1"/>
          <p:nvPr/>
        </p:nvSpPr>
        <p:spPr>
          <a:xfrm>
            <a:off x="2212848" y="2157984"/>
            <a:ext cx="2834640"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検索入口を揃える</a:t>
            </a:r>
          </a:p>
        </p:txBody>
      </p:sp>
      <p:sp>
        <p:nvSpPr>
          <p:cNvPr id="12" name="slot:item_1_body"/>
          <p:cNvSpPr txBox="1"/>
          <p:nvPr/>
        </p:nvSpPr>
        <p:spPr>
          <a:xfrm>
            <a:off x="5257800" y="2157984"/>
            <a:ext cx="6263640" cy="94411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用語を揃え、同じ資料へ辿れる入口を整える。</a:t>
            </a:r>
          </a:p>
        </p:txBody>
      </p:sp>
      <p:sp>
        <p:nvSpPr>
          <p:cNvPr id="13" name="slot:item_1_date"/>
          <p:cNvSpPr txBox="1"/>
          <p:nvPr/>
        </p:nvSpPr>
        <p:spPr>
          <a:xfrm>
            <a:off x="621792" y="2139696"/>
            <a:ext cx="1170432" cy="594360"/>
          </a:xfrm>
          <a:prstGeom prst="rect">
            <a:avLst/>
          </a:prstGeom>
          <a:noFill/>
        </p:spPr>
        <p:txBody>
          <a:bodyPr wrap="square" lIns="18288" rIns="18288" tIns="13716" bIns="13716">
            <a:noAutofit/>
          </a:bodyPr>
          <a:lstStyle/>
          <a:p>
            <a:pPr hangingPunct="0" eaLnBrk="1" latinLnBrk="0">
              <a:lnSpc>
                <a:spcPts val="2000"/>
              </a:lnSpc>
              <a:spcBef>
                <a:spcPts val="0"/>
              </a:spcBef>
              <a:spcAft>
                <a:spcPts val="0"/>
              </a:spcAft>
              <a:defRPr lang="ja-JP" sz="1600" b="1">
                <a:solidFill>
                  <a:srgbClr val="087E83"/>
                </a:solidFill>
                <a:latin typeface="Yu Gothic"/>
                <a:ea typeface="Yu Gothic"/>
                <a:cs typeface="Yu Gothic"/>
              </a:defRPr>
            </a:pPr>
            <a:r>
              <a:rPr lang="ja-JP" sz="1600" b="1">
                <a:solidFill>
                  <a:srgbClr val="087E83"/>
                </a:solidFill>
                <a:latin typeface="Yu Gothic"/>
                <a:ea typeface="Yu Gothic"/>
                <a:cs typeface="Yu Gothic"/>
              </a:rPr>
              <a:t>準備期</a:t>
            </a:r>
          </a:p>
        </p:txBody>
      </p:sp>
      <p:sp>
        <p:nvSpPr>
          <p:cNvPr id="14" name="decor:5"/>
          <p:cNvSpPr/>
          <p:nvPr/>
        </p:nvSpPr>
        <p:spPr>
          <a:xfrm>
            <a:off x="2212848" y="4064508"/>
            <a:ext cx="9308592"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lot:item_2_heading"/>
          <p:cNvSpPr txBox="1"/>
          <p:nvPr/>
        </p:nvSpPr>
        <p:spPr>
          <a:xfrm>
            <a:off x="2212848" y="3129534"/>
            <a:ext cx="2834640"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根拠まで辿れる</a:t>
            </a:r>
          </a:p>
        </p:txBody>
      </p:sp>
      <p:sp>
        <p:nvSpPr>
          <p:cNvPr id="16" name="slot:item_2_body"/>
          <p:cNvSpPr txBox="1"/>
          <p:nvPr/>
        </p:nvSpPr>
        <p:spPr>
          <a:xfrm>
            <a:off x="5257800" y="3129534"/>
            <a:ext cx="6263640" cy="94411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原文の条件と確認日を、要約とともに残す。</a:t>
            </a:r>
          </a:p>
        </p:txBody>
      </p:sp>
      <p:sp>
        <p:nvSpPr>
          <p:cNvPr id="17" name="slot:item_2_date"/>
          <p:cNvSpPr txBox="1"/>
          <p:nvPr/>
        </p:nvSpPr>
        <p:spPr>
          <a:xfrm>
            <a:off x="621792" y="3111246"/>
            <a:ext cx="1170432" cy="594360"/>
          </a:xfrm>
          <a:prstGeom prst="rect">
            <a:avLst/>
          </a:prstGeom>
          <a:noFill/>
        </p:spPr>
        <p:txBody>
          <a:bodyPr wrap="square" lIns="18288" rIns="18288" tIns="13716" bIns="13716">
            <a:noAutofit/>
          </a:bodyPr>
          <a:lstStyle/>
          <a:p>
            <a:pPr hangingPunct="0" eaLnBrk="1" latinLnBrk="0">
              <a:lnSpc>
                <a:spcPts val="2000"/>
              </a:lnSpc>
              <a:spcBef>
                <a:spcPts val="0"/>
              </a:spcBef>
              <a:spcAft>
                <a:spcPts val="0"/>
              </a:spcAft>
              <a:defRPr lang="ja-JP" sz="1600" b="1">
                <a:solidFill>
                  <a:srgbClr val="087E83"/>
                </a:solidFill>
                <a:latin typeface="Yu Gothic"/>
                <a:ea typeface="Yu Gothic"/>
                <a:cs typeface="Yu Gothic"/>
              </a:defRPr>
            </a:pPr>
            <a:r>
              <a:rPr lang="ja-JP" sz="1600" b="1">
                <a:solidFill>
                  <a:srgbClr val="087E83"/>
                </a:solidFill>
                <a:latin typeface="Yu Gothic"/>
                <a:ea typeface="Yu Gothic"/>
                <a:cs typeface="Yu Gothic"/>
              </a:rPr>
              <a:t>試行期</a:t>
            </a:r>
          </a:p>
        </p:txBody>
      </p:sp>
      <p:sp>
        <p:nvSpPr>
          <p:cNvPr id="18" name="decor:6"/>
          <p:cNvSpPr/>
          <p:nvPr/>
        </p:nvSpPr>
        <p:spPr>
          <a:xfrm>
            <a:off x="2212848" y="5036058"/>
            <a:ext cx="9308592"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lot:item_3_heading"/>
          <p:cNvSpPr txBox="1"/>
          <p:nvPr/>
        </p:nvSpPr>
        <p:spPr>
          <a:xfrm>
            <a:off x="2212848" y="4101083"/>
            <a:ext cx="2834640"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更新範囲を決める</a:t>
            </a:r>
          </a:p>
        </p:txBody>
      </p:sp>
      <p:sp>
        <p:nvSpPr>
          <p:cNvPr id="20" name="slot:item_3_body"/>
          <p:cNvSpPr txBox="1"/>
          <p:nvPr/>
        </p:nvSpPr>
        <p:spPr>
          <a:xfrm>
            <a:off x="5257800" y="4101083"/>
            <a:ext cx="6263640" cy="94411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変更頻度に応じて担当と再確認の時期を決める。</a:t>
            </a:r>
          </a:p>
        </p:txBody>
      </p:sp>
      <p:sp>
        <p:nvSpPr>
          <p:cNvPr id="21" name="slot:item_3_date"/>
          <p:cNvSpPr txBox="1"/>
          <p:nvPr/>
        </p:nvSpPr>
        <p:spPr>
          <a:xfrm>
            <a:off x="621792" y="4082796"/>
            <a:ext cx="1170432" cy="594360"/>
          </a:xfrm>
          <a:prstGeom prst="rect">
            <a:avLst/>
          </a:prstGeom>
          <a:noFill/>
        </p:spPr>
        <p:txBody>
          <a:bodyPr wrap="square" lIns="18288" rIns="18288" tIns="13716" bIns="13716">
            <a:noAutofit/>
          </a:bodyPr>
          <a:lstStyle/>
          <a:p>
            <a:pPr hangingPunct="0" eaLnBrk="1" latinLnBrk="0">
              <a:lnSpc>
                <a:spcPts val="2000"/>
              </a:lnSpc>
              <a:spcBef>
                <a:spcPts val="0"/>
              </a:spcBef>
              <a:spcAft>
                <a:spcPts val="0"/>
              </a:spcAft>
              <a:defRPr lang="ja-JP" sz="1600" b="1">
                <a:solidFill>
                  <a:srgbClr val="087E83"/>
                </a:solidFill>
                <a:latin typeface="Yu Gothic"/>
                <a:ea typeface="Yu Gothic"/>
                <a:cs typeface="Yu Gothic"/>
              </a:defRPr>
            </a:pPr>
            <a:r>
              <a:rPr lang="ja-JP" sz="1600" b="1">
                <a:solidFill>
                  <a:srgbClr val="087E83"/>
                </a:solidFill>
                <a:latin typeface="Yu Gothic"/>
                <a:ea typeface="Yu Gothic"/>
                <a:cs typeface="Yu Gothic"/>
              </a:rPr>
              <a:t>評価期</a:t>
            </a:r>
          </a:p>
        </p:txBody>
      </p:sp>
      <p:sp>
        <p:nvSpPr>
          <p:cNvPr id="22" name="decor:7"/>
          <p:cNvSpPr/>
          <p:nvPr/>
        </p:nvSpPr>
        <p:spPr>
          <a:xfrm>
            <a:off x="2212848" y="6007608"/>
            <a:ext cx="9308592"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slot:item_4_heading"/>
          <p:cNvSpPr txBox="1"/>
          <p:nvPr/>
        </p:nvSpPr>
        <p:spPr>
          <a:xfrm>
            <a:off x="2212848" y="5072633"/>
            <a:ext cx="2834640"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例外を見える化</a:t>
            </a:r>
          </a:p>
        </p:txBody>
      </p:sp>
      <p:sp>
        <p:nvSpPr>
          <p:cNvPr id="24" name="slot:item_4_body"/>
          <p:cNvSpPr txBox="1"/>
          <p:nvPr/>
        </p:nvSpPr>
        <p:spPr>
          <a:xfrm>
            <a:off x="5257800" y="5072633"/>
            <a:ext cx="6263640" cy="94411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適用できない場面も記録し、前提の違いを残す。</a:t>
            </a:r>
          </a:p>
        </p:txBody>
      </p:sp>
      <p:sp>
        <p:nvSpPr>
          <p:cNvPr id="25" name="slot:item_4_date"/>
          <p:cNvSpPr txBox="1"/>
          <p:nvPr/>
        </p:nvSpPr>
        <p:spPr>
          <a:xfrm>
            <a:off x="621792" y="5054346"/>
            <a:ext cx="1170432" cy="594360"/>
          </a:xfrm>
          <a:prstGeom prst="rect">
            <a:avLst/>
          </a:prstGeom>
          <a:noFill/>
        </p:spPr>
        <p:txBody>
          <a:bodyPr wrap="square" lIns="18288" rIns="18288" tIns="13716" bIns="13716">
            <a:noAutofit/>
          </a:bodyPr>
          <a:lstStyle/>
          <a:p>
            <a:pPr hangingPunct="0" eaLnBrk="1" latinLnBrk="0">
              <a:lnSpc>
                <a:spcPts val="2000"/>
              </a:lnSpc>
              <a:spcBef>
                <a:spcPts val="0"/>
              </a:spcBef>
              <a:spcAft>
                <a:spcPts val="0"/>
              </a:spcAft>
              <a:defRPr lang="ja-JP" sz="1600" b="1">
                <a:solidFill>
                  <a:srgbClr val="087E83"/>
                </a:solidFill>
                <a:latin typeface="Yu Gothic"/>
                <a:ea typeface="Yu Gothic"/>
                <a:cs typeface="Yu Gothic"/>
              </a:defRPr>
            </a:pPr>
            <a:r>
              <a:rPr lang="ja-JP" sz="1600" b="1">
                <a:solidFill>
                  <a:srgbClr val="087E83"/>
                </a:solidFill>
                <a:latin typeface="Yu Gothic"/>
                <a:ea typeface="Yu Gothic"/>
                <a:cs typeface="Yu Gothic"/>
              </a:rPr>
              <a:t>展開期</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時間軸</dc:title>
  <dc:subject/>
  <dc:creator>slide-layout-agent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