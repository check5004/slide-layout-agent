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"horizontal_axis_table",</a:t>
            </a:r>
          </a:p>
          <a:p>
            <a:r>
              <a:t>  "variant": "warm",</a:t>
            </a:r>
          </a:p>
          <a:p>
            <a:r>
              <a:t>  "rationale": "Public template fixture; short fictional slot content; no private data.",</a:t>
            </a:r>
          </a:p>
          <a:p>
            <a:r>
              <a:t>  "source_sha256": "eb8bd33a9e06beb05586b6a53fae2dbdefb86488845f453cec73b75137b3242f",</a:t>
            </a:r>
          </a:p>
          <a:p>
            <a:r>
              <a:t>  "evidence": [</a:t>
            </a:r>
          </a:p>
          <a:p>
            <a:r>
              <a:t>    {</a:t>
            </a:r>
          </a:p>
          <a:p>
            <a:r>
              <a:t>      "text": "横軸評価表",</a:t>
            </a:r>
          </a:p>
          <a:p>
            <a:r>
              <a:t>      "refs": [</a:t>
            </a:r>
          </a:p>
          <a:p>
            <a:r>
              <a:t>        {</a:t>
            </a:r>
          </a:p>
          <a:p>
            <a:r>
              <a:t>          "source_id": "s001",</a:t>
            </a:r>
          </a:p>
          <a:p>
            <a:r>
              <a:t>          "quote": "横軸評価表"</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  網掛けの行＝記載例1（この行だけ立てている理由を1行で）",</a:t>
            </a:r>
          </a:p>
          <a:p>
            <a:r>
              <a:t>      "refs": [</a:t>
            </a:r>
          </a:p>
          <a:p>
            <a:r>
              <a:t>        {</a:t>
            </a:r>
          </a:p>
          <a:p>
            <a:r>
              <a:t>          "source_id": "s001",</a:t>
            </a:r>
          </a:p>
          <a:p>
            <a:r>
              <a:t>          "quote": "●  網掛けの行＝記載例1（この行だけ立てている理由を1行で）"</a:t>
            </a:r>
          </a:p>
          <a:p>
            <a:r>
              <a:t>        }</a:t>
            </a:r>
          </a:p>
          <a:p>
            <a:r>
              <a:t>      ],</a:t>
            </a:r>
          </a:p>
          <a:p>
            <a:r>
              <a:t>      "mode": "verbatim"</a:t>
            </a:r>
          </a:p>
          <a:p>
            <a:r>
              <a:t>    },</a:t>
            </a:r>
          </a:p>
          <a:p>
            <a:r>
              <a:t>    {</a:t>
            </a:r>
          </a:p>
          <a:p>
            <a:r>
              <a:t>      "text": "列見出し1",</a:t>
            </a:r>
          </a:p>
          <a:p>
            <a:r>
              <a:t>      "refs": [</a:t>
            </a:r>
          </a:p>
          <a:p>
            <a:r>
              <a:t>        {</a:t>
            </a:r>
          </a:p>
          <a:p>
            <a:r>
              <a:t>          "source_id": "s001",</a:t>
            </a:r>
          </a:p>
          <a:p>
            <a:r>
              <a:t>          "quote": "列見出し1"</a:t>
            </a:r>
          </a:p>
          <a:p>
            <a:r>
              <a:t>        }</a:t>
            </a:r>
          </a:p>
          <a:p>
            <a:r>
              <a:t>      ],</a:t>
            </a:r>
          </a:p>
          <a:p>
            <a:r>
              <a:t>      "mode": "verbatim"</a:t>
            </a:r>
          </a:p>
          <a:p>
            <a:r>
              <a:t>    },</a:t>
            </a:r>
          </a:p>
          <a:p>
            <a:r>
              <a:t>    {</a:t>
            </a:r>
          </a:p>
          <a:p>
            <a:r>
              <a:t>      "text": "列見出し2",</a:t>
            </a:r>
          </a:p>
          <a:p>
            <a:r>
              <a:t>      "refs": [</a:t>
            </a:r>
          </a:p>
          <a:p>
            <a:r>
              <a:t>        {</a:t>
            </a:r>
          </a:p>
          <a:p>
            <a:r>
              <a:t>          "source_id": "s001",</a:t>
            </a:r>
          </a:p>
          <a:p>
            <a:r>
              <a:t>          "quote": "列見出し2"</a:t>
            </a:r>
          </a:p>
          <a:p>
            <a:r>
              <a:t>        }</a:t>
            </a:r>
          </a:p>
          <a:p>
            <a:r>
              <a:t>      ],</a:t>
            </a:r>
          </a:p>
          <a:p>
            <a:r>
              <a:t>      "mode": "verbatim"</a:t>
            </a:r>
          </a:p>
          <a:p>
            <a:r>
              <a:t>    },</a:t>
            </a:r>
          </a:p>
          <a:p>
            <a:r>
              <a:t>    {</a:t>
            </a:r>
          </a:p>
          <a:p>
            <a:r>
              <a:t>      "text": "列見出し3",</a:t>
            </a:r>
          </a:p>
          <a:p>
            <a:r>
              <a:t>      "refs": [</a:t>
            </a:r>
          </a:p>
          <a:p>
            <a:r>
              <a:t>        {</a:t>
            </a:r>
          </a:p>
          <a:p>
            <a:r>
              <a:t>          "source_id": "s001",</a:t>
            </a:r>
          </a:p>
          <a:p>
            <a:r>
              <a:t>          "quote": "列見出し3"</a:t>
            </a:r>
          </a:p>
          <a:p>
            <a:r>
              <a:t>        }</a:t>
            </a:r>
          </a:p>
          <a:p>
            <a:r>
              <a:t>      ],</a:t>
            </a:r>
          </a:p>
          <a:p>
            <a:r>
              <a:t>      "mode": "verbatim"</a:t>
            </a:r>
          </a:p>
          <a:p>
            <a:r>
              <a:t>    },</a:t>
            </a:r>
          </a:p>
          <a:p>
            <a:r>
              <a:t>    {</a:t>
            </a:r>
          </a:p>
          <a:p>
            <a:r>
              <a:t>      "text": "列見出し4",</a:t>
            </a:r>
          </a:p>
          <a:p>
            <a:r>
              <a:t>      "refs": [</a:t>
            </a:r>
          </a:p>
          <a:p>
            <a:r>
              <a:t>        {</a:t>
            </a:r>
          </a:p>
          <a:p>
            <a:r>
              <a:t>          "source_id": "s001",</a:t>
            </a:r>
          </a:p>
          <a:p>
            <a:r>
              <a:t>          "quote": "列見出し4"</a:t>
            </a:r>
          </a:p>
          <a:p>
            <a:r>
              <a:t>        }</a:t>
            </a:r>
          </a:p>
          <a:p>
            <a:r>
              <a:t>      ],</a:t>
            </a:r>
          </a:p>
          <a:p>
            <a:r>
              <a:t>      "mode": "verbatim"</a:t>
            </a:r>
          </a:p>
          <a:p>
            <a:r>
              <a:t>    },</a:t>
            </a:r>
          </a:p>
          <a:p>
            <a:r>
              <a:t>    {</a:t>
            </a:r>
          </a:p>
          <a:p>
            <a:r>
              <a:t>      "text": "列見出し5",</a:t>
            </a:r>
          </a:p>
          <a:p>
            <a:r>
              <a:t>      "refs": [</a:t>
            </a:r>
          </a:p>
          <a:p>
            <a:r>
              <a:t>        {</a:t>
            </a:r>
          </a:p>
          <a:p>
            <a:r>
              <a:t>          "source_id": "s001",</a:t>
            </a:r>
          </a:p>
          <a:p>
            <a:r>
              <a:t>          "quote": "列見出し5"</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"citations": {</a:t>
            </a:r>
          </a:p>
          <a:p>
            <a:r>
              <a:t>    "s001": "Public MIT sample: templates/freeform_parts_more_16x9.html section 13"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"01a4b5b74643dc5c530ba307601185fe5acce93781ca9c5d292498387e300786"</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横軸評価表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075688"/>
            <a:ext cx="11039551"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  網掛けの行＝記載例1（この行だけ立てている理由を1行で）</a:t>
            </a:r>
            <a:endParaRPr lang="en-US" sz="1250" dirty="0"/>
          </a:p>
        </p:txBody>
      </p:sp>
      <p:sp>
        <p:nvSpPr>
          <p:cNvPr id="11" name="shape:011"/>
          <p:cNvSpPr/>
          <p:nvPr/>
        </p:nvSpPr>
        <p:spPr>
          <a:xfrm>
            <a:off x="576072" y="2404872"/>
            <a:ext cx="11039551" cy="0"/>
          </a:xfrm>
          <a:prstGeom prst="line">
            <a:avLst/>
          </a:prstGeom>
          <a:noFill/>
          <a:ln w="7620">
            <a:solidFill>
              <a:srgbClr val="8A7B6B"/>
            </a:solidFill>
            <a:prstDash val="sysDot"/>
          </a:ln>
        </p:spPr>
        <p:txBody>
          <a:bodyPr>
            <a:noAutofit/>
          </a:bodyPr>
          <a:p/>
        </p:txBody>
      </p:sp>
      <p:sp>
        <p:nvSpPr>
          <p:cNvPr id="12" name="shape:012"/>
          <p:cNvSpPr/>
          <p:nvPr/>
        </p:nvSpPr>
        <p:spPr>
          <a:xfrm>
            <a:off x="576072" y="2578608"/>
            <a:ext cx="13048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576072" y="2926080"/>
            <a:ext cx="1304814" cy="0"/>
          </a:xfrm>
          <a:prstGeom prst="line">
            <a:avLst/>
          </a:prstGeom>
          <a:noFill/>
          <a:ln w="20320">
            <a:solidFill>
              <a:srgbClr val="322014"/>
            </a:solidFill>
            <a:prstDash val="solid"/>
          </a:ln>
        </p:spPr>
        <p:txBody>
          <a:bodyPr>
            <a:noAutofit/>
          </a:bodyPr>
          <a:p/>
        </p:txBody>
      </p:sp>
      <p:sp>
        <p:nvSpPr>
          <p:cNvPr id="14" name="shape:014"/>
          <p:cNvSpPr/>
          <p:nvPr/>
        </p:nvSpPr>
        <p:spPr>
          <a:xfrm>
            <a:off x="2063766" y="2578608"/>
            <a:ext cx="274011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2063766" y="2926080"/>
            <a:ext cx="2740110" cy="0"/>
          </a:xfrm>
          <a:prstGeom prst="line">
            <a:avLst/>
          </a:prstGeom>
          <a:noFill/>
          <a:ln w="20320">
            <a:solidFill>
              <a:srgbClr val="322014"/>
            </a:solidFill>
            <a:prstDash val="solid"/>
          </a:ln>
        </p:spPr>
        <p:txBody>
          <a:bodyPr>
            <a:noAutofit/>
          </a:bodyPr>
          <a:p/>
        </p:txBody>
      </p:sp>
      <p:sp>
        <p:nvSpPr>
          <p:cNvPr id="16" name="shape:016"/>
          <p:cNvSpPr/>
          <p:nvPr/>
        </p:nvSpPr>
        <p:spPr>
          <a:xfrm>
            <a:off x="4986756" y="2578608"/>
            <a:ext cx="3001072"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4986756" y="2926080"/>
            <a:ext cx="3001072" cy="0"/>
          </a:xfrm>
          <a:prstGeom prst="line">
            <a:avLst/>
          </a:prstGeom>
          <a:noFill/>
          <a:ln w="20320">
            <a:solidFill>
              <a:srgbClr val="322014"/>
            </a:solidFill>
            <a:prstDash val="solid"/>
          </a:ln>
        </p:spPr>
        <p:txBody>
          <a:bodyPr>
            <a:noAutofit/>
          </a:bodyPr>
          <a:p/>
        </p:txBody>
      </p:sp>
      <p:sp>
        <p:nvSpPr>
          <p:cNvPr id="18" name="shape:018"/>
          <p:cNvSpPr/>
          <p:nvPr/>
        </p:nvSpPr>
        <p:spPr>
          <a:xfrm>
            <a:off x="8170708" y="2578608"/>
            <a:ext cx="1565777"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列見出し4</a:t>
            </a:r>
            <a:endParaRPr lang="en-US" sz="1200" dirty="0"/>
          </a:p>
        </p:txBody>
      </p:sp>
      <p:sp>
        <p:nvSpPr>
          <p:cNvPr id="19" name="shape:019"/>
          <p:cNvSpPr/>
          <p:nvPr/>
        </p:nvSpPr>
        <p:spPr>
          <a:xfrm>
            <a:off x="8170708" y="2926080"/>
            <a:ext cx="1565777" cy="0"/>
          </a:xfrm>
          <a:prstGeom prst="line">
            <a:avLst/>
          </a:prstGeom>
          <a:noFill/>
          <a:ln w="20320">
            <a:solidFill>
              <a:srgbClr val="322014"/>
            </a:solidFill>
            <a:prstDash val="solid"/>
          </a:ln>
        </p:spPr>
        <p:txBody>
          <a:bodyPr>
            <a:noAutofit/>
          </a:bodyPr>
          <a:p/>
        </p:txBody>
      </p:sp>
      <p:sp>
        <p:nvSpPr>
          <p:cNvPr id="20" name="shape:020"/>
          <p:cNvSpPr/>
          <p:nvPr/>
        </p:nvSpPr>
        <p:spPr>
          <a:xfrm>
            <a:off x="9919365" y="2578608"/>
            <a:ext cx="1696258"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列見出し5</a:t>
            </a:r>
            <a:endParaRPr lang="en-US" sz="1200" dirty="0"/>
          </a:p>
        </p:txBody>
      </p:sp>
      <p:sp>
        <p:nvSpPr>
          <p:cNvPr id="21" name="shape:021"/>
          <p:cNvSpPr/>
          <p:nvPr/>
        </p:nvSpPr>
        <p:spPr>
          <a:xfrm>
            <a:off x="9919365" y="2926080"/>
            <a:ext cx="1696258" cy="0"/>
          </a:xfrm>
          <a:prstGeom prst="line">
            <a:avLst/>
          </a:prstGeom>
          <a:noFill/>
          <a:ln w="20320">
            <a:solidFill>
              <a:srgbClr val="322014"/>
            </a:solidFill>
            <a:prstDash val="solid"/>
          </a:ln>
        </p:spPr>
        <p:txBody>
          <a:bodyPr>
            <a:noAutofit/>
          </a:bodyPr>
          <a:p/>
        </p:txBody>
      </p:sp>
      <p:sp>
        <p:nvSpPr>
          <p:cNvPr id="22" name="shape:022"/>
          <p:cNvSpPr/>
          <p:nvPr/>
        </p:nvSpPr>
        <p:spPr>
          <a:xfrm>
            <a:off x="530352" y="3044952"/>
            <a:ext cx="11130991" cy="832104"/>
          </a:xfrm>
          <a:prstGeom prst="rect">
            <a:avLst/>
          </a:prstGeom>
          <a:solidFill>
            <a:srgbClr val="EFEEE8"/>
          </a:solidFill>
          <a:ln/>
        </p:spPr>
        <p:txBody>
          <a:bodyPr>
            <a:noAutofit/>
          </a:bodyPr>
          <a:p/>
        </p:txBody>
      </p:sp>
      <p:sp>
        <p:nvSpPr>
          <p:cNvPr id="23" name="shape:023"/>
          <p:cNvSpPr/>
          <p:nvPr/>
        </p:nvSpPr>
        <p:spPr>
          <a:xfrm>
            <a:off x="576072" y="311810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24" name="shape:024"/>
          <p:cNvSpPr/>
          <p:nvPr/>
        </p:nvSpPr>
        <p:spPr>
          <a:xfrm>
            <a:off x="2063766" y="311810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5" name="shape:025"/>
          <p:cNvSpPr/>
          <p:nvPr/>
        </p:nvSpPr>
        <p:spPr>
          <a:xfrm>
            <a:off x="4986756" y="311810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6" name="shape:026"/>
          <p:cNvSpPr/>
          <p:nvPr/>
        </p:nvSpPr>
        <p:spPr>
          <a:xfrm>
            <a:off x="8170708" y="311810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7" name="shape:027"/>
          <p:cNvSpPr/>
          <p:nvPr/>
        </p:nvSpPr>
        <p:spPr>
          <a:xfrm>
            <a:off x="9919365" y="311810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28" name="shape:028"/>
          <p:cNvSpPr/>
          <p:nvPr/>
        </p:nvSpPr>
        <p:spPr>
          <a:xfrm>
            <a:off x="576072" y="3913632"/>
            <a:ext cx="11039551" cy="0"/>
          </a:xfrm>
          <a:prstGeom prst="line">
            <a:avLst/>
          </a:prstGeom>
          <a:noFill/>
          <a:ln w="6350">
            <a:solidFill>
              <a:srgbClr val="E2DCD2"/>
            </a:solidFill>
            <a:prstDash val="dash"/>
          </a:ln>
        </p:spPr>
        <p:txBody>
          <a:bodyPr>
            <a:noAutofit/>
          </a:bodyPr>
          <a:p/>
        </p:txBody>
      </p:sp>
      <p:sp>
        <p:nvSpPr>
          <p:cNvPr id="29" name="shape:029"/>
          <p:cNvSpPr/>
          <p:nvPr/>
        </p:nvSpPr>
        <p:spPr>
          <a:xfrm>
            <a:off x="576072" y="398678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30" name="shape:030"/>
          <p:cNvSpPr/>
          <p:nvPr/>
        </p:nvSpPr>
        <p:spPr>
          <a:xfrm>
            <a:off x="2063766" y="398678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1" name="shape:031"/>
          <p:cNvSpPr/>
          <p:nvPr/>
        </p:nvSpPr>
        <p:spPr>
          <a:xfrm>
            <a:off x="4986756" y="398678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2" name="shape:032"/>
          <p:cNvSpPr/>
          <p:nvPr/>
        </p:nvSpPr>
        <p:spPr>
          <a:xfrm>
            <a:off x="8170708" y="398678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3" name="shape:033"/>
          <p:cNvSpPr/>
          <p:nvPr/>
        </p:nvSpPr>
        <p:spPr>
          <a:xfrm>
            <a:off x="9919365" y="398678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4" name="shape:034"/>
          <p:cNvSpPr/>
          <p:nvPr/>
        </p:nvSpPr>
        <p:spPr>
          <a:xfrm>
            <a:off x="576072" y="4782312"/>
            <a:ext cx="11039551" cy="0"/>
          </a:xfrm>
          <a:prstGeom prst="line">
            <a:avLst/>
          </a:prstGeom>
          <a:noFill/>
          <a:ln w="6350">
            <a:solidFill>
              <a:srgbClr val="E2DCD2"/>
            </a:solidFill>
            <a:prstDash val="dash"/>
          </a:ln>
        </p:spPr>
        <p:txBody>
          <a:bodyPr>
            <a:noAutofit/>
          </a:bodyPr>
          <a:p/>
        </p:txBody>
      </p:sp>
      <p:sp>
        <p:nvSpPr>
          <p:cNvPr id="35" name="shape:035"/>
          <p:cNvSpPr/>
          <p:nvPr/>
        </p:nvSpPr>
        <p:spPr>
          <a:xfrm>
            <a:off x="576072" y="4855464"/>
            <a:ext cx="1304814" cy="758952"/>
          </a:xfrm>
          <a:prstGeom prst="rect">
            <a:avLst/>
          </a:prstGeom>
          <a:noFill/>
          <a:ln/>
        </p:spPr>
        <p:txBody>
          <a:bodyPr wrap="square" lIns="381" tIns="381" rIns="381" bIns="381" rtlCol="0" anchor="t">
            <a:noAutofit/>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値</a:t>
            </a:r>
            <a:endParaRPr lang="en-US" sz="1050" dirty="0"/>
          </a:p>
        </p:txBody>
      </p:sp>
      <p:sp>
        <p:nvSpPr>
          <p:cNvPr id="36" name="shape:036"/>
          <p:cNvSpPr/>
          <p:nvPr/>
        </p:nvSpPr>
        <p:spPr>
          <a:xfrm>
            <a:off x="2063766" y="4855464"/>
            <a:ext cx="2740110"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7" name="shape:037"/>
          <p:cNvSpPr/>
          <p:nvPr/>
        </p:nvSpPr>
        <p:spPr>
          <a:xfrm>
            <a:off x="4986756" y="4855464"/>
            <a:ext cx="3001072"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8" name="shape:038"/>
          <p:cNvSpPr/>
          <p:nvPr/>
        </p:nvSpPr>
        <p:spPr>
          <a:xfrm>
            <a:off x="8170708" y="4855464"/>
            <a:ext cx="1565777"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39" name="shape:039"/>
          <p:cNvSpPr/>
          <p:nvPr/>
        </p:nvSpPr>
        <p:spPr>
          <a:xfrm>
            <a:off x="9919365" y="4855464"/>
            <a:ext cx="1696258" cy="758952"/>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値</a:t>
            </a:r>
            <a:endParaRPr lang="en-US" sz="1050" dirty="0"/>
          </a:p>
        </p:txBody>
      </p:sp>
      <p:sp>
        <p:nvSpPr>
          <p:cNvPr id="40" name="shape:040"/>
          <p:cNvSpPr/>
          <p:nvPr/>
        </p:nvSpPr>
        <p:spPr>
          <a:xfrm>
            <a:off x="576072" y="5650992"/>
            <a:ext cx="11039551" cy="0"/>
          </a:xfrm>
          <a:prstGeom prst="line">
            <a:avLst/>
          </a:prstGeom>
          <a:noFill/>
          <a:ln w="6350">
            <a:solidFill>
              <a:srgbClr val="E2DCD2"/>
            </a:solidFill>
            <a:prstDash val="dash"/>
          </a:ln>
        </p:spPr>
        <p:txBody>
          <a:bodyPr>
            <a:noAutofit/>
          </a:bodyPr>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