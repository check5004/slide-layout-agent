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"kpi_dashboard",</a:t>
            </a:r>
          </a:p>
          <a:p>
            <a:r>
              <a:t>  "variant": "warm",</a:t>
            </a:r>
          </a:p>
          <a:p>
            <a:r>
              <a:t>  "rationale": "Public template fixture; short fictional slot content; no private data.",</a:t>
            </a:r>
          </a:p>
          <a:p>
            <a:r>
              <a:t>  "source_sha256": "5bb41700ce6a26113bc6e89f0901c88bb9874e5193d21c903443cf4618455162",</a:t>
            </a:r>
          </a:p>
          <a:p>
            <a:r>
              <a:t>  "evidence": [</a:t>
            </a:r>
          </a:p>
          <a:p>
            <a:r>
              <a:t>    {</a:t>
            </a:r>
          </a:p>
          <a:p>
            <a:r>
              <a:t>      "text": "KPI一覧",</a:t>
            </a:r>
          </a:p>
          <a:p>
            <a:r>
              <a:t>      "refs": [</a:t>
            </a:r>
          </a:p>
          <a:p>
            <a:r>
              <a:t>        {</a:t>
            </a:r>
          </a:p>
          <a:p>
            <a:r>
              <a:t>          "source_id": "s001",</a:t>
            </a:r>
          </a:p>
          <a:p>
            <a:r>
              <a:t>          "quote": "KPI一覧"</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"-18%",</a:t>
            </a:r>
          </a:p>
          <a:p>
            <a:r>
              <a:t>      "refs": [</a:t>
            </a:r>
          </a:p>
          <a:p>
            <a:r>
              <a:t>        {</a:t>
            </a:r>
          </a:p>
          <a:p>
            <a:r>
              <a:t>          "source_id": "s001",</a:t>
            </a:r>
          </a:p>
          <a:p>
            <a:r>
              <a:t>          "quote": "-18%"</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"注：前提や注記を記載",</a:t>
            </a:r>
          </a:p>
          <a:p>
            <a:r>
              <a:t>      "refs": [</a:t>
            </a:r>
          </a:p>
          <a:p>
            <a:r>
              <a:t>        {</a:t>
            </a:r>
          </a:p>
          <a:p>
            <a:r>
              <a:t>          "source_id": "s001",</a:t>
            </a:r>
          </a:p>
          <a:p>
            <a:r>
              <a:t>          "quote": "注：前提や注記を記載"</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"0 days",</a:t>
            </a:r>
          </a:p>
          <a:p>
            <a:r>
              <a:t>      "refs": [</a:t>
            </a:r>
          </a:p>
          <a:p>
            <a:r>
              <a:t>        {</a:t>
            </a:r>
          </a:p>
          <a:p>
            <a:r>
              <a:t>          "source_id": "s001",</a:t>
            </a:r>
          </a:p>
          <a:p>
            <a:r>
              <a:t>          "quote": "0 days"</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"注：前提や注記を記載",</a:t>
            </a:r>
          </a:p>
          <a:p>
            <a:r>
              <a:t>      "refs": [</a:t>
            </a:r>
          </a:p>
          <a:p>
            <a:r>
              <a:t>        {</a:t>
            </a:r>
          </a:p>
          <a:p>
            <a:r>
              <a:t>          "source_id": "s001",</a:t>
            </a:r>
          </a:p>
          <a:p>
            <a:r>
              <a:t>          "quote": "注：前提や注記を記載"</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"2 / 4",</a:t>
            </a:r>
          </a:p>
          <a:p>
            <a:r>
              <a:t>      "refs": [</a:t>
            </a:r>
          </a:p>
          <a:p>
            <a:r>
              <a:t>        {</a:t>
            </a:r>
          </a:p>
          <a:p>
            <a:r>
              <a:t>          "source_id": "s001",</a:t>
            </a:r>
          </a:p>
          <a:p>
            <a:r>
              <a:t>          "quote": "2 / 4"</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"注：前提や注記を記載",</a:t>
            </a:r>
          </a:p>
          <a:p>
            <a:r>
              <a:t>      "refs": [</a:t>
            </a:r>
          </a:p>
          <a:p>
            <a:r>
              <a:t>        {</a:t>
            </a:r>
          </a:p>
          <a:p>
            <a:r>
              <a:t>          "source_id": "s001",</a:t>
            </a:r>
          </a:p>
          <a:p>
            <a:r>
              <a:t>          "quote": "注：前提や注記を記載"</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"$6M",</a:t>
            </a:r>
          </a:p>
          <a:p>
            <a:r>
              <a:t>      "refs": [</a:t>
            </a:r>
          </a:p>
          <a:p>
            <a:r>
              <a:t>        {</a:t>
            </a:r>
          </a:p>
          <a:p>
            <a:r>
              <a:t>          "source_id": "s001",</a:t>
            </a:r>
          </a:p>
          <a:p>
            <a:r>
              <a:t>          "quote": "$6M"</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"注：前提や注記を記載",</a:t>
            </a:r>
          </a:p>
          <a:p>
            <a:r>
              <a:t>      "refs": [</a:t>
            </a:r>
          </a:p>
          <a:p>
            <a:r>
              <a:t>        {</a:t>
            </a:r>
          </a:p>
          <a:p>
            <a:r>
              <a:t>          "source_id": "s001",</a:t>
            </a:r>
          </a:p>
          <a:p>
            <a:r>
              <a:t>          "quote": "注：前提や注記を記載"</a:t>
            </a:r>
          </a:p>
          <a:p>
            <a:r>
              <a:t>        }</a:t>
            </a:r>
          </a:p>
          <a:p>
            <a:r>
              <a:t>      ],</a:t>
            </a:r>
          </a:p>
          <a:p>
            <a:r>
              <a:t>      "mode": "verbatim"</a:t>
            </a:r>
          </a:p>
          <a:p>
            <a:r>
              <a:t>    }</a:t>
            </a:r>
          </a:p>
          <a:p>
            <a:r>
              <a:t>  ],</a:t>
            </a:r>
          </a:p>
          <a:p>
            <a:r>
              <a:t>  "citations": {</a:t>
            </a:r>
          </a:p>
          <a:p>
            <a:r>
              <a:t>    "s001": "Public MIT sample: templates/freeform_parts_more_16x9.html section 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"1175648dc0faaf065e301b2839bef2c317682f0575f789cbd68dc1a8763e17a7"</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KPI一覧</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978087"/>
            <a:ext cx="2485568" cy="0"/>
          </a:xfrm>
          <a:prstGeom prst="line">
            <a:avLst/>
          </a:prstGeom>
          <a:noFill/>
          <a:ln w="25400">
            <a:solidFill>
              <a:srgbClr val="322014"/>
            </a:solidFill>
            <a:prstDash val="solid"/>
          </a:ln>
        </p:spPr>
        <p:txBody>
          <a:bodyPr>
            <a:noAutofit/>
          </a:bodyPr>
          <a:p/>
        </p:txBody>
      </p:sp>
      <p:sp>
        <p:nvSpPr>
          <p:cNvPr id="11" name="shape:011"/>
          <p:cNvSpPr/>
          <p:nvPr/>
        </p:nvSpPr>
        <p:spPr>
          <a:xfrm>
            <a:off x="576072"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項目1</a:t>
            </a:r>
            <a:endParaRPr lang="en-US" sz="1200" dirty="0"/>
          </a:p>
        </p:txBody>
      </p:sp>
      <p:sp>
        <p:nvSpPr>
          <p:cNvPr id="12" name="shape:012"/>
          <p:cNvSpPr/>
          <p:nvPr/>
        </p:nvSpPr>
        <p:spPr>
          <a:xfrm>
            <a:off x="576072"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-18%</a:t>
            </a:r>
            <a:endParaRPr lang="en-US" sz="3400" dirty="0"/>
          </a:p>
        </p:txBody>
      </p:sp>
      <p:sp>
        <p:nvSpPr>
          <p:cNvPr id="13" name="shape:013"/>
          <p:cNvSpPr/>
          <p:nvPr/>
        </p:nvSpPr>
        <p:spPr>
          <a:xfrm>
            <a:off x="576072"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記載例1</a:t>
            </a:r>
            <a:endParaRPr lang="en-US" sz="1300" dirty="0"/>
          </a:p>
        </p:txBody>
      </p:sp>
      <p:sp>
        <p:nvSpPr>
          <p:cNvPr id="14" name="shape:014"/>
          <p:cNvSpPr/>
          <p:nvPr/>
        </p:nvSpPr>
        <p:spPr>
          <a:xfrm>
            <a:off x="576072"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15" name="shape:015"/>
          <p:cNvSpPr/>
          <p:nvPr/>
        </p:nvSpPr>
        <p:spPr>
          <a:xfrm>
            <a:off x="3427400" y="2978087"/>
            <a:ext cx="2485568" cy="0"/>
          </a:xfrm>
          <a:prstGeom prst="line">
            <a:avLst/>
          </a:prstGeom>
          <a:noFill/>
          <a:ln w="25400">
            <a:solidFill>
              <a:srgbClr val="322014"/>
            </a:solidFill>
            <a:prstDash val="solid"/>
          </a:ln>
        </p:spPr>
        <p:txBody>
          <a:bodyPr>
            <a:noAutofit/>
          </a:bodyPr>
          <a:p/>
        </p:txBody>
      </p:sp>
      <p:sp>
        <p:nvSpPr>
          <p:cNvPr id="16" name="shape:016"/>
          <p:cNvSpPr/>
          <p:nvPr/>
        </p:nvSpPr>
        <p:spPr>
          <a:xfrm>
            <a:off x="3427400"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項目2</a:t>
            </a:r>
            <a:endParaRPr lang="en-US" sz="1200" dirty="0"/>
          </a:p>
        </p:txBody>
      </p:sp>
      <p:sp>
        <p:nvSpPr>
          <p:cNvPr id="17" name="shape:017"/>
          <p:cNvSpPr/>
          <p:nvPr/>
        </p:nvSpPr>
        <p:spPr>
          <a:xfrm>
            <a:off x="3427400"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0 days</a:t>
            </a:r>
            <a:endParaRPr lang="en-US" sz="3400" dirty="0"/>
          </a:p>
        </p:txBody>
      </p:sp>
      <p:sp>
        <p:nvSpPr>
          <p:cNvPr id="18" name="shape:018"/>
          <p:cNvSpPr/>
          <p:nvPr/>
        </p:nvSpPr>
        <p:spPr>
          <a:xfrm>
            <a:off x="3427400"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記載例2</a:t>
            </a:r>
            <a:endParaRPr lang="en-US" sz="1300" dirty="0"/>
          </a:p>
        </p:txBody>
      </p:sp>
      <p:sp>
        <p:nvSpPr>
          <p:cNvPr id="19" name="shape:019"/>
          <p:cNvSpPr/>
          <p:nvPr/>
        </p:nvSpPr>
        <p:spPr>
          <a:xfrm>
            <a:off x="3427400"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20" name="shape:020"/>
          <p:cNvSpPr/>
          <p:nvPr/>
        </p:nvSpPr>
        <p:spPr>
          <a:xfrm>
            <a:off x="6278728" y="2978087"/>
            <a:ext cx="2485568" cy="0"/>
          </a:xfrm>
          <a:prstGeom prst="line">
            <a:avLst/>
          </a:prstGeom>
          <a:noFill/>
          <a:ln w="25400">
            <a:solidFill>
              <a:srgbClr val="322014"/>
            </a:solidFill>
            <a:prstDash val="solid"/>
          </a:ln>
        </p:spPr>
        <p:txBody>
          <a:bodyPr>
            <a:noAutofit/>
          </a:bodyPr>
          <a:p/>
        </p:txBody>
      </p:sp>
      <p:sp>
        <p:nvSpPr>
          <p:cNvPr id="21" name="shape:021"/>
          <p:cNvSpPr/>
          <p:nvPr/>
        </p:nvSpPr>
        <p:spPr>
          <a:xfrm>
            <a:off x="6278728"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項目3</a:t>
            </a:r>
            <a:endParaRPr lang="en-US" sz="1200" dirty="0"/>
          </a:p>
        </p:txBody>
      </p:sp>
      <p:sp>
        <p:nvSpPr>
          <p:cNvPr id="22" name="shape:022"/>
          <p:cNvSpPr/>
          <p:nvPr/>
        </p:nvSpPr>
        <p:spPr>
          <a:xfrm>
            <a:off x="6278728"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2 / 4</a:t>
            </a:r>
            <a:endParaRPr lang="en-US" sz="3400" dirty="0"/>
          </a:p>
        </p:txBody>
      </p:sp>
      <p:sp>
        <p:nvSpPr>
          <p:cNvPr id="23" name="shape:023"/>
          <p:cNvSpPr/>
          <p:nvPr/>
        </p:nvSpPr>
        <p:spPr>
          <a:xfrm>
            <a:off x="6278728"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記載例3</a:t>
            </a:r>
            <a:endParaRPr lang="en-US" sz="1300" dirty="0"/>
          </a:p>
        </p:txBody>
      </p:sp>
      <p:sp>
        <p:nvSpPr>
          <p:cNvPr id="24" name="shape:024"/>
          <p:cNvSpPr/>
          <p:nvPr/>
        </p:nvSpPr>
        <p:spPr>
          <a:xfrm>
            <a:off x="6278728"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25" name="shape:025"/>
          <p:cNvSpPr/>
          <p:nvPr/>
        </p:nvSpPr>
        <p:spPr>
          <a:xfrm>
            <a:off x="9130055" y="2978087"/>
            <a:ext cx="2485568" cy="0"/>
          </a:xfrm>
          <a:prstGeom prst="line">
            <a:avLst/>
          </a:prstGeom>
          <a:noFill/>
          <a:ln w="25400">
            <a:solidFill>
              <a:srgbClr val="322014"/>
            </a:solidFill>
            <a:prstDash val="solid"/>
          </a:ln>
        </p:spPr>
        <p:txBody>
          <a:bodyPr>
            <a:noAutofit/>
          </a:bodyPr>
          <a:p/>
        </p:txBody>
      </p:sp>
      <p:sp>
        <p:nvSpPr>
          <p:cNvPr id="26" name="shape:026"/>
          <p:cNvSpPr/>
          <p:nvPr/>
        </p:nvSpPr>
        <p:spPr>
          <a:xfrm>
            <a:off x="9130055"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項目4</a:t>
            </a:r>
            <a:endParaRPr lang="en-US" sz="1200" dirty="0"/>
          </a:p>
        </p:txBody>
      </p:sp>
      <p:sp>
        <p:nvSpPr>
          <p:cNvPr id="27" name="shape:027"/>
          <p:cNvSpPr/>
          <p:nvPr/>
        </p:nvSpPr>
        <p:spPr>
          <a:xfrm>
            <a:off x="9130055"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$6M</a:t>
            </a:r>
            <a:endParaRPr lang="en-US" sz="3400" dirty="0"/>
          </a:p>
        </p:txBody>
      </p:sp>
      <p:sp>
        <p:nvSpPr>
          <p:cNvPr id="28" name="shape:028"/>
          <p:cNvSpPr/>
          <p:nvPr/>
        </p:nvSpPr>
        <p:spPr>
          <a:xfrm>
            <a:off x="9130055"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記載例4</a:t>
            </a:r>
            <a:endParaRPr lang="en-US" sz="1300" dirty="0"/>
          </a:p>
        </p:txBody>
      </p:sp>
      <p:sp>
        <p:nvSpPr>
          <p:cNvPr id="29" name="shape:029"/>
          <p:cNvSpPr/>
          <p:nvPr/>
        </p:nvSpPr>
        <p:spPr>
          <a:xfrm>
            <a:off x="9130055"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