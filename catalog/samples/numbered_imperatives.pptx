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"numbered_imperatives",</a:t>
            </a:r>
          </a:p>
          <a:p>
            <a:r>
              <a:t>  "variant": "warm",</a:t>
            </a:r>
          </a:p>
          <a:p>
            <a:r>
              <a:t>  "rationale": "Public template fixture; short fictional slot content; no private data.",</a:t>
            </a:r>
          </a:p>
          <a:p>
            <a:r>
              <a:t>  "source_sha256": "6fd6c3f8f5731286553711818e0d4836cbe8e690d3895aabd2177d1aa65f807d",</a:t>
            </a:r>
          </a:p>
          <a:p>
            <a:r>
              <a:t>  "evidence": [</a:t>
            </a:r>
          </a:p>
          <a:p>
            <a:r>
              <a:t>    {</a:t>
            </a:r>
          </a:p>
          <a:p>
            <a:r>
              <a:t>      "text": "番号つき打ち手",</a:t>
            </a:r>
          </a:p>
          <a:p>
            <a:r>
              <a:t>      "refs": [</a:t>
            </a:r>
          </a:p>
          <a:p>
            <a:r>
              <a:t>        {</a:t>
            </a:r>
          </a:p>
          <a:p>
            <a:r>
              <a:t>          "source_id": "s001",</a:t>
            </a:r>
          </a:p>
          <a:p>
            <a:r>
              <a:t>          "quote": "番号つき打ち手"</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"指標名、単位、2026〜2026年",</a:t>
            </a:r>
          </a:p>
          <a:p>
            <a:r>
              <a:t>      "refs": [</a:t>
            </a:r>
          </a:p>
          <a:p>
            <a:r>
              <a:t>        {</a:t>
            </a:r>
          </a:p>
          <a:p>
            <a:r>
              <a:t>          "source_id": "s001",</a:t>
            </a:r>
          </a:p>
          <a:p>
            <a:r>
              <a:t>          "quote": "指標名、単位、2026〜2026年"</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"4",</a:t>
            </a:r>
          </a:p>
          <a:p>
            <a:r>
              <a:t>      "refs": [</a:t>
            </a:r>
          </a:p>
          <a:p>
            <a:r>
              <a:t>        {</a:t>
            </a:r>
          </a:p>
          <a:p>
            <a:r>
              <a:t>          "source_id": "s001",</a:t>
            </a:r>
          </a:p>
          <a:p>
            <a:r>
              <a:t>          "quote": "4"</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"5",</a:t>
            </a:r>
          </a:p>
          <a:p>
            <a:r>
              <a:t>      "refs": [</a:t>
            </a:r>
          </a:p>
          <a:p>
            <a:r>
              <a:t>        {</a:t>
            </a:r>
          </a:p>
          <a:p>
            <a:r>
              <a:t>          "source_id": "s001",</a:t>
            </a:r>
          </a:p>
          <a:p>
            <a:r>
              <a:t>          "quote": "5"</a:t>
            </a:r>
          </a:p>
          <a:p>
            <a:r>
              <a:t>        }</a:t>
            </a:r>
          </a:p>
          <a:p>
            <a:r>
              <a:t>      ],</a:t>
            </a:r>
          </a:p>
          <a:p>
            <a:r>
              <a:t>      "mode": "verbatim"</a:t>
            </a:r>
          </a:p>
          <a:p>
            <a:r>
              <a:t>    },</a:t>
            </a:r>
          </a:p>
          <a:p>
            <a:r>
              <a:t>    {</a:t>
            </a:r>
          </a:p>
          <a:p>
            <a:r>
              <a:t>      "text": "見出し 6",</a:t>
            </a:r>
          </a:p>
          <a:p>
            <a:r>
              <a:t>      "refs": [</a:t>
            </a:r>
          </a:p>
          <a:p>
            <a:r>
              <a:t>        {</a:t>
            </a:r>
          </a:p>
          <a:p>
            <a:r>
              <a:t>          "source_id": "s001",</a:t>
            </a:r>
          </a:p>
          <a:p>
            <a:r>
              <a:t>          "quote": "見出し 6"</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"citations": {</a:t>
            </a:r>
          </a:p>
          <a:p>
            <a:r>
              <a:t>    "s001": "Public MIT sample: templates/freeform_parts_more_16x9.html section 21"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"7438a1ad7af87da2659416d98c40021da20c8cc2645a0575a9a99d47350f8172"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番号つき打ち手</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791206"/>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指標名、単位、2026〜2026年</a:t>
            </a:r>
            <a:endParaRPr lang="en-US" sz="1250" dirty="0"/>
          </a:p>
        </p:txBody>
      </p:sp>
      <p:sp>
        <p:nvSpPr>
          <p:cNvPr id="11" name="shape:011"/>
          <p:cNvSpPr/>
          <p:nvPr/>
        </p:nvSpPr>
        <p:spPr>
          <a:xfrm>
            <a:off x="576072"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1</a:t>
            </a:r>
            <a:endParaRPr lang="en-US" sz="3000" dirty="0"/>
          </a:p>
        </p:txBody>
      </p:sp>
      <p:sp>
        <p:nvSpPr>
          <p:cNvPr id="12" name="shape:012"/>
          <p:cNvSpPr/>
          <p:nvPr/>
        </p:nvSpPr>
        <p:spPr>
          <a:xfrm>
            <a:off x="576072" y="3943350"/>
            <a:ext cx="1915302" cy="0"/>
          </a:xfrm>
          <a:prstGeom prst="line">
            <a:avLst/>
          </a:prstGeom>
          <a:noFill/>
          <a:ln w="12700">
            <a:solidFill>
              <a:srgbClr val="322014"/>
            </a:solidFill>
            <a:prstDash val="solid"/>
          </a:ln>
        </p:spPr>
        <p:txBody>
          <a:bodyPr>
            <a:noAutofit/>
          </a:bodyPr>
          <a:p/>
        </p:txBody>
      </p:sp>
      <p:sp>
        <p:nvSpPr>
          <p:cNvPr id="13" name="shape:013"/>
          <p:cNvSpPr/>
          <p:nvPr/>
        </p:nvSpPr>
        <p:spPr>
          <a:xfrm>
            <a:off x="576072"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14" name="shape:014"/>
          <p:cNvSpPr/>
          <p:nvPr/>
        </p:nvSpPr>
        <p:spPr>
          <a:xfrm>
            <a:off x="576072"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記載例1</a:t>
            </a:r>
            <a:endParaRPr lang="en-US" sz="1200" dirty="0"/>
          </a:p>
        </p:txBody>
      </p:sp>
      <p:sp>
        <p:nvSpPr>
          <p:cNvPr id="15" name="shape:015"/>
          <p:cNvSpPr/>
          <p:nvPr/>
        </p:nvSpPr>
        <p:spPr>
          <a:xfrm>
            <a:off x="2857134"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2</a:t>
            </a:r>
            <a:endParaRPr lang="en-US" sz="3000" dirty="0"/>
          </a:p>
        </p:txBody>
      </p:sp>
      <p:sp>
        <p:nvSpPr>
          <p:cNvPr id="16" name="shape:016"/>
          <p:cNvSpPr/>
          <p:nvPr/>
        </p:nvSpPr>
        <p:spPr>
          <a:xfrm>
            <a:off x="2857134" y="3943350"/>
            <a:ext cx="1915302" cy="0"/>
          </a:xfrm>
          <a:prstGeom prst="line">
            <a:avLst/>
          </a:prstGeom>
          <a:noFill/>
          <a:ln w="12700">
            <a:solidFill>
              <a:srgbClr val="322014"/>
            </a:solidFill>
            <a:prstDash val="solid"/>
          </a:ln>
        </p:spPr>
        <p:txBody>
          <a:bodyPr>
            <a:noAutofit/>
          </a:bodyPr>
          <a:p/>
        </p:txBody>
      </p:sp>
      <p:sp>
        <p:nvSpPr>
          <p:cNvPr id="17" name="shape:017"/>
          <p:cNvSpPr/>
          <p:nvPr/>
        </p:nvSpPr>
        <p:spPr>
          <a:xfrm>
            <a:off x="2857134"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3</a:t>
            </a:r>
            <a:endParaRPr lang="en-US" sz="1500" dirty="0"/>
          </a:p>
        </p:txBody>
      </p:sp>
      <p:sp>
        <p:nvSpPr>
          <p:cNvPr id="18" name="shape:018"/>
          <p:cNvSpPr/>
          <p:nvPr/>
        </p:nvSpPr>
        <p:spPr>
          <a:xfrm>
            <a:off x="2857134"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記載例2</a:t>
            </a:r>
            <a:endParaRPr lang="en-US" sz="1200" dirty="0"/>
          </a:p>
        </p:txBody>
      </p:sp>
      <p:sp>
        <p:nvSpPr>
          <p:cNvPr id="19" name="shape:019"/>
          <p:cNvSpPr/>
          <p:nvPr/>
        </p:nvSpPr>
        <p:spPr>
          <a:xfrm>
            <a:off x="5138196"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3</a:t>
            </a:r>
            <a:endParaRPr lang="en-US" sz="3000" dirty="0"/>
          </a:p>
        </p:txBody>
      </p:sp>
      <p:sp>
        <p:nvSpPr>
          <p:cNvPr id="20" name="shape:020"/>
          <p:cNvSpPr/>
          <p:nvPr/>
        </p:nvSpPr>
        <p:spPr>
          <a:xfrm>
            <a:off x="5138196" y="3943350"/>
            <a:ext cx="1915302" cy="0"/>
          </a:xfrm>
          <a:prstGeom prst="line">
            <a:avLst/>
          </a:prstGeom>
          <a:noFill/>
          <a:ln w="12700">
            <a:solidFill>
              <a:srgbClr val="322014"/>
            </a:solidFill>
            <a:prstDash val="solid"/>
          </a:ln>
        </p:spPr>
        <p:txBody>
          <a:bodyPr>
            <a:noAutofit/>
          </a:bodyPr>
          <a:p/>
        </p:txBody>
      </p:sp>
      <p:sp>
        <p:nvSpPr>
          <p:cNvPr id="21" name="shape:021"/>
          <p:cNvSpPr/>
          <p:nvPr/>
        </p:nvSpPr>
        <p:spPr>
          <a:xfrm>
            <a:off x="5138196"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4</a:t>
            </a:r>
            <a:endParaRPr lang="en-US" sz="1500" dirty="0"/>
          </a:p>
        </p:txBody>
      </p:sp>
      <p:sp>
        <p:nvSpPr>
          <p:cNvPr id="22" name="shape:022"/>
          <p:cNvSpPr/>
          <p:nvPr/>
        </p:nvSpPr>
        <p:spPr>
          <a:xfrm>
            <a:off x="5138196"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記載例3</a:t>
            </a:r>
            <a:endParaRPr lang="en-US" sz="1200" dirty="0"/>
          </a:p>
        </p:txBody>
      </p:sp>
      <p:sp>
        <p:nvSpPr>
          <p:cNvPr id="23" name="shape:023"/>
          <p:cNvSpPr/>
          <p:nvPr/>
        </p:nvSpPr>
        <p:spPr>
          <a:xfrm>
            <a:off x="7419259"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4</a:t>
            </a:r>
            <a:endParaRPr lang="en-US" sz="3000" dirty="0"/>
          </a:p>
        </p:txBody>
      </p:sp>
      <p:sp>
        <p:nvSpPr>
          <p:cNvPr id="24" name="shape:024"/>
          <p:cNvSpPr/>
          <p:nvPr/>
        </p:nvSpPr>
        <p:spPr>
          <a:xfrm>
            <a:off x="7419259" y="3943350"/>
            <a:ext cx="1915302" cy="0"/>
          </a:xfrm>
          <a:prstGeom prst="line">
            <a:avLst/>
          </a:prstGeom>
          <a:noFill/>
          <a:ln w="12700">
            <a:solidFill>
              <a:srgbClr val="322014"/>
            </a:solidFill>
            <a:prstDash val="solid"/>
          </a:ln>
        </p:spPr>
        <p:txBody>
          <a:bodyPr>
            <a:noAutofit/>
          </a:bodyPr>
          <a:p/>
        </p:txBody>
      </p:sp>
      <p:sp>
        <p:nvSpPr>
          <p:cNvPr id="25" name="shape:025"/>
          <p:cNvSpPr/>
          <p:nvPr/>
        </p:nvSpPr>
        <p:spPr>
          <a:xfrm>
            <a:off x="7419259"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5</a:t>
            </a:r>
            <a:endParaRPr lang="en-US" sz="1500" dirty="0"/>
          </a:p>
        </p:txBody>
      </p:sp>
      <p:sp>
        <p:nvSpPr>
          <p:cNvPr id="26" name="shape:026"/>
          <p:cNvSpPr/>
          <p:nvPr/>
        </p:nvSpPr>
        <p:spPr>
          <a:xfrm>
            <a:off x="7419259"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記載例4</a:t>
            </a:r>
            <a:endParaRPr lang="en-US" sz="1200" dirty="0"/>
          </a:p>
        </p:txBody>
      </p:sp>
      <p:sp>
        <p:nvSpPr>
          <p:cNvPr id="27" name="shape:027"/>
          <p:cNvSpPr/>
          <p:nvPr/>
        </p:nvSpPr>
        <p:spPr>
          <a:xfrm>
            <a:off x="9700321" y="3376422"/>
            <a:ext cx="1915302" cy="502920"/>
          </a:xfrm>
          <a:prstGeom prst="rect">
            <a:avLst/>
          </a:prstGeom>
          <a:noFill/>
          <a:ln/>
        </p:spPr>
        <p:txBody>
          <a:bodyPr wrap="square" lIns="381" tIns="381" rIns="381" bIns="381" rtlCol="0" anchor="t">
            <a:noAutofit/>
          </a:bodyPr>
          <a:lstStyle/>
          <a:p>
            <a:pPr algn="l" indent="0" marL="0">
              <a:buNone/>
            </a:pPr>
            <a:r>
              <a:rPr lang="en-US" sz="3000" b="1" dirty="0">
                <a:solidFill>
                  <a:srgbClr val="5A3921"/>
                </a:solidFill>
                <a:latin typeface="Yu Gothic" pitchFamily="34" charset="0"/>
                <a:ea typeface="Yu Gothic" pitchFamily="34" charset="-122"/>
                <a:cs typeface="Yu Gothic" pitchFamily="34" charset="-120"/>
              </a:rPr>
              <a:t>5</a:t>
            </a:r>
            <a:endParaRPr lang="en-US" sz="3000" dirty="0"/>
          </a:p>
        </p:txBody>
      </p:sp>
      <p:sp>
        <p:nvSpPr>
          <p:cNvPr id="28" name="shape:028"/>
          <p:cNvSpPr/>
          <p:nvPr/>
        </p:nvSpPr>
        <p:spPr>
          <a:xfrm>
            <a:off x="9700321" y="3943350"/>
            <a:ext cx="1915302" cy="0"/>
          </a:xfrm>
          <a:prstGeom prst="line">
            <a:avLst/>
          </a:prstGeom>
          <a:noFill/>
          <a:ln w="12700">
            <a:solidFill>
              <a:srgbClr val="322014"/>
            </a:solidFill>
            <a:prstDash val="solid"/>
          </a:ln>
        </p:spPr>
        <p:txBody>
          <a:bodyPr>
            <a:noAutofit/>
          </a:bodyPr>
          <a:p/>
        </p:txBody>
      </p:sp>
      <p:sp>
        <p:nvSpPr>
          <p:cNvPr id="29" name="shape:029"/>
          <p:cNvSpPr/>
          <p:nvPr/>
        </p:nvSpPr>
        <p:spPr>
          <a:xfrm>
            <a:off x="9700321" y="4053078"/>
            <a:ext cx="1915302" cy="54864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6</a:t>
            </a:r>
            <a:endParaRPr lang="en-US" sz="1500" dirty="0"/>
          </a:p>
        </p:txBody>
      </p:sp>
      <p:sp>
        <p:nvSpPr>
          <p:cNvPr id="30" name="shape:030"/>
          <p:cNvSpPr/>
          <p:nvPr/>
        </p:nvSpPr>
        <p:spPr>
          <a:xfrm>
            <a:off x="9700321" y="4656582"/>
            <a:ext cx="1915302" cy="2194560"/>
          </a:xfrm>
          <a:prstGeom prst="rect">
            <a:avLst/>
          </a:prstGeom>
          <a:noFill/>
          <a:ln/>
        </p:spPr>
        <p:txBody>
          <a:bodyPr wrap="square" lIns="381" tIns="381" rIns="381" bIns="381" rtlCol="0" anchor="t">
            <a:noAutofit/>
          </a:bodyPr>
          <a:lstStyle/>
          <a:p>
            <a:pPr algn="l" indent="0" marL="0">
              <a:buNone/>
            </a:pPr>
            <a:r>
              <a:rPr lang="en-US" sz="1200" dirty="0">
                <a:solidFill>
                  <a:srgbClr val="8A7B6B"/>
                </a:solidFill>
                <a:latin typeface="Yu Gothic" pitchFamily="34" charset="0"/>
                <a:ea typeface="Yu Gothic" pitchFamily="34" charset="-122"/>
                <a:cs typeface="Yu Gothic" pitchFamily="34" charset="-120"/>
              </a:rPr>
              <a:t>記載例5</a:t>
            </a:r>
            <a:endParaRPr lang="en-US" sz="1200" dirty="0"/>
          </a:p>
        </p:txBody>
      </p:sp>
      <p:sp>
        <p:nvSpPr>
          <p:cNvPr id="3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