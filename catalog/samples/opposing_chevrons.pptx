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"opposing_chevrons",</a:t>
            </a:r>
          </a:p>
          <a:p>
            <a:r>
              <a:t>  "variant": "warm",</a:t>
            </a:r>
          </a:p>
          <a:p>
            <a:r>
              <a:t>  "rationale": "Public template fixture; short fictional slot content; no private data.",</a:t>
            </a:r>
          </a:p>
          <a:p>
            <a:r>
              <a:t>  "source_sha256": "7b302689231c75f8d9064bbe598ceca7650880a5a1f0526b821b6359722294f3",</a:t>
            </a:r>
          </a:p>
          <a:p>
            <a:r>
              <a:t>  "evidence": [</a:t>
            </a:r>
          </a:p>
          <a:p>
            <a:r>
              <a:t>    {</a:t>
            </a:r>
          </a:p>
          <a:p>
            <a:r>
              <a:t>      "text": "対向シェブロン",</a:t>
            </a:r>
          </a:p>
          <a:p>
            <a:r>
              <a:t>      "refs": [</a:t>
            </a:r>
          </a:p>
          <a:p>
            <a:r>
              <a:t>        {</a:t>
            </a:r>
          </a:p>
          <a:p>
            <a:r>
              <a:t>          "source_id": "s001",</a:t>
            </a:r>
          </a:p>
          <a:p>
            <a:r>
              <a:t>          "quote": "対向シェブロン"</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"text": "記載例7",</a:t>
            </a:r>
          </a:p>
          <a:p>
            <a:r>
              <a:t>      "refs": [</a:t>
            </a:r>
          </a:p>
          <a:p>
            <a:r>
              <a:t>        {</a:t>
            </a:r>
          </a:p>
          <a:p>
            <a:r>
              <a:t>          "source_id": "s001",</a:t>
            </a:r>
          </a:p>
          <a:p>
            <a:r>
              <a:t>          "quote": "記載例7"</a:t>
            </a:r>
          </a:p>
          <a:p>
            <a:r>
              <a:t>        }</a:t>
            </a:r>
          </a:p>
          <a:p>
            <a:r>
              <a:t>      ],</a:t>
            </a:r>
          </a:p>
          <a:p>
            <a:r>
              <a:t>      "mode": "verbatim"</a:t>
            </a:r>
          </a:p>
          <a:p>
            <a:r>
              <a:t>    },</a:t>
            </a:r>
          </a:p>
          <a:p>
            <a:r>
              <a:t>    {</a:t>
            </a:r>
          </a:p>
          <a:p>
            <a:r>
              <a:t>      "text": "記載例8",</a:t>
            </a:r>
          </a:p>
          <a:p>
            <a:r>
              <a:t>      "refs": [</a:t>
            </a:r>
          </a:p>
          <a:p>
            <a:r>
              <a:t>        {</a:t>
            </a:r>
          </a:p>
          <a:p>
            <a:r>
              <a:t>          "source_id": "s001",</a:t>
            </a:r>
          </a:p>
          <a:p>
            <a:r>
              <a:t>          "quote": "記載例8"</a:t>
            </a:r>
          </a:p>
          <a:p>
            <a:r>
              <a:t>        }</a:t>
            </a:r>
          </a:p>
          <a:p>
            <a:r>
              <a:t>      ],</a:t>
            </a:r>
          </a:p>
          <a:p>
            <a:r>
              <a:t>      "mode": "verbatim"</a:t>
            </a:r>
          </a:p>
          <a:p>
            <a:r>
              <a:t>    },</a:t>
            </a:r>
          </a:p>
          <a:p>
            <a:r>
              <a:t>    {</a:t>
            </a:r>
          </a:p>
          <a:p>
            <a:r>
              <a:t>      "text": "収益を\n拡大する",</a:t>
            </a:r>
          </a:p>
          <a:p>
            <a:r>
              <a:t>      "refs": [</a:t>
            </a:r>
          </a:p>
          <a:p>
            <a:r>
              <a:t>        {</a:t>
            </a:r>
          </a:p>
          <a:p>
            <a:r>
              <a:t>          "source_id": "s001",</a:t>
            </a:r>
          </a:p>
          <a:p>
            <a:r>
              <a:t>          "quote": "収益を\n拡大する"</a:t>
            </a:r>
          </a:p>
          <a:p>
            <a:r>
              <a:t>        }</a:t>
            </a:r>
          </a:p>
          <a:p>
            <a:r>
              <a:t>      ],</a:t>
            </a:r>
          </a:p>
          <a:p>
            <a:r>
              <a:t>      "mode": "verbatim"</a:t>
            </a:r>
          </a:p>
          <a:p>
            <a:r>
              <a:t>    },</a:t>
            </a:r>
          </a:p>
          <a:p>
            <a:r>
              <a:t>    {</a:t>
            </a:r>
          </a:p>
          <a:p>
            <a:r>
              <a:t>      "text": "損失を\n抑える",</a:t>
            </a:r>
          </a:p>
          <a:p>
            <a:r>
              <a:t>      "refs": [</a:t>
            </a:r>
          </a:p>
          <a:p>
            <a:r>
              <a:t>        {</a:t>
            </a:r>
          </a:p>
          <a:p>
            <a:r>
              <a:t>          "source_id": "s001",</a:t>
            </a:r>
          </a:p>
          <a:p>
            <a:r>
              <a:t>          "quote": "損失を\n抑える"</a:t>
            </a:r>
          </a:p>
          <a:p>
            <a:r>
              <a:t>        }</a:t>
            </a:r>
          </a:p>
          <a:p>
            <a:r>
              <a:t>      ],</a:t>
            </a:r>
          </a:p>
          <a:p>
            <a:r>
              <a:t>      "mode": "verbatim"</a:t>
            </a:r>
          </a:p>
          <a:p>
            <a:r>
              <a:t>    }</a:t>
            </a:r>
          </a:p>
          <a:p>
            <a:r>
              <a:t>  ],</a:t>
            </a:r>
          </a:p>
          <a:p>
            <a:r>
              <a:t>  "citations": {</a:t>
            </a:r>
          </a:p>
          <a:p>
            <a:r>
              <a:t>    "s001": "Public MIT sample: templates/freeform_parts_16x9.html section 20"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"8a9bbb1708de1ce2d40c86e5884d4081385fc70048f87e4a0de1559cab5c013f"</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対向シェブロン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644768"/>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p:txBody>
      </p:sp>
      <p:sp>
        <p:nvSpPr>
          <p:cNvPr id="11" name="shape:011"/>
          <p:cNvSpPr/>
          <p:nvPr/>
        </p:nvSpPr>
        <p:spPr>
          <a:xfrm>
            <a:off x="576072" y="2722626"/>
            <a:ext cx="4475776" cy="0"/>
          </a:xfrm>
          <a:prstGeom prst="line">
            <a:avLst/>
          </a:prstGeom>
          <a:noFill/>
          <a:ln w="9525">
            <a:solidFill>
              <a:srgbClr val="E2DCD2"/>
            </a:solidFill>
            <a:prstDash val="solid"/>
          </a:ln>
        </p:spPr>
        <p:txBody>
          <a:bodyPr>
            <a:noAutofit/>
          </a:bodyPr>
          <a:p/>
        </p:txBody>
      </p:sp>
      <p:sp>
        <p:nvSpPr>
          <p:cNvPr id="12" name="shape:012"/>
          <p:cNvSpPr/>
          <p:nvPr/>
        </p:nvSpPr>
        <p:spPr>
          <a:xfrm>
            <a:off x="576072" y="2794626"/>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p:txBody>
      </p:sp>
      <p:sp>
        <p:nvSpPr>
          <p:cNvPr id="13" name="shape:013"/>
          <p:cNvSpPr/>
          <p:nvPr/>
        </p:nvSpPr>
        <p:spPr>
          <a:xfrm>
            <a:off x="576072" y="3872484"/>
            <a:ext cx="4475776" cy="0"/>
          </a:xfrm>
          <a:prstGeom prst="line">
            <a:avLst/>
          </a:prstGeom>
          <a:noFill/>
          <a:ln w="9525">
            <a:solidFill>
              <a:srgbClr val="E2DCD2"/>
            </a:solidFill>
            <a:prstDash val="solid"/>
          </a:ln>
        </p:spPr>
        <p:txBody>
          <a:bodyPr>
            <a:noAutofit/>
          </a:bodyPr>
          <a:p/>
        </p:txBody>
      </p:sp>
      <p:sp>
        <p:nvSpPr>
          <p:cNvPr id="14" name="shape:014"/>
          <p:cNvSpPr/>
          <p:nvPr/>
        </p:nvSpPr>
        <p:spPr>
          <a:xfrm>
            <a:off x="576072" y="3944484"/>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15" name="shape:015"/>
          <p:cNvSpPr/>
          <p:nvPr/>
        </p:nvSpPr>
        <p:spPr>
          <a:xfrm>
            <a:off x="576072" y="5022342"/>
            <a:ext cx="4475776" cy="0"/>
          </a:xfrm>
          <a:prstGeom prst="line">
            <a:avLst/>
          </a:prstGeom>
          <a:noFill/>
          <a:ln w="9525">
            <a:solidFill>
              <a:srgbClr val="E2DCD2"/>
            </a:solidFill>
            <a:prstDash val="solid"/>
          </a:ln>
        </p:spPr>
        <p:txBody>
          <a:bodyPr>
            <a:noAutofit/>
          </a:bodyPr>
          <a:p/>
        </p:txBody>
      </p:sp>
      <p:sp>
        <p:nvSpPr>
          <p:cNvPr id="16" name="shape:016"/>
          <p:cNvSpPr/>
          <p:nvPr/>
        </p:nvSpPr>
        <p:spPr>
          <a:xfrm>
            <a:off x="576072" y="5094342"/>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p:txBody>
      </p:sp>
      <p:sp>
        <p:nvSpPr>
          <p:cNvPr id="17" name="shape:017"/>
          <p:cNvSpPr/>
          <p:nvPr/>
        </p:nvSpPr>
        <p:spPr>
          <a:xfrm>
            <a:off x="7139848" y="1644768"/>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p:txBody>
      </p:sp>
      <p:sp>
        <p:nvSpPr>
          <p:cNvPr id="18" name="shape:018"/>
          <p:cNvSpPr/>
          <p:nvPr/>
        </p:nvSpPr>
        <p:spPr>
          <a:xfrm>
            <a:off x="7139848" y="2722626"/>
            <a:ext cx="4475776" cy="0"/>
          </a:xfrm>
          <a:prstGeom prst="line">
            <a:avLst/>
          </a:prstGeom>
          <a:noFill/>
          <a:ln w="9525">
            <a:solidFill>
              <a:srgbClr val="E2DCD2"/>
            </a:solidFill>
            <a:prstDash val="solid"/>
          </a:ln>
        </p:spPr>
        <p:txBody>
          <a:bodyPr>
            <a:noAutofit/>
          </a:bodyPr>
          <a:p/>
        </p:txBody>
      </p:sp>
      <p:sp>
        <p:nvSpPr>
          <p:cNvPr id="19" name="shape:019"/>
          <p:cNvSpPr/>
          <p:nvPr/>
        </p:nvSpPr>
        <p:spPr>
          <a:xfrm>
            <a:off x="7139848" y="2794626"/>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20" name="shape:020"/>
          <p:cNvSpPr/>
          <p:nvPr/>
        </p:nvSpPr>
        <p:spPr>
          <a:xfrm>
            <a:off x="7139848" y="3872484"/>
            <a:ext cx="4475776" cy="0"/>
          </a:xfrm>
          <a:prstGeom prst="line">
            <a:avLst/>
          </a:prstGeom>
          <a:noFill/>
          <a:ln w="9525">
            <a:solidFill>
              <a:srgbClr val="E2DCD2"/>
            </a:solidFill>
            <a:prstDash val="solid"/>
          </a:ln>
        </p:spPr>
        <p:txBody>
          <a:bodyPr>
            <a:noAutofit/>
          </a:bodyPr>
          <a:p/>
        </p:txBody>
      </p:sp>
      <p:sp>
        <p:nvSpPr>
          <p:cNvPr id="21" name="shape:021"/>
          <p:cNvSpPr/>
          <p:nvPr/>
        </p:nvSpPr>
        <p:spPr>
          <a:xfrm>
            <a:off x="7139848" y="3944484"/>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記載例7</a:t>
            </a:r>
            <a:endParaRPr lang="en-US" sz="1000" dirty="0"/>
          </a:p>
        </p:txBody>
      </p:sp>
      <p:sp>
        <p:nvSpPr>
          <p:cNvPr id="22" name="shape:022"/>
          <p:cNvSpPr/>
          <p:nvPr/>
        </p:nvSpPr>
        <p:spPr>
          <a:xfrm>
            <a:off x="7139848" y="5022342"/>
            <a:ext cx="4475776" cy="0"/>
          </a:xfrm>
          <a:prstGeom prst="line">
            <a:avLst/>
          </a:prstGeom>
          <a:noFill/>
          <a:ln w="9525">
            <a:solidFill>
              <a:srgbClr val="E2DCD2"/>
            </a:solidFill>
            <a:prstDash val="solid"/>
          </a:ln>
        </p:spPr>
        <p:txBody>
          <a:bodyPr>
            <a:noAutofit/>
          </a:bodyPr>
          <a:p/>
        </p:txBody>
      </p:sp>
      <p:sp>
        <p:nvSpPr>
          <p:cNvPr id="23" name="shape:023"/>
          <p:cNvSpPr/>
          <p:nvPr/>
        </p:nvSpPr>
        <p:spPr>
          <a:xfrm>
            <a:off x="7139848" y="5094342"/>
            <a:ext cx="4475776" cy="1005858"/>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記載例8</a:t>
            </a:r>
            <a:endParaRPr lang="en-US" sz="1000" dirty="0"/>
          </a:p>
        </p:txBody>
      </p:sp>
      <p:sp>
        <p:nvSpPr>
          <p:cNvPr id="24" name="shape:024"/>
          <p:cNvSpPr/>
          <p:nvPr/>
        </p:nvSpPr>
        <p:spPr>
          <a:xfrm>
            <a:off x="5267848" y="2725984"/>
            <a:ext cx="1656000" cy="1092500"/>
          </a:xfrm>
          <a:custGeom>
            <a:avLst/>
            <a:gdLst/>
            <a:ahLst/>
            <a:cxnLst/>
            <a:rect l="l" t="t" r="r" b="b"/>
            <a:pathLst>
              <a:path w="1656000" h="1092500">
                <a:moveTo>
                  <a:pt x="0" y="0"/>
                </a:moveTo>
                <a:lnTo>
                  <a:pt x="1656000" y="0"/>
                </a:lnTo>
                <a:lnTo>
                  <a:pt x="1656000" y="852150"/>
                </a:lnTo>
                <a:lnTo>
                  <a:pt x="828000" y="1092500"/>
                </a:lnTo>
                <a:lnTo>
                  <a:pt x="0" y="852150"/>
                </a:lnTo>
                <a:close/>
              </a:path>
            </a:pathLst>
          </a:custGeom>
          <a:solidFill>
            <a:srgbClr val="322014"/>
          </a:solidFill>
          <a:ln/>
        </p:spPr>
        <p:txBody>
          <a:bodyPr>
            <a:noAutofit/>
          </a:bodyPr>
          <a:p/>
        </p:txBody>
      </p:sp>
      <p:sp>
        <p:nvSpPr>
          <p:cNvPr id="25" name="shape:025"/>
          <p:cNvSpPr/>
          <p:nvPr/>
        </p:nvSpPr>
        <p:spPr>
          <a:xfrm>
            <a:off x="5375848" y="2725984"/>
            <a:ext cx="1440000" cy="1092500"/>
          </a:xfrm>
          <a:prstGeom prst="rect">
            <a:avLst/>
          </a:prstGeom>
          <a:noFill/>
          <a:ln/>
        </p:spPr>
        <p:txBody>
          <a:bodyPr wrap="square" lIns="0" tIns="0" rIns="0" bIns="0" rtlCol="0" anchor="ctr">
            <a:noAutofit/>
          </a:bodyPr>
          <a:lstStyle/>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収益を</a:t>
            </a:r>
            <a:endParaRPr lang="en-US" sz="1400" dirty="0"/>
          </a:p>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拡大する</a:t>
            </a:r>
            <a:endParaRPr lang="en-US" sz="1400" dirty="0"/>
          </a:p>
        </p:txBody>
      </p:sp>
      <p:sp>
        <p:nvSpPr>
          <p:cNvPr id="26" name="shape:026"/>
          <p:cNvSpPr/>
          <p:nvPr/>
        </p:nvSpPr>
        <p:spPr>
          <a:xfrm>
            <a:off x="5267848" y="3926484"/>
            <a:ext cx="1656000" cy="1092500"/>
          </a:xfrm>
          <a:custGeom>
            <a:avLst/>
            <a:gdLst/>
            <a:ahLst/>
            <a:cxnLst/>
            <a:rect l="l" t="t" r="r" b="b"/>
            <a:pathLst>
              <a:path w="1656000" h="1092500">
                <a:moveTo>
                  <a:pt x="0" y="0"/>
                </a:moveTo>
                <a:lnTo>
                  <a:pt x="1656000" y="0"/>
                </a:lnTo>
                <a:lnTo>
                  <a:pt x="1656000" y="852150"/>
                </a:lnTo>
                <a:lnTo>
                  <a:pt x="828000" y="1092500"/>
                </a:lnTo>
                <a:lnTo>
                  <a:pt x="0" y="852150"/>
                </a:lnTo>
                <a:close/>
              </a:path>
            </a:pathLst>
          </a:custGeom>
          <a:solidFill>
            <a:srgbClr val="5A3921"/>
          </a:solidFill>
          <a:ln/>
        </p:spPr>
        <p:txBody>
          <a:bodyPr>
            <a:noAutofit/>
          </a:bodyPr>
          <a:p/>
        </p:txBody>
      </p:sp>
      <p:sp>
        <p:nvSpPr>
          <p:cNvPr id="27" name="shape:027"/>
          <p:cNvSpPr/>
          <p:nvPr/>
        </p:nvSpPr>
        <p:spPr>
          <a:xfrm>
            <a:off x="5375848" y="3926484"/>
            <a:ext cx="1440000" cy="1092500"/>
          </a:xfrm>
          <a:prstGeom prst="rect">
            <a:avLst/>
          </a:prstGeom>
          <a:noFill/>
          <a:ln/>
        </p:spPr>
        <p:txBody>
          <a:bodyPr wrap="square" lIns="0" tIns="0" rIns="0" bIns="0" rtlCol="0" anchor="ctr">
            <a:noAutofit/>
          </a:bodyPr>
          <a:lstStyle/>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損失を</a:t>
            </a:r>
            <a:endParaRPr lang="en-US" sz="1400" dirty="0"/>
          </a:p>
          <a:p>
            <a:pPr algn="ctr" indent="0" marL="0">
              <a:buNone/>
            </a:pPr>
            <a:r>
              <a:rPr lang="en-US" sz="1400" b="1" dirty="0">
                <a:solidFill>
                  <a:srgbClr val="FFFFFF"/>
                </a:solidFill>
                <a:latin typeface="Yu Mincho Demibold" pitchFamily="34" charset="0"/>
                <a:ea typeface="Yu Mincho Demibold" pitchFamily="34" charset="-122"/>
                <a:cs typeface="Yu Mincho Demibold" pitchFamily="34" charset="-120"/>
              </a:rPr>
              <a:t>抑える</a:t>
            </a:r>
            <a:endParaRPr lang="en-US" sz="14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