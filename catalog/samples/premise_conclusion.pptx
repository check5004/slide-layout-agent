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"premise_conclusion",</a:t>
            </a:r>
          </a:p>
          <a:p>
            <a:r>
              <a:t>  "variant": "warm",</a:t>
            </a:r>
          </a:p>
          <a:p>
            <a:r>
              <a:t>  "rationale": "Public template fixture; short fictional slot content; no private data.",</a:t>
            </a:r>
          </a:p>
          <a:p>
            <a:r>
              <a:t>  "source_sha256": "a24584d258d1ed63baf1753d053630cf6c51d9e36b42eaf3050c06dc23675dca",</a:t>
            </a:r>
          </a:p>
          <a:p>
            <a:r>
              <a:t>  "evidence": [</a:t>
            </a:r>
          </a:p>
          <a:p>
            <a:r>
              <a:t>    {</a:t>
            </a:r>
          </a:p>
          <a:p>
            <a:r>
              <a:t>      "text": "前提→帰結の2カラム",</a:t>
            </a:r>
          </a:p>
          <a:p>
            <a:r>
              <a:t>      "refs": [</a:t>
            </a:r>
          </a:p>
          <a:p>
            <a:r>
              <a:t>        {</a:t>
            </a:r>
          </a:p>
          <a:p>
            <a:r>
              <a:t>          "source_id": "s001",</a:t>
            </a:r>
          </a:p>
          <a:p>
            <a:r>
              <a:t>          "quote": "前提→帰結の2カラム"</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"記載例1の推移（事実）",</a:t>
            </a:r>
          </a:p>
          <a:p>
            <a:r>
              <a:t>      "refs": [</a:t>
            </a:r>
          </a:p>
          <a:p>
            <a:r>
              <a:t>        {</a:t>
            </a:r>
          </a:p>
          <a:p>
            <a:r>
              <a:t>          "source_id": "s001",</a:t>
            </a:r>
          </a:p>
          <a:p>
            <a:r>
              <a:t>          "quote": "記載例1の推移（事実）"</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"2026年M月〜",</a:t>
            </a:r>
          </a:p>
          <a:p>
            <a:r>
              <a:t>      "refs": [</a:t>
            </a:r>
          </a:p>
          <a:p>
            <a:r>
              <a:t>        {</a:t>
            </a:r>
          </a:p>
          <a:p>
            <a:r>
              <a:t>          "source_id": "s001",</a:t>
            </a:r>
          </a:p>
          <a:p>
            <a:r>
              <a:t>          "quote": "2026年M月〜"</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"だから、記載例2はこう変わる",</a:t>
            </a:r>
          </a:p>
          <a:p>
            <a:r>
              <a:t>      "refs": [</a:t>
            </a:r>
          </a:p>
          <a:p>
            <a:r>
              <a:t>        {</a:t>
            </a:r>
          </a:p>
          <a:p>
            <a:r>
              <a:t>          "source_id": "s001",</a:t>
            </a:r>
          </a:p>
          <a:p>
            <a:r>
              <a:t>          "quote": "だから、記載例2はこう変わる"</a:t>
            </a:r>
          </a:p>
          <a:p>
            <a:r>
              <a:t>        }</a:t>
            </a:r>
          </a:p>
          <a:p>
            <a:r>
              <a:t>      ],</a:t>
            </a:r>
          </a:p>
          <a:p>
            <a:r>
              <a:t>      "mode": "verbatim"</a:t>
            </a:r>
          </a:p>
          <a:p>
            <a:r>
              <a:t>    },</a:t>
            </a:r>
          </a:p>
          <a:p>
            <a:r>
              <a:t>    {</a:t>
            </a:r>
          </a:p>
          <a:p>
            <a:r>
              <a:t>      "text": "記載例4（語尾は階層内で統一）\n記載例5\n記載例6",</a:t>
            </a:r>
          </a:p>
          <a:p>
            <a:r>
              <a:t>      "refs": [</a:t>
            </a:r>
          </a:p>
          <a:p>
            <a:r>
              <a:t>        {</a:t>
            </a:r>
          </a:p>
          <a:p>
            <a:r>
              <a:t>          "source_id": "s001",</a:t>
            </a:r>
          </a:p>
          <a:p>
            <a:r>
              <a:t>          "quote": "記載例4（語尾は階層内で統一）\n記載例5\n記載例6"</a:t>
            </a:r>
          </a:p>
          <a:p>
            <a:r>
              <a:t>        }</a:t>
            </a:r>
          </a:p>
          <a:p>
            <a:r>
              <a:t>      ],</a:t>
            </a:r>
          </a:p>
          <a:p>
            <a:r>
              <a:t>      "mode": "verbatim"</a:t>
            </a:r>
          </a:p>
          <a:p>
            <a:r>
              <a:t>    }</a:t>
            </a:r>
          </a:p>
          <a:p>
            <a:r>
              <a:t>  ],</a:t>
            </a:r>
          </a:p>
          <a:p>
            <a:r>
              <a:t>  "citations": {</a:t>
            </a:r>
          </a:p>
          <a:p>
            <a:r>
              <a:t>    "s001": "Public MIT sample: templates/freeform_parts_16x9.html section 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"646dd6a4990ecf2fbaac2c1386e87a69ef114f040b652a4b8506ee4b78969a07"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前提→帰結の2カラム</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6234931"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記載例1の推移（事実）</a:t>
            </a:r>
            <a:endParaRPr lang="en-US" sz="1150" dirty="0"/>
          </a:p>
        </p:txBody>
      </p:sp>
      <p:sp>
        <p:nvSpPr>
          <p:cNvPr id="11" name="shape:011"/>
          <p:cNvSpPr/>
          <p:nvPr/>
        </p:nvSpPr>
        <p:spPr>
          <a:xfrm>
            <a:off x="576072" y="1901952"/>
            <a:ext cx="6234931" cy="0"/>
          </a:xfrm>
          <a:prstGeom prst="line">
            <a:avLst/>
          </a:prstGeom>
          <a:noFill/>
          <a:ln w="17780">
            <a:solidFill>
              <a:srgbClr val="322014"/>
            </a:solidFill>
            <a:prstDash val="solid"/>
          </a:ln>
        </p:spPr>
        <p:txBody>
          <a:bodyPr>
            <a:noAutofit/>
          </a:bodyPr>
          <a:p/>
        </p:txBody>
      </p:sp>
      <p:graphicFrame>
        <p:nvGraphicFramePr>
          <p:cNvPr id="62" name="shape:062"/>
          <p:cNvGraphicFramePr>
            <a:graphicFrameLocks noGrp="1"/>
          </p:cNvGraphicFramePr>
          <p:nvPr>
            <p:extLst>
              <p:ext uri="{D42A27DB-BD31-4B8C-83A1-F6EECF244321}">
                <p14:modId xmlns:p14="http://schemas.microsoft.com/office/powerpoint/2010/main" val="1579011935"/>
              </p:ext>
            </p:extLst>
          </p:nvPr>
        </p:nvGraphicFramePr>
        <p:xfrm>
          <a:off x="576072" y="2029968"/>
          <a:ext cx="6234931" cy="914400"/>
        </p:xfrm>
        <a:graphic>
          <a:graphicData uri="http://schemas.openxmlformats.org/drawingml/2006/table">
            <a:tbl>
              <a:tblPr/>
              <a:tblGrid>
                <a:gridCol w="1224000"/>
                <a:gridCol w="5010931"/>
              </a:tblGrid>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380744">
                <a:tc>
                  <a:txBody>
                    <a:bodyPr/>
                    <a:lstStyle/>
                    <a:p>
                      <a:pPr algn="l" indent="0" marL="0">
                        <a:buNone/>
                      </a:pPr>
                      <a:r>
                        <a:rPr lang="en-US" sz="1100" b="1" dirty="0">
                          <a:solidFill>
                            <a:srgbClr val="5A3921"/>
                          </a:solidFill>
                          <a:latin typeface="Yu Mincho Demibold" pitchFamily="34" charset="0"/>
                          <a:ea typeface="Yu Mincho Demibold" pitchFamily="34" charset="-122"/>
                          <a:cs typeface="Yu Mincho Demibold" pitchFamily="34" charset="-120"/>
                        </a:rPr>
                        <a:t>2026年M月〜</a:t>
                      </a:r>
                      <a:endParaRPr lang="en-US" sz="1100" dirty="0">
                        <a:latin typeface="Yu Mincho Demibold" charset="0"/>
                        <a:ea typeface="Yu Mincho Demibold" charset="0"/>
                        <a:cs typeface="Yu Mincho Demibold" charset="0"/>
                      </a:endParaRPr>
                    </a:p>
                  </a:txBody>
                  <a:tcPr marL="91440"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91440"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3" name="shape:013"/>
          <p:cNvSpPr/>
          <p:nvPr/>
        </p:nvSpPr>
        <p:spPr>
          <a:xfrm rot="5400000">
            <a:off x="6955003" y="3764484"/>
            <a:ext cx="360000" cy="216000"/>
          </a:xfrm>
          <a:prstGeom prst="triangle">
            <a:avLst/>
          </a:prstGeom>
          <a:solidFill>
            <a:srgbClr val="C5A681"/>
          </a:solidFill>
          <a:ln/>
        </p:spPr>
        <p:txBody>
          <a:bodyPr>
            <a:noAutofit/>
          </a:bodyPr>
          <a:p/>
        </p:txBody>
      </p:sp>
      <p:sp>
        <p:nvSpPr>
          <p:cNvPr id="14" name="shape:014"/>
          <p:cNvSpPr/>
          <p:nvPr/>
        </p:nvSpPr>
        <p:spPr>
          <a:xfrm>
            <a:off x="7459003" y="1572768"/>
            <a:ext cx="415662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だから、記載例2はこう変わる</a:t>
            </a:r>
            <a:endParaRPr lang="en-US" sz="1150" dirty="0"/>
          </a:p>
        </p:txBody>
      </p:sp>
      <p:sp>
        <p:nvSpPr>
          <p:cNvPr id="15" name="shape:015"/>
          <p:cNvSpPr/>
          <p:nvPr/>
        </p:nvSpPr>
        <p:spPr>
          <a:xfrm>
            <a:off x="7459003" y="1901952"/>
            <a:ext cx="4156620" cy="0"/>
          </a:xfrm>
          <a:prstGeom prst="line">
            <a:avLst/>
          </a:prstGeom>
          <a:noFill/>
          <a:ln w="17780">
            <a:solidFill>
              <a:srgbClr val="322014"/>
            </a:solidFill>
            <a:prstDash val="solid"/>
          </a:ln>
        </p:spPr>
        <p:txBody>
          <a:bodyPr>
            <a:noAutofit/>
          </a:bodyPr>
          <a:p/>
        </p:txBody>
      </p:sp>
      <p:sp>
        <p:nvSpPr>
          <p:cNvPr id="16" name="shape:016"/>
          <p:cNvSpPr/>
          <p:nvPr/>
        </p:nvSpPr>
        <p:spPr>
          <a:xfrm>
            <a:off x="7459003" y="2029968"/>
            <a:ext cx="4156620" cy="4142232"/>
          </a:xfrm>
          <a:prstGeom prst="rect">
            <a:avLst/>
          </a:prstGeom>
          <a:noFill/>
          <a:ln/>
        </p:spPr>
        <p:txBody>
          <a:bodyPr wrap="square" lIns="0" tIns="0" rIns="0" bIns="0" rtlCol="0" anchor="ctr">
            <a:noAutofit/>
          </a:bodyPr>
          <a:lstStyle/>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記載例4（語尾は階層内で統一）</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a:p>
            <a:pPr marL="152400" indent="-152400">
              <a:spcAft>
                <a:spcPts val="1300"/>
              </a:spcAft>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6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