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"scr",</a:t>
            </a:r>
          </a:p>
          <a:p>
            <a:r>
              <a:t>  "variant": "warm",</a:t>
            </a:r>
          </a:p>
          <a:p>
            <a:r>
              <a:t>  "rationale": "Public template fixture; short fictional slot content; no private data.",</a:t>
            </a:r>
          </a:p>
          <a:p>
            <a:r>
              <a:t>  "source_sha256": "8bb462a0ba25a7ee4023014daf2fdaa2523c48994e14e71426bec2ce2b7cfe37",</a:t>
            </a:r>
          </a:p>
          <a:p>
            <a:r>
              <a:t>  "evidence": [</a:t>
            </a:r>
          </a:p>
          <a:p>
            <a:r>
              <a:t>    {</a:t>
            </a:r>
          </a:p>
          <a:p>
            <a:r>
              <a:t>      "text": "Situation・Complication・Resolution",</a:t>
            </a:r>
          </a:p>
          <a:p>
            <a:r>
              <a:t>      "refs": [</a:t>
            </a:r>
          </a:p>
          <a:p>
            <a:r>
              <a:t>        {</a:t>
            </a:r>
          </a:p>
          <a:p>
            <a:r>
              <a:t>          "source_id": "s001",</a:t>
            </a:r>
          </a:p>
          <a:p>
            <a:r>
              <a:t>          "quote": "Situation・Complication・Resolution"</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"Situation",</a:t>
            </a:r>
          </a:p>
          <a:p>
            <a:r>
              <a:t>      "refs": [</a:t>
            </a:r>
          </a:p>
          <a:p>
            <a:r>
              <a:t>        {</a:t>
            </a:r>
          </a:p>
          <a:p>
            <a:r>
              <a:t>          "source_id": "s001",</a:t>
            </a:r>
          </a:p>
          <a:p>
            <a:r>
              <a:t>          "quote": "Situation"</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"Complication",</a:t>
            </a:r>
          </a:p>
          <a:p>
            <a:r>
              <a:t>      "refs": [</a:t>
            </a:r>
          </a:p>
          <a:p>
            <a:r>
              <a:t>        {</a:t>
            </a:r>
          </a:p>
          <a:p>
            <a:r>
              <a:t>          "source_id": "s001",</a:t>
            </a:r>
          </a:p>
          <a:p>
            <a:r>
              <a:t>          "quote": "Complication"</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"text": "Resolution",</a:t>
            </a:r>
          </a:p>
          <a:p>
            <a:r>
              <a:t>      "refs": [</a:t>
            </a:r>
          </a:p>
          <a:p>
            <a:r>
              <a:t>        {</a:t>
            </a:r>
          </a:p>
          <a:p>
            <a:r>
              <a:t>          "source_id": "s001",</a:t>
            </a:r>
          </a:p>
          <a:p>
            <a:r>
              <a:t>          "quote": "Resolution"</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"text": "注：前提や注記を記載",</a:t>
            </a:r>
          </a:p>
          <a:p>
            <a:r>
              <a:t>      "refs": [</a:t>
            </a:r>
          </a:p>
          <a:p>
            <a:r>
              <a:t>        {</a:t>
            </a:r>
          </a:p>
          <a:p>
            <a:r>
              <a:t>          "source_id": "s001",</a:t>
            </a:r>
          </a:p>
          <a:p>
            <a:r>
              <a:t>          "quote": "注：前提や注記を記載"</a:t>
            </a:r>
          </a:p>
          <a:p>
            <a:r>
              <a:t>        }</a:t>
            </a:r>
          </a:p>
          <a:p>
            <a:r>
              <a:t>      ],</a:t>
            </a:r>
          </a:p>
          <a:p>
            <a:r>
              <a:t>      "mode": "verbatim"</a:t>
            </a:r>
          </a:p>
          <a:p>
            <a:r>
              <a:t>    }</a:t>
            </a:r>
          </a:p>
          <a:p>
            <a:r>
              <a:t>  ],</a:t>
            </a:r>
          </a:p>
          <a:p>
            <a:r>
              <a:t>  "citations": {</a:t>
            </a:r>
          </a:p>
          <a:p>
            <a:r>
              <a:t>    "s001": "Public MIT sample: templates/freeform_parts_more_16x9.html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"1adf3163d45e744a04ec1858eed575748b50fbbd47308cbad7b4ca6d8c06a50b"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Situation・Complication・Resolution</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Situation</a:t>
            </a:r>
            <a:endParaRPr lang="en-US" sz="1500" dirty="0"/>
          </a:p>
        </p:txBody>
      </p:sp>
      <p:sp>
        <p:nvSpPr>
          <p:cNvPr id="11" name="shape:011"/>
          <p:cNvSpPr/>
          <p:nvPr/>
        </p:nvSpPr>
        <p:spPr>
          <a:xfrm>
            <a:off x="576072" y="2530602"/>
            <a:ext cx="3405530" cy="0"/>
          </a:xfrm>
          <a:prstGeom prst="line">
            <a:avLst/>
          </a:prstGeom>
          <a:noFill/>
          <a:ln w="25400">
            <a:solidFill>
              <a:srgbClr val="322014"/>
            </a:solidFill>
            <a:prstDash val="solid"/>
          </a:ln>
        </p:spPr>
        <p:txBody>
          <a:bodyPr>
            <a:noAutofit/>
          </a:bodyPr>
          <a:p/>
        </p:txBody>
      </p:sp>
      <p:sp>
        <p:nvSpPr>
          <p:cNvPr id="12" name="shape:012"/>
          <p:cNvSpPr/>
          <p:nvPr/>
        </p:nvSpPr>
        <p:spPr>
          <a:xfrm>
            <a:off x="57607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57607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14" name="shape:014"/>
          <p:cNvSpPr/>
          <p:nvPr/>
        </p:nvSpPr>
        <p:spPr>
          <a:xfrm>
            <a:off x="576072" y="5164074"/>
            <a:ext cx="3405530" cy="0"/>
          </a:xfrm>
          <a:prstGeom prst="line">
            <a:avLst/>
          </a:prstGeom>
          <a:noFill/>
          <a:ln w="9525">
            <a:solidFill>
              <a:srgbClr val="8A7B6B"/>
            </a:solidFill>
            <a:prstDash val="sysDot"/>
          </a:ln>
        </p:spPr>
        <p:txBody>
          <a:bodyPr>
            <a:noAutofit/>
          </a:bodyPr>
          <a:p/>
        </p:txBody>
      </p:sp>
      <p:sp>
        <p:nvSpPr>
          <p:cNvPr id="15" name="shape:015"/>
          <p:cNvSpPr/>
          <p:nvPr/>
        </p:nvSpPr>
        <p:spPr>
          <a:xfrm>
            <a:off x="57607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16" name="shape:016"/>
          <p:cNvSpPr/>
          <p:nvPr/>
        </p:nvSpPr>
        <p:spPr>
          <a:xfrm>
            <a:off x="4393082"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Complication</a:t>
            </a:r>
            <a:endParaRPr lang="en-US" sz="1500" dirty="0"/>
          </a:p>
        </p:txBody>
      </p:sp>
      <p:sp>
        <p:nvSpPr>
          <p:cNvPr id="17" name="shape:017"/>
          <p:cNvSpPr/>
          <p:nvPr/>
        </p:nvSpPr>
        <p:spPr>
          <a:xfrm>
            <a:off x="4393082" y="2530602"/>
            <a:ext cx="3405530" cy="0"/>
          </a:xfrm>
          <a:prstGeom prst="line">
            <a:avLst/>
          </a:prstGeom>
          <a:noFill/>
          <a:ln w="25400">
            <a:solidFill>
              <a:srgbClr val="322014"/>
            </a:solidFill>
            <a:prstDash val="solid"/>
          </a:ln>
        </p:spPr>
        <p:txBody>
          <a:bodyPr>
            <a:noAutofit/>
          </a:bodyPr>
          <a:p/>
        </p:txBody>
      </p:sp>
      <p:sp>
        <p:nvSpPr>
          <p:cNvPr id="18" name="shape:018"/>
          <p:cNvSpPr/>
          <p:nvPr/>
        </p:nvSpPr>
        <p:spPr>
          <a:xfrm>
            <a:off x="4393082"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記載例3</a:t>
            </a:r>
            <a:endParaRPr lang="en-US" sz="1500" dirty="0"/>
          </a:p>
        </p:txBody>
      </p:sp>
      <p:sp>
        <p:nvSpPr>
          <p:cNvPr id="19" name="shape:019"/>
          <p:cNvSpPr/>
          <p:nvPr/>
        </p:nvSpPr>
        <p:spPr>
          <a:xfrm>
            <a:off x="4393082"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4393082" y="5164074"/>
            <a:ext cx="3405530" cy="0"/>
          </a:xfrm>
          <a:prstGeom prst="line">
            <a:avLst/>
          </a:prstGeom>
          <a:noFill/>
          <a:ln w="9525">
            <a:solidFill>
              <a:srgbClr val="8A7B6B"/>
            </a:solidFill>
            <a:prstDash val="sysDot"/>
          </a:ln>
        </p:spPr>
        <p:txBody>
          <a:bodyPr>
            <a:noAutofit/>
          </a:bodyPr>
          <a:p/>
        </p:txBody>
      </p:sp>
      <p:sp>
        <p:nvSpPr>
          <p:cNvPr id="21" name="shape:021"/>
          <p:cNvSpPr/>
          <p:nvPr/>
        </p:nvSpPr>
        <p:spPr>
          <a:xfrm>
            <a:off x="4393082"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2" name="shape:022"/>
          <p:cNvSpPr/>
          <p:nvPr/>
        </p:nvSpPr>
        <p:spPr>
          <a:xfrm>
            <a:off x="8210093" y="2146554"/>
            <a:ext cx="3405530" cy="310896"/>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Resolution</a:t>
            </a:r>
            <a:endParaRPr lang="en-US" sz="1500" dirty="0"/>
          </a:p>
        </p:txBody>
      </p:sp>
      <p:sp>
        <p:nvSpPr>
          <p:cNvPr id="23" name="shape:023"/>
          <p:cNvSpPr/>
          <p:nvPr/>
        </p:nvSpPr>
        <p:spPr>
          <a:xfrm>
            <a:off x="8210093" y="2530602"/>
            <a:ext cx="3405530" cy="0"/>
          </a:xfrm>
          <a:prstGeom prst="line">
            <a:avLst/>
          </a:prstGeom>
          <a:noFill/>
          <a:ln w="25400">
            <a:solidFill>
              <a:srgbClr val="322014"/>
            </a:solidFill>
            <a:prstDash val="solid"/>
          </a:ln>
        </p:spPr>
        <p:txBody>
          <a:bodyPr>
            <a:noAutofit/>
          </a:bodyPr>
          <a:p/>
        </p:txBody>
      </p:sp>
      <p:sp>
        <p:nvSpPr>
          <p:cNvPr id="24" name="shape:024"/>
          <p:cNvSpPr/>
          <p:nvPr/>
        </p:nvSpPr>
        <p:spPr>
          <a:xfrm>
            <a:off x="8210093" y="2695194"/>
            <a:ext cx="3405530" cy="8686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記載例5</a:t>
            </a:r>
            <a:endParaRPr lang="en-US" sz="1500" dirty="0"/>
          </a:p>
        </p:txBody>
      </p:sp>
      <p:sp>
        <p:nvSpPr>
          <p:cNvPr id="25" name="shape:025"/>
          <p:cNvSpPr/>
          <p:nvPr/>
        </p:nvSpPr>
        <p:spPr>
          <a:xfrm>
            <a:off x="8210093" y="3609594"/>
            <a:ext cx="3405530" cy="141732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記載例6</a:t>
            </a:r>
            <a:endParaRPr lang="en-US" sz="1250" dirty="0"/>
          </a:p>
        </p:txBody>
      </p:sp>
      <p:sp>
        <p:nvSpPr>
          <p:cNvPr id="26" name="shape:026"/>
          <p:cNvSpPr/>
          <p:nvPr/>
        </p:nvSpPr>
        <p:spPr>
          <a:xfrm>
            <a:off x="8210093" y="5164074"/>
            <a:ext cx="3405530" cy="0"/>
          </a:xfrm>
          <a:prstGeom prst="line">
            <a:avLst/>
          </a:prstGeom>
          <a:noFill/>
          <a:ln w="9525">
            <a:solidFill>
              <a:srgbClr val="8A7B6B"/>
            </a:solidFill>
            <a:prstDash val="sysDot"/>
          </a:ln>
        </p:spPr>
        <p:txBody>
          <a:bodyPr>
            <a:noAutofit/>
          </a:bodyPr>
          <a:p/>
        </p:txBody>
      </p:sp>
      <p:sp>
        <p:nvSpPr>
          <p:cNvPr id="27" name="shape:027"/>
          <p:cNvSpPr/>
          <p:nvPr/>
        </p:nvSpPr>
        <p:spPr>
          <a:xfrm>
            <a:off x="8210093" y="5301234"/>
            <a:ext cx="3405530" cy="91440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注：前提や注記を記載</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