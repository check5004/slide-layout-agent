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"status_heatmap_comment",</a:t>
            </a:r>
          </a:p>
          <a:p>
            <a:r>
              <a:t>  "variant": "warm",</a:t>
            </a:r>
          </a:p>
          <a:p>
            <a:r>
              <a:t>  "rationale": "Public template fixture; short fictional slot content; no private data.",</a:t>
            </a:r>
          </a:p>
          <a:p>
            <a:r>
              <a:t>  "source_sha256": "562f5ac751843b083e8f91a0f3b484c841e797899cded1491406eb317141a534",</a:t>
            </a:r>
          </a:p>
          <a:p>
            <a:r>
              <a:t>  "evidence": [</a:t>
            </a:r>
          </a:p>
          <a:p>
            <a:r>
              <a:t>    {</a:t>
            </a:r>
          </a:p>
          <a:p>
            <a:r>
              <a:t>      "text": "状態ヒートマップ＋右コメント",</a:t>
            </a:r>
          </a:p>
          <a:p>
            <a:r>
              <a:t>      "refs": [</a:t>
            </a:r>
          </a:p>
          <a:p>
            <a:r>
              <a:t>        {</a:t>
            </a:r>
          </a:p>
          <a:p>
            <a:r>
              <a:t>          "source_id": "s001",</a:t>
            </a:r>
          </a:p>
          <a:p>
            <a:r>
              <a:t>          "quote": "状態ヒートマップ＋右コメント"</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"指標カテゴリー別の状況",</a:t>
            </a:r>
          </a:p>
          <a:p>
            <a:r>
              <a:t>      "refs": [</a:t>
            </a:r>
          </a:p>
          <a:p>
            <a:r>
              <a:t>        {</a:t>
            </a:r>
          </a:p>
          <a:p>
            <a:r>
              <a:t>          "source_id": "s001",</a:t>
            </a:r>
          </a:p>
          <a:p>
            <a:r>
              <a:t>          "quote": "指標カテゴリー別の状況"</a:t>
            </a:r>
          </a:p>
          <a:p>
            <a:r>
              <a:t>        }</a:t>
            </a:r>
          </a:p>
          <a:p>
            <a:r>
              <a:t>      ],</a:t>
            </a:r>
          </a:p>
          <a:p>
            <a:r>
              <a:t>      "mode": "verbatim"</a:t>
            </a:r>
          </a:p>
          <a:p>
            <a:r>
              <a:t>    },</a:t>
            </a:r>
          </a:p>
          <a:p>
            <a:r>
              <a:t>    {</a:t>
            </a:r>
          </a:p>
          <a:p>
            <a:r>
              <a:t>      "text": "2026年M月時点",</a:t>
            </a:r>
          </a:p>
          <a:p>
            <a:r>
              <a:t>      "refs": [</a:t>
            </a:r>
          </a:p>
          <a:p>
            <a:r>
              <a:t>        {</a:t>
            </a:r>
          </a:p>
          <a:p>
            <a:r>
              <a:t>          "source_id": "s001",</a:t>
            </a:r>
          </a:p>
          <a:p>
            <a:r>
              <a:t>          "quote": "2026年M月時点"</a:t>
            </a:r>
          </a:p>
          <a:p>
            <a:r>
              <a:t>        }</a:t>
            </a:r>
          </a:p>
          <a:p>
            <a:r>
              <a:t>      ],</a:t>
            </a:r>
          </a:p>
          <a:p>
            <a:r>
              <a:t>      "mode": "verbatim"</a:t>
            </a:r>
          </a:p>
          <a:p>
            <a:r>
              <a:t>    },</a:t>
            </a:r>
          </a:p>
          <a:p>
            <a:r>
              <a:t>    {</a:t>
            </a:r>
          </a:p>
          <a:p>
            <a:r>
              <a:t>      "text": "指標カテゴリー",</a:t>
            </a:r>
          </a:p>
          <a:p>
            <a:r>
              <a:t>      "refs": [</a:t>
            </a:r>
          </a:p>
          <a:p>
            <a:r>
              <a:t>        {</a:t>
            </a:r>
          </a:p>
          <a:p>
            <a:r>
              <a:t>          "source_id": "s001",</a:t>
            </a:r>
          </a:p>
          <a:p>
            <a:r>
              <a:t>          "quote": "指標カテゴリー"</a:t>
            </a:r>
          </a:p>
          <a:p>
            <a:r>
              <a:t>        }</a:t>
            </a:r>
          </a:p>
          <a:p>
            <a:r>
              <a:t>      ],</a:t>
            </a:r>
          </a:p>
          <a:p>
            <a:r>
              <a:t>      "mode": "verbatim"</a:t>
            </a:r>
          </a:p>
          <a:p>
            <a:r>
              <a:t>    },</a:t>
            </a:r>
          </a:p>
          <a:p>
            <a:r>
              <a:t>    {</a:t>
            </a:r>
          </a:p>
          <a:p>
            <a:r>
              <a:t>      "text": "前月比",</a:t>
            </a:r>
          </a:p>
          <a:p>
            <a:r>
              <a:t>      "refs": [</a:t>
            </a:r>
          </a:p>
          <a:p>
            <a:r>
              <a:t>        {</a:t>
            </a:r>
          </a:p>
          <a:p>
            <a:r>
              <a:t>          "source_id": "s001",</a:t>
            </a:r>
          </a:p>
          <a:p>
            <a:r>
              <a:t>          "quote": "前月比"</a:t>
            </a:r>
          </a:p>
          <a:p>
            <a:r>
              <a:t>        }</a:t>
            </a:r>
          </a:p>
          <a:p>
            <a:r>
              <a:t>      ],</a:t>
            </a:r>
          </a:p>
          <a:p>
            <a:r>
              <a:t>      "mode": "verbatim"</a:t>
            </a:r>
          </a:p>
          <a:p>
            <a:r>
              <a:t>    },</a:t>
            </a:r>
          </a:p>
          <a:p>
            <a:r>
              <a:t>    {</a:t>
            </a:r>
          </a:p>
          <a:p>
            <a:r>
              <a:t>      "text": "前年比",</a:t>
            </a:r>
          </a:p>
          <a:p>
            <a:r>
              <a:t>      "refs": [</a:t>
            </a:r>
          </a:p>
          <a:p>
            <a:r>
              <a:t>        {</a:t>
            </a:r>
          </a:p>
          <a:p>
            <a:r>
              <a:t>          "source_id": "s001",</a:t>
            </a:r>
          </a:p>
          <a:p>
            <a:r>
              <a:t>          "quote": "前年比"</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"だから、次に見るべき点",</a:t>
            </a:r>
          </a:p>
          <a:p>
            <a:r>
              <a:t>      "refs": [</a:t>
            </a:r>
          </a:p>
          <a:p>
            <a:r>
              <a:t>        {</a:t>
            </a:r>
          </a:p>
          <a:p>
            <a:r>
              <a:t>          "source_id": "s001",</a:t>
            </a:r>
          </a:p>
          <a:p>
            <a:r>
              <a:t>          "quote": "だから、次に見るべき点"</a:t>
            </a:r>
          </a:p>
          <a:p>
            <a:r>
              <a:t>        }</a:t>
            </a:r>
          </a:p>
          <a:p>
            <a:r>
              <a:t>      ],</a:t>
            </a:r>
          </a:p>
          <a:p>
            <a:r>
              <a:t>      "mode": "verbatim"</a:t>
            </a:r>
          </a:p>
          <a:p>
            <a:r>
              <a:t>    },</a:t>
            </a:r>
          </a:p>
          <a:p>
            <a:r>
              <a:t>    {</a:t>
            </a:r>
          </a:p>
          <a:p>
            <a:r>
              <a:t>      "text": "記載例1\n記載例2\n記載例3",</a:t>
            </a:r>
          </a:p>
          <a:p>
            <a:r>
              <a:t>      "refs": [</a:t>
            </a:r>
          </a:p>
          <a:p>
            <a:r>
              <a:t>        {</a:t>
            </a:r>
          </a:p>
          <a:p>
            <a:r>
              <a:t>          "source_id": "s001",</a:t>
            </a:r>
          </a:p>
          <a:p>
            <a:r>
              <a:t>          "quote": "記載例1\n記載例2\n記載例3"</a:t>
            </a:r>
          </a:p>
          <a:p>
            <a:r>
              <a:t>        }</a:t>
            </a:r>
          </a:p>
          <a:p>
            <a:r>
              <a:t>      ],</a:t>
            </a:r>
          </a:p>
          <a:p>
            <a:r>
              <a:t>      "mode": "verbatim"</a:t>
            </a:r>
          </a:p>
          <a:p>
            <a:r>
              <a:t>    },</a:t>
            </a:r>
          </a:p>
          <a:p>
            <a:r>
              <a:t>    {</a:t>
            </a:r>
          </a:p>
          <a:p>
            <a:r>
              <a:t>      "text": "大きく改善",</a:t>
            </a:r>
          </a:p>
          <a:p>
            <a:r>
              <a:t>      "refs": [</a:t>
            </a:r>
          </a:p>
          <a:p>
            <a:r>
              <a:t>        {</a:t>
            </a:r>
          </a:p>
          <a:p>
            <a:r>
              <a:t>          "source_id": "s001",</a:t>
            </a:r>
          </a:p>
          <a:p>
            <a:r>
              <a:t>          "quote": "大きく改善"</a:t>
            </a:r>
          </a:p>
          <a:p>
            <a:r>
              <a:t>        }</a:t>
            </a:r>
          </a:p>
          <a:p>
            <a:r>
              <a:t>      ],</a:t>
            </a:r>
          </a:p>
          <a:p>
            <a:r>
              <a:t>      "mode": "verbatim"</a:t>
            </a:r>
          </a:p>
          <a:p>
            <a:r>
              <a:t>    },</a:t>
            </a:r>
          </a:p>
          <a:p>
            <a:r>
              <a:t>    {</a:t>
            </a:r>
          </a:p>
          <a:p>
            <a:r>
              <a:t>      "text": "悪化",</a:t>
            </a:r>
          </a:p>
          <a:p>
            <a:r>
              <a:t>      "refs": [</a:t>
            </a:r>
          </a:p>
          <a:p>
            <a:r>
              <a:t>        {</a:t>
            </a:r>
          </a:p>
          <a:p>
            <a:r>
              <a:t>          "source_id": "s001",</a:t>
            </a:r>
          </a:p>
          <a:p>
            <a:r>
              <a:t>          "quote": "悪化"</a:t>
            </a:r>
          </a:p>
          <a:p>
            <a:r>
              <a:t>        }</a:t>
            </a:r>
          </a:p>
          <a:p>
            <a:r>
              <a:t>      ],</a:t>
            </a:r>
          </a:p>
          <a:p>
            <a:r>
              <a:t>      "mode": "verbatim"</a:t>
            </a:r>
          </a:p>
          <a:p>
            <a:r>
              <a:t>    },</a:t>
            </a:r>
          </a:p>
          <a:p>
            <a:r>
              <a:t>    {</a:t>
            </a:r>
          </a:p>
          <a:p>
            <a:r>
              <a:t>      "text": "改善",</a:t>
            </a:r>
          </a:p>
          <a:p>
            <a:r>
              <a:t>      "refs": [</a:t>
            </a:r>
          </a:p>
          <a:p>
            <a:r>
              <a:t>        {</a:t>
            </a:r>
          </a:p>
          <a:p>
            <a:r>
              <a:t>          "source_id": "s001",</a:t>
            </a:r>
          </a:p>
          <a:p>
            <a:r>
              <a:t>          "quote": "改善"</a:t>
            </a:r>
          </a:p>
          <a:p>
            <a:r>
              <a:t>        }</a:t>
            </a:r>
          </a:p>
          <a:p>
            <a:r>
              <a:t>      ],</a:t>
            </a:r>
          </a:p>
          <a:p>
            <a:r>
              <a:t>      "mode": "verbatim"</a:t>
            </a:r>
          </a:p>
          <a:p>
            <a:r>
              <a:t>    },</a:t>
            </a:r>
          </a:p>
          <a:p>
            <a:r>
              <a:t>    {</a:t>
            </a:r>
          </a:p>
          <a:p>
            <a:r>
              <a:t>      "text": "改善",</a:t>
            </a:r>
          </a:p>
          <a:p>
            <a:r>
              <a:t>      "refs": [</a:t>
            </a:r>
          </a:p>
          <a:p>
            <a:r>
              <a:t>        {</a:t>
            </a:r>
          </a:p>
          <a:p>
            <a:r>
              <a:t>          "source_id": "s001",</a:t>
            </a:r>
          </a:p>
          <a:p>
            <a:r>
              <a:t>          "quote": "改善"</a:t>
            </a:r>
          </a:p>
          <a:p>
            <a:r>
              <a:t>        }</a:t>
            </a:r>
          </a:p>
          <a:p>
            <a:r>
              <a:t>      ],</a:t>
            </a:r>
          </a:p>
          <a:p>
            <a:r>
              <a:t>      "mode": "verbatim"</a:t>
            </a:r>
          </a:p>
          <a:p>
            <a:r>
              <a:t>    },</a:t>
            </a:r>
          </a:p>
          <a:p>
            <a:r>
              <a:t>    {</a:t>
            </a:r>
          </a:p>
          <a:p>
            <a:r>
              <a:t>      "text": "横ばい",</a:t>
            </a:r>
          </a:p>
          <a:p>
            <a:r>
              <a:t>      "refs": [</a:t>
            </a:r>
          </a:p>
          <a:p>
            <a:r>
              <a:t>        {</a:t>
            </a:r>
          </a:p>
          <a:p>
            <a:r>
              <a:t>          "source_id": "s001",</a:t>
            </a:r>
          </a:p>
          <a:p>
            <a:r>
              <a:t>          "quote": "横ばい"</a:t>
            </a:r>
          </a:p>
          <a:p>
            <a:r>
              <a:t>        }</a:t>
            </a:r>
          </a:p>
          <a:p>
            <a:r>
              <a:t>      ],</a:t>
            </a:r>
          </a:p>
          <a:p>
            <a:r>
              <a:t>      "mode": "verbatim"</a:t>
            </a:r>
          </a:p>
          <a:p>
            <a:r>
              <a:t>    },</a:t>
            </a:r>
          </a:p>
          <a:p>
            <a:r>
              <a:t>    {</a:t>
            </a:r>
          </a:p>
          <a:p>
            <a:r>
              <a:t>      "text": "大きく改善",</a:t>
            </a:r>
          </a:p>
          <a:p>
            <a:r>
              <a:t>      "refs": [</a:t>
            </a:r>
          </a:p>
          <a:p>
            <a:r>
              <a:t>        {</a:t>
            </a:r>
          </a:p>
          <a:p>
            <a:r>
              <a:t>          "source_id": "s001",</a:t>
            </a:r>
          </a:p>
          <a:p>
            <a:r>
              <a:t>          "quote": "大きく改善"</a:t>
            </a:r>
          </a:p>
          <a:p>
            <a:r>
              <a:t>        }</a:t>
            </a:r>
          </a:p>
          <a:p>
            <a:r>
              <a:t>      ],</a:t>
            </a:r>
          </a:p>
          <a:p>
            <a:r>
              <a:t>      "mode": "verbatim"</a:t>
            </a:r>
          </a:p>
          <a:p>
            <a:r>
              <a:t>    },</a:t>
            </a:r>
          </a:p>
          <a:p>
            <a:r>
              <a:t>    {</a:t>
            </a:r>
          </a:p>
          <a:p>
            <a:r>
              <a:t>      "text": "悪化",</a:t>
            </a:r>
          </a:p>
          <a:p>
            <a:r>
              <a:t>      "refs": [</a:t>
            </a:r>
          </a:p>
          <a:p>
            <a:r>
              <a:t>        {</a:t>
            </a:r>
          </a:p>
          <a:p>
            <a:r>
              <a:t>          "source_id": "s001",</a:t>
            </a:r>
          </a:p>
          <a:p>
            <a:r>
              <a:t>          "quote": "悪化"</a:t>
            </a:r>
          </a:p>
          <a:p>
            <a:r>
              <a:t>        }</a:t>
            </a:r>
          </a:p>
          <a:p>
            <a:r>
              <a:t>      ],</a:t>
            </a:r>
          </a:p>
          <a:p>
            <a:r>
              <a:t>      "mode": "verbatim"</a:t>
            </a:r>
          </a:p>
          <a:p>
            <a:r>
              <a:t>    },</a:t>
            </a:r>
          </a:p>
          <a:p>
            <a:r>
              <a:t>    {</a:t>
            </a:r>
          </a:p>
          <a:p>
            <a:r>
              <a:t>      "text": "横ばい",</a:t>
            </a:r>
          </a:p>
          <a:p>
            <a:r>
              <a:t>      "refs": [</a:t>
            </a:r>
          </a:p>
          <a:p>
            <a:r>
              <a:t>        {</a:t>
            </a:r>
          </a:p>
          <a:p>
            <a:r>
              <a:t>          "source_id": "s001",</a:t>
            </a:r>
          </a:p>
          <a:p>
            <a:r>
              <a:t>          "quote": "横ばい"</a:t>
            </a:r>
          </a:p>
          <a:p>
            <a:r>
              <a:t>        }</a:t>
            </a:r>
          </a:p>
          <a:p>
            <a:r>
              <a:t>      ],</a:t>
            </a:r>
          </a:p>
          <a:p>
            <a:r>
              <a:t>      "mode": "verbatim"</a:t>
            </a:r>
          </a:p>
          <a:p>
            <a:r>
              <a:t>    }</a:t>
            </a:r>
          </a:p>
          <a:p>
            <a:r>
              <a:t>  ],</a:t>
            </a:r>
          </a:p>
          <a:p>
            <a:r>
              <a:t>  "citations": {</a:t>
            </a:r>
          </a:p>
          <a:p>
            <a:r>
              <a:t>    "s001": "Public MIT sample: templates/freeform_parts_16x9.html section 13"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"a1497a0b7b57568eeee79484e40a9829f26cfb229e648698ad1f388e31535838"</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状態ヒートマップ＋右コメント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8734529" y="1628784"/>
            <a:ext cx="144000" cy="144000"/>
          </a:xfrm>
          <a:prstGeom prst="rect">
            <a:avLst/>
          </a:prstGeom>
          <a:solidFill>
            <a:srgbClr val="322014"/>
          </a:solidFill>
          <a:ln/>
        </p:spPr>
        <p:txBody>
          <a:bodyPr>
            <a:noAutofit/>
          </a:bodyPr>
          <a:p/>
        </p:txBody>
      </p:sp>
      <p:sp>
        <p:nvSpPr>
          <p:cNvPr id="11" name="static:legend_11"/>
          <p:cNvSpPr/>
          <p:nvPr/>
        </p:nvSpPr>
        <p:spPr>
          <a:xfrm>
            <a:off x="893252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大きく改善</a:t>
            </a:r>
            <a:endParaRPr lang="en-US" sz="800" dirty="0"/>
          </a:p>
        </p:txBody>
      </p:sp>
      <p:sp>
        <p:nvSpPr>
          <p:cNvPr id="12" name="shape:012"/>
          <p:cNvSpPr/>
          <p:nvPr/>
        </p:nvSpPr>
        <p:spPr>
          <a:xfrm>
            <a:off x="9724601" y="1628784"/>
            <a:ext cx="144000" cy="144000"/>
          </a:xfrm>
          <a:prstGeom prst="rect">
            <a:avLst/>
          </a:prstGeom>
          <a:solidFill>
            <a:srgbClr val="5A3921"/>
          </a:solidFill>
          <a:ln/>
        </p:spPr>
        <p:txBody>
          <a:bodyPr>
            <a:noAutofit/>
          </a:bodyPr>
          <a:p/>
        </p:txBody>
      </p:sp>
      <p:sp>
        <p:nvSpPr>
          <p:cNvPr id="13" name="static:legend_13"/>
          <p:cNvSpPr/>
          <p:nvPr/>
        </p:nvSpPr>
        <p:spPr>
          <a:xfrm>
            <a:off x="9922601"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改善</a:t>
            </a:r>
            <a:endParaRPr lang="en-US" sz="800" dirty="0"/>
          </a:p>
        </p:txBody>
      </p:sp>
      <p:sp>
        <p:nvSpPr>
          <p:cNvPr id="14" name="shape:014"/>
          <p:cNvSpPr/>
          <p:nvPr/>
        </p:nvSpPr>
        <p:spPr>
          <a:xfrm>
            <a:off x="10390975" y="1628784"/>
            <a:ext cx="144000" cy="144000"/>
          </a:xfrm>
          <a:prstGeom prst="rect">
            <a:avLst/>
          </a:prstGeom>
          <a:solidFill>
            <a:srgbClr val="E2DCD2"/>
          </a:solidFill>
          <a:ln/>
        </p:spPr>
        <p:txBody>
          <a:bodyPr>
            <a:noAutofit/>
          </a:bodyPr>
          <a:p/>
        </p:txBody>
      </p:sp>
      <p:sp>
        <p:nvSpPr>
          <p:cNvPr id="15" name="static:legend_15"/>
          <p:cNvSpPr/>
          <p:nvPr/>
        </p:nvSpPr>
        <p:spPr>
          <a:xfrm>
            <a:off x="10588975"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横ばい</a:t>
            </a:r>
            <a:endParaRPr lang="en-US" sz="800" dirty="0"/>
          </a:p>
        </p:txBody>
      </p:sp>
      <p:sp>
        <p:nvSpPr>
          <p:cNvPr id="16" name="shape:016"/>
          <p:cNvSpPr/>
          <p:nvPr/>
        </p:nvSpPr>
        <p:spPr>
          <a:xfrm>
            <a:off x="11165249" y="1628784"/>
            <a:ext cx="144000" cy="144000"/>
          </a:xfrm>
          <a:prstGeom prst="rect">
            <a:avLst/>
          </a:prstGeom>
          <a:solidFill>
            <a:srgbClr val="C5A681"/>
          </a:solidFill>
          <a:ln/>
        </p:spPr>
        <p:txBody>
          <a:bodyPr>
            <a:noAutofit/>
          </a:bodyPr>
          <a:p/>
        </p:txBody>
      </p:sp>
      <p:sp>
        <p:nvSpPr>
          <p:cNvPr id="17" name="static:legend_17"/>
          <p:cNvSpPr/>
          <p:nvPr/>
        </p:nvSpPr>
        <p:spPr>
          <a:xfrm>
            <a:off x="11363249"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悪化</a:t>
            </a:r>
            <a:endParaRPr lang="en-US" sz="800" dirty="0"/>
          </a:p>
        </p:txBody>
      </p:sp>
      <p:sp>
        <p:nvSpPr>
          <p:cNvPr id="18" name="shape:018"/>
          <p:cNvSpPr/>
          <p:nvPr/>
        </p:nvSpPr>
        <p:spPr>
          <a:xfrm>
            <a:off x="576072" y="1972224"/>
            <a:ext cx="3944284" cy="274320"/>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指標カテゴリー別の状況</a:t>
            </a:r>
            <a:endParaRPr lang="en-US" sz="1150" dirty="0"/>
          </a:p>
        </p:txBody>
      </p:sp>
      <p:sp>
        <p:nvSpPr>
          <p:cNvPr id="19" name="shape:019"/>
          <p:cNvSpPr/>
          <p:nvPr/>
        </p:nvSpPr>
        <p:spPr>
          <a:xfrm>
            <a:off x="4520356" y="1972224"/>
            <a:ext cx="1828800" cy="274320"/>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2026年M月時点</a:t>
            </a:r>
            <a:endParaRPr lang="en-US" sz="850" dirty="0"/>
          </a:p>
        </p:txBody>
      </p:sp>
      <p:sp>
        <p:nvSpPr>
          <p:cNvPr id="20" name="shape:020"/>
          <p:cNvSpPr/>
          <p:nvPr/>
        </p:nvSpPr>
        <p:spPr>
          <a:xfrm>
            <a:off x="576072" y="2283120"/>
            <a:ext cx="5773084" cy="0"/>
          </a:xfrm>
          <a:prstGeom prst="line">
            <a:avLst/>
          </a:prstGeom>
          <a:noFill/>
          <a:ln w="17780">
            <a:solidFill>
              <a:srgbClr val="322014"/>
            </a:solidFill>
            <a:prstDash val="solid"/>
          </a:ln>
        </p:spPr>
        <p:txBody>
          <a:bodyPr>
            <a:noAutofit/>
          </a:bodyPr>
          <a:p/>
        </p:txBody>
      </p:sp>
      <p:graphicFrame>
        <p:nvGraphicFramePr>
          <p:cNvPr id="37" name="shape:037"/>
          <p:cNvGraphicFramePr>
            <a:graphicFrameLocks noGrp="1"/>
          </p:cNvGraphicFramePr>
          <p:nvPr>
            <p:extLst>
              <p:ext uri="{D42A27DB-BD31-4B8C-83A1-F6EECF244321}">
                <p14:modId xmlns:p14="http://schemas.microsoft.com/office/powerpoint/2010/main" val="1579011935"/>
              </p:ext>
            </p:extLst>
          </p:nvPr>
        </p:nvGraphicFramePr>
        <p:xfrm>
          <a:off x="576072" y="2392848"/>
          <a:ext cx="5773084" cy="914400"/>
        </p:xfrm>
        <a:graphic>
          <a:graphicData uri="http://schemas.openxmlformats.org/drawingml/2006/table">
            <a:tbl>
              <a:tblPr/>
              <a:tblGrid>
                <a:gridCol w="2437524"/>
                <a:gridCol w="1667780"/>
                <a:gridCol w="1667780"/>
              </a:tblGrid>
              <a:tr h="36576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指標カテゴリー</a:t>
                      </a:r>
                      <a:endParaRPr lang="en-US" sz="10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前月比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前年比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22" name="shape:022"/>
          <p:cNvSpPr/>
          <p:nvPr/>
        </p:nvSpPr>
        <p:spPr>
          <a:xfrm>
            <a:off x="3103596" y="3095307"/>
            <a:ext cx="1487780" cy="180000"/>
          </a:xfrm>
          <a:prstGeom prst="rect">
            <a:avLst/>
          </a:prstGeom>
          <a:solidFill>
            <a:srgbClr val="322014"/>
          </a:solidFill>
          <a:ln/>
        </p:spPr>
        <p:txBody>
          <a:bodyPr>
            <a:noAutofit/>
          </a:bodyPr>
          <a:p/>
        </p:txBody>
      </p:sp>
      <p:sp>
        <p:nvSpPr>
          <p:cNvPr id="23" name="shape:023"/>
          <p:cNvSpPr/>
          <p:nvPr/>
        </p:nvSpPr>
        <p:spPr>
          <a:xfrm>
            <a:off x="4771376" y="3095307"/>
            <a:ext cx="1487780" cy="180000"/>
          </a:xfrm>
          <a:prstGeom prst="rect">
            <a:avLst/>
          </a:prstGeom>
          <a:solidFill>
            <a:srgbClr val="C5A681"/>
          </a:solidFill>
          <a:ln/>
        </p:spPr>
        <p:txBody>
          <a:bodyPr>
            <a:noAutofit/>
          </a:bodyPr>
          <a:p/>
        </p:txBody>
      </p:sp>
      <p:sp>
        <p:nvSpPr>
          <p:cNvPr id="24" name="shape:024"/>
          <p:cNvSpPr/>
          <p:nvPr/>
        </p:nvSpPr>
        <p:spPr>
          <a:xfrm>
            <a:off x="3103596" y="3948705"/>
            <a:ext cx="1487780" cy="180000"/>
          </a:xfrm>
          <a:prstGeom prst="rect">
            <a:avLst/>
          </a:prstGeom>
          <a:solidFill>
            <a:srgbClr val="5A3921"/>
          </a:solidFill>
          <a:ln/>
        </p:spPr>
        <p:txBody>
          <a:bodyPr>
            <a:noAutofit/>
          </a:bodyPr>
          <a:p/>
        </p:txBody>
      </p:sp>
      <p:sp>
        <p:nvSpPr>
          <p:cNvPr id="25" name="shape:025"/>
          <p:cNvSpPr/>
          <p:nvPr/>
        </p:nvSpPr>
        <p:spPr>
          <a:xfrm>
            <a:off x="4771376" y="3948705"/>
            <a:ext cx="1487780" cy="180000"/>
          </a:xfrm>
          <a:prstGeom prst="rect">
            <a:avLst/>
          </a:prstGeom>
          <a:solidFill>
            <a:srgbClr val="5A3921"/>
          </a:solidFill>
          <a:ln/>
        </p:spPr>
        <p:txBody>
          <a:bodyPr>
            <a:noAutofit/>
          </a:bodyPr>
          <a:p/>
        </p:txBody>
      </p:sp>
      <p:sp>
        <p:nvSpPr>
          <p:cNvPr id="26" name="shape:026"/>
          <p:cNvSpPr/>
          <p:nvPr/>
        </p:nvSpPr>
        <p:spPr>
          <a:xfrm>
            <a:off x="3103596" y="4802103"/>
            <a:ext cx="1487780" cy="180000"/>
          </a:xfrm>
          <a:prstGeom prst="rect">
            <a:avLst/>
          </a:prstGeom>
          <a:solidFill>
            <a:srgbClr val="E2DCD2"/>
          </a:solidFill>
          <a:ln/>
        </p:spPr>
        <p:txBody>
          <a:bodyPr>
            <a:noAutofit/>
          </a:bodyPr>
          <a:p/>
        </p:txBody>
      </p:sp>
      <p:sp>
        <p:nvSpPr>
          <p:cNvPr id="27" name="shape:027"/>
          <p:cNvSpPr/>
          <p:nvPr/>
        </p:nvSpPr>
        <p:spPr>
          <a:xfrm>
            <a:off x="4771376" y="4802103"/>
            <a:ext cx="1487780" cy="180000"/>
          </a:xfrm>
          <a:prstGeom prst="rect">
            <a:avLst/>
          </a:prstGeom>
          <a:solidFill>
            <a:srgbClr val="322014"/>
          </a:solidFill>
          <a:ln/>
        </p:spPr>
        <p:txBody>
          <a:bodyPr>
            <a:noAutofit/>
          </a:bodyPr>
          <a:p/>
        </p:txBody>
      </p:sp>
      <p:sp>
        <p:nvSpPr>
          <p:cNvPr id="28" name="shape:028"/>
          <p:cNvSpPr/>
          <p:nvPr/>
        </p:nvSpPr>
        <p:spPr>
          <a:xfrm>
            <a:off x="3103596" y="5655501"/>
            <a:ext cx="1487780" cy="180000"/>
          </a:xfrm>
          <a:prstGeom prst="rect">
            <a:avLst/>
          </a:prstGeom>
          <a:solidFill>
            <a:srgbClr val="C5A681"/>
          </a:solidFill>
          <a:ln/>
        </p:spPr>
        <p:txBody>
          <a:bodyPr>
            <a:noAutofit/>
          </a:bodyPr>
          <a:p/>
        </p:txBody>
      </p:sp>
      <p:sp>
        <p:nvSpPr>
          <p:cNvPr id="29" name="shape:029"/>
          <p:cNvSpPr/>
          <p:nvPr/>
        </p:nvSpPr>
        <p:spPr>
          <a:xfrm>
            <a:off x="4771376" y="5655501"/>
            <a:ext cx="1487780" cy="180000"/>
          </a:xfrm>
          <a:prstGeom prst="rect">
            <a:avLst/>
          </a:prstGeom>
          <a:solidFill>
            <a:srgbClr val="E2DCD2"/>
          </a:solidFill>
          <a:ln/>
        </p:spPr>
        <p:txBody>
          <a:bodyPr>
            <a:noAutofit/>
          </a:bodyPr>
          <a:p/>
        </p:txBody>
      </p:sp>
      <p:sp>
        <p:nvSpPr>
          <p:cNvPr id="30" name="shape:030"/>
          <p:cNvSpPr/>
          <p:nvPr/>
        </p:nvSpPr>
        <p:spPr>
          <a:xfrm rot="5400000">
            <a:off x="6493156" y="3964212"/>
            <a:ext cx="360000" cy="216000"/>
          </a:xfrm>
          <a:prstGeom prst="triangle">
            <a:avLst/>
          </a:prstGeom>
          <a:solidFill>
            <a:srgbClr val="C5A681"/>
          </a:solidFill>
          <a:ln/>
        </p:spPr>
        <p:txBody>
          <a:bodyPr>
            <a:noAutofit/>
          </a:bodyPr>
          <a:p/>
        </p:txBody>
      </p:sp>
      <p:sp>
        <p:nvSpPr>
          <p:cNvPr id="31" name="shape:031"/>
          <p:cNvSpPr/>
          <p:nvPr/>
        </p:nvSpPr>
        <p:spPr>
          <a:xfrm>
            <a:off x="6997156" y="1972224"/>
            <a:ext cx="4618467"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だから、次に見るべき点</a:t>
            </a:r>
            <a:endParaRPr lang="en-US" sz="1150" dirty="0"/>
          </a:p>
        </p:txBody>
      </p:sp>
      <p:sp>
        <p:nvSpPr>
          <p:cNvPr id="32" name="shape:032"/>
          <p:cNvSpPr/>
          <p:nvPr/>
        </p:nvSpPr>
        <p:spPr>
          <a:xfrm>
            <a:off x="6997156" y="2283120"/>
            <a:ext cx="4618467" cy="0"/>
          </a:xfrm>
          <a:prstGeom prst="line">
            <a:avLst/>
          </a:prstGeom>
          <a:noFill/>
          <a:ln w="17780">
            <a:solidFill>
              <a:srgbClr val="322014"/>
            </a:solidFill>
            <a:prstDash val="solid"/>
          </a:ln>
        </p:spPr>
        <p:txBody>
          <a:bodyPr>
            <a:noAutofit/>
          </a:bodyPr>
          <a:p/>
        </p:txBody>
      </p:sp>
      <p:sp>
        <p:nvSpPr>
          <p:cNvPr id="33" name="shape:033"/>
          <p:cNvSpPr/>
          <p:nvPr/>
        </p:nvSpPr>
        <p:spPr>
          <a:xfrm>
            <a:off x="6997156" y="2392848"/>
            <a:ext cx="4618467" cy="377935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