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"calc_flow", "upstream_commit": "e5dd04dc6f1acf010046d2fc7319bcf5242a849a", "source_pptx_slide": 51,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27  CALC_FLOW</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計算ロジックの流れ</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51</a:t>
            </a:r>
            <a:endParaRPr lang="en-US" sz="750" dirty="0"/>
          </a:p>
        </p:txBody>
      </p:sp>
      <p:sp>
        <p:nvSpPr>
          <p:cNvPr id="10" name="shape:010"/>
          <p:cNvSpPr/>
          <p:nvPr/>
        </p:nvSpPr>
        <p:spPr>
          <a:xfrm>
            <a:off x="576072" y="1874520"/>
            <a:ext cx="11039551"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指標名、単位</a:t>
            </a:r>
            <a:endParaRPr lang="en-US" sz="1400" dirty="0"/>
          </a:p>
        </p:txBody>
      </p:sp>
      <p:sp>
        <p:nvSpPr>
          <p:cNvPr id="11" name="shape:011"/>
          <p:cNvSpPr/>
          <p:nvPr/>
        </p:nvSpPr>
        <p:spPr>
          <a:xfrm>
            <a:off x="576072" y="2286000"/>
            <a:ext cx="31921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ラベル3</a:t>
            </a:r>
            <a:endParaRPr lang="en-US" sz="1200" dirty="0"/>
          </a:p>
        </p:txBody>
      </p:sp>
      <p:sp>
        <p:nvSpPr>
          <p:cNvPr id="12" name="shape:012"/>
          <p:cNvSpPr/>
          <p:nvPr/>
        </p:nvSpPr>
        <p:spPr>
          <a:xfrm>
            <a:off x="576072" y="2596896"/>
            <a:ext cx="3192170" cy="0"/>
          </a:xfrm>
          <a:prstGeom prst="line">
            <a:avLst/>
          </a:prstGeom>
          <a:noFill/>
          <a:ln w="6350">
            <a:solidFill>
              <a:srgbClr val="E2DCD2"/>
            </a:solidFill>
            <a:prstDash val="solid"/>
          </a:ln>
        </p:spPr>
        <p:txBody>
          <a:bodyPr>
            <a:noAutofit/>
          </a:bodyPr>
          <a:p/>
        </p:txBody>
      </p:sp>
      <p:sp>
        <p:nvSpPr>
          <p:cNvPr id="13" name="shape:013"/>
          <p:cNvSpPr/>
          <p:nvPr/>
        </p:nvSpPr>
        <p:spPr>
          <a:xfrm>
            <a:off x="833780" y="4907280"/>
            <a:ext cx="548640" cy="432816"/>
          </a:xfrm>
          <a:prstGeom prst="rect">
            <a:avLst/>
          </a:prstGeom>
          <a:solidFill>
            <a:srgbClr val="322014"/>
          </a:solidFill>
          <a:ln/>
        </p:spPr>
        <p:txBody>
          <a:bodyPr>
            <a:noAutofit/>
          </a:bodyPr>
          <a:p/>
        </p:txBody>
      </p:sp>
      <p:sp>
        <p:nvSpPr>
          <p:cNvPr id="14" name="shape:014"/>
          <p:cNvSpPr/>
          <p:nvPr/>
        </p:nvSpPr>
        <p:spPr>
          <a:xfrm>
            <a:off x="833780" y="4907280"/>
            <a:ext cx="548640" cy="43281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1</a:t>
            </a:r>
            <a:endParaRPr lang="en-US" sz="900" dirty="0"/>
          </a:p>
        </p:txBody>
      </p:sp>
      <p:sp>
        <p:nvSpPr>
          <p:cNvPr id="15" name="shape:015"/>
          <p:cNvSpPr/>
          <p:nvPr/>
        </p:nvSpPr>
        <p:spPr>
          <a:xfrm>
            <a:off x="576072"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ラベル4</a:t>
            </a:r>
            <a:endParaRPr lang="en-US" sz="1000" dirty="0"/>
          </a:p>
        </p:txBody>
      </p:sp>
      <p:sp>
        <p:nvSpPr>
          <p:cNvPr id="16" name="shape:016"/>
          <p:cNvSpPr/>
          <p:nvPr/>
        </p:nvSpPr>
        <p:spPr>
          <a:xfrm>
            <a:off x="1897837" y="4041648"/>
            <a:ext cx="548640" cy="1298448"/>
          </a:xfrm>
          <a:prstGeom prst="rect">
            <a:avLst/>
          </a:prstGeom>
          <a:solidFill>
            <a:srgbClr val="322014"/>
          </a:solidFill>
          <a:ln/>
        </p:spPr>
        <p:txBody>
          <a:bodyPr>
            <a:noAutofit/>
          </a:bodyPr>
          <a:p/>
        </p:txBody>
      </p:sp>
      <p:sp>
        <p:nvSpPr>
          <p:cNvPr id="17" name="shape:017"/>
          <p:cNvSpPr/>
          <p:nvPr/>
        </p:nvSpPr>
        <p:spPr>
          <a:xfrm>
            <a:off x="1897837" y="4041648"/>
            <a:ext cx="548640" cy="1298448"/>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3</a:t>
            </a:r>
            <a:endParaRPr lang="en-US" sz="900" dirty="0"/>
          </a:p>
        </p:txBody>
      </p:sp>
      <p:sp>
        <p:nvSpPr>
          <p:cNvPr id="18" name="shape:018"/>
          <p:cNvSpPr/>
          <p:nvPr/>
        </p:nvSpPr>
        <p:spPr>
          <a:xfrm>
            <a:off x="1640129"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ラベル5</a:t>
            </a:r>
            <a:endParaRPr lang="en-US" sz="1000" dirty="0"/>
          </a:p>
        </p:txBody>
      </p:sp>
      <p:sp>
        <p:nvSpPr>
          <p:cNvPr id="19" name="shape:019"/>
          <p:cNvSpPr/>
          <p:nvPr/>
        </p:nvSpPr>
        <p:spPr>
          <a:xfrm>
            <a:off x="2961894" y="2743200"/>
            <a:ext cx="548640" cy="2596896"/>
          </a:xfrm>
          <a:prstGeom prst="rect">
            <a:avLst/>
          </a:prstGeom>
          <a:solidFill>
            <a:srgbClr val="322014"/>
          </a:solidFill>
          <a:ln/>
        </p:spPr>
        <p:txBody>
          <a:bodyPr>
            <a:noAutofit/>
          </a:bodyPr>
          <a:p/>
        </p:txBody>
      </p:sp>
      <p:sp>
        <p:nvSpPr>
          <p:cNvPr id="20" name="shape:020"/>
          <p:cNvSpPr/>
          <p:nvPr/>
        </p:nvSpPr>
        <p:spPr>
          <a:xfrm>
            <a:off x="2961894"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6</a:t>
            </a:r>
            <a:endParaRPr lang="en-US" sz="900" dirty="0"/>
          </a:p>
        </p:txBody>
      </p:sp>
      <p:sp>
        <p:nvSpPr>
          <p:cNvPr id="21" name="shape:021"/>
          <p:cNvSpPr/>
          <p:nvPr/>
        </p:nvSpPr>
        <p:spPr>
          <a:xfrm>
            <a:off x="2704186"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ラベル6</a:t>
            </a:r>
            <a:endParaRPr lang="en-US" sz="1000" dirty="0"/>
          </a:p>
        </p:txBody>
      </p:sp>
      <p:sp>
        <p:nvSpPr>
          <p:cNvPr id="22" name="static:operator_22"/>
          <p:cNvSpPr/>
          <p:nvPr/>
        </p:nvSpPr>
        <p:spPr>
          <a:xfrm>
            <a:off x="3836822" y="2286000"/>
            <a:ext cx="594360" cy="3328416"/>
          </a:xfrm>
          <a:prstGeom prst="rect">
            <a:avLst/>
          </a:prstGeom>
          <a:noFill/>
          <a:ln/>
        </p:spPr>
        <p:txBody>
          <a:bodyPr wrap="square" lIns="381" tIns="381" rIns="381" bIns="381" rtlCol="0" anchor="ctr">
            <a:noAutofit/>
          </a:bodyPr>
          <a:lstStyle/>
          <a:p>
            <a:pPr algn="ctr" indent="0" marL="0">
              <a:buNone/>
            </a:pPr>
            <a:r>
              <a:rPr lang="en-US" sz="3000" b="1" dirty="0">
                <a:solidFill>
                  <a:srgbClr val="322014"/>
                </a:solidFill>
                <a:latin typeface="Yu Gothic" pitchFamily="34" charset="0"/>
                <a:ea typeface="Yu Gothic" pitchFamily="34" charset="-122"/>
                <a:cs typeface="Yu Gothic" pitchFamily="34" charset="-120"/>
              </a:rPr>
              <a:t>×</a:t>
            </a:r>
            <a:endParaRPr lang="en-US" sz="3000" dirty="0"/>
          </a:p>
        </p:txBody>
      </p:sp>
      <p:sp>
        <p:nvSpPr>
          <p:cNvPr id="23" name="shape:023"/>
          <p:cNvSpPr/>
          <p:nvPr/>
        </p:nvSpPr>
        <p:spPr>
          <a:xfrm>
            <a:off x="4499762" y="2286000"/>
            <a:ext cx="31921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ラベル7</a:t>
            </a:r>
            <a:endParaRPr lang="en-US" sz="1200" dirty="0"/>
          </a:p>
        </p:txBody>
      </p:sp>
      <p:sp>
        <p:nvSpPr>
          <p:cNvPr id="24" name="shape:024"/>
          <p:cNvSpPr/>
          <p:nvPr/>
        </p:nvSpPr>
        <p:spPr>
          <a:xfrm>
            <a:off x="4499762" y="2596896"/>
            <a:ext cx="3192170" cy="0"/>
          </a:xfrm>
          <a:prstGeom prst="line">
            <a:avLst/>
          </a:prstGeom>
          <a:noFill/>
          <a:ln w="6350">
            <a:solidFill>
              <a:srgbClr val="E2DCD2"/>
            </a:solidFill>
            <a:prstDash val="solid"/>
          </a:ln>
        </p:spPr>
        <p:txBody>
          <a:bodyPr>
            <a:noAutofit/>
          </a:bodyPr>
          <a:p/>
        </p:txBody>
      </p:sp>
      <p:sp>
        <p:nvSpPr>
          <p:cNvPr id="25" name="shape:025"/>
          <p:cNvSpPr/>
          <p:nvPr/>
        </p:nvSpPr>
        <p:spPr>
          <a:xfrm>
            <a:off x="4757471" y="2743200"/>
            <a:ext cx="548640" cy="2596896"/>
          </a:xfrm>
          <a:prstGeom prst="rect">
            <a:avLst/>
          </a:prstGeom>
          <a:solidFill>
            <a:srgbClr val="322014"/>
          </a:solidFill>
          <a:ln/>
        </p:spPr>
        <p:txBody>
          <a:bodyPr>
            <a:noAutofit/>
          </a:bodyPr>
          <a:p/>
        </p:txBody>
      </p:sp>
      <p:sp>
        <p:nvSpPr>
          <p:cNvPr id="26" name="shape:026"/>
          <p:cNvSpPr/>
          <p:nvPr/>
        </p:nvSpPr>
        <p:spPr>
          <a:xfrm>
            <a:off x="4757471"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2</a:t>
            </a:r>
            <a:endParaRPr lang="en-US" sz="900" dirty="0"/>
          </a:p>
        </p:txBody>
      </p:sp>
      <p:sp>
        <p:nvSpPr>
          <p:cNvPr id="27" name="shape:027"/>
          <p:cNvSpPr/>
          <p:nvPr/>
        </p:nvSpPr>
        <p:spPr>
          <a:xfrm>
            <a:off x="4499762"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ラベル8</a:t>
            </a:r>
            <a:endParaRPr lang="en-US" sz="1000" dirty="0"/>
          </a:p>
        </p:txBody>
      </p:sp>
      <p:sp>
        <p:nvSpPr>
          <p:cNvPr id="28" name="shape:028"/>
          <p:cNvSpPr/>
          <p:nvPr/>
        </p:nvSpPr>
        <p:spPr>
          <a:xfrm>
            <a:off x="5821528" y="2743200"/>
            <a:ext cx="548640" cy="2596896"/>
          </a:xfrm>
          <a:prstGeom prst="rect">
            <a:avLst/>
          </a:prstGeom>
          <a:solidFill>
            <a:srgbClr val="322014"/>
          </a:solidFill>
          <a:ln/>
        </p:spPr>
        <p:txBody>
          <a:bodyPr>
            <a:noAutofit/>
          </a:bodyPr>
          <a:p/>
        </p:txBody>
      </p:sp>
      <p:sp>
        <p:nvSpPr>
          <p:cNvPr id="29" name="shape:029"/>
          <p:cNvSpPr/>
          <p:nvPr/>
        </p:nvSpPr>
        <p:spPr>
          <a:xfrm>
            <a:off x="5821528"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2</a:t>
            </a:r>
            <a:endParaRPr lang="en-US" sz="900" dirty="0"/>
          </a:p>
        </p:txBody>
      </p:sp>
      <p:sp>
        <p:nvSpPr>
          <p:cNvPr id="30" name="shape:030"/>
          <p:cNvSpPr/>
          <p:nvPr/>
        </p:nvSpPr>
        <p:spPr>
          <a:xfrm>
            <a:off x="5563819"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ラベル9</a:t>
            </a:r>
            <a:endParaRPr lang="en-US" sz="1000" dirty="0"/>
          </a:p>
        </p:txBody>
      </p:sp>
      <p:sp>
        <p:nvSpPr>
          <p:cNvPr id="31" name="shape:031"/>
          <p:cNvSpPr/>
          <p:nvPr/>
        </p:nvSpPr>
        <p:spPr>
          <a:xfrm>
            <a:off x="6885584" y="2743200"/>
            <a:ext cx="548640" cy="2596896"/>
          </a:xfrm>
          <a:prstGeom prst="rect">
            <a:avLst/>
          </a:prstGeom>
          <a:solidFill>
            <a:srgbClr val="322014"/>
          </a:solidFill>
          <a:ln/>
        </p:spPr>
        <p:txBody>
          <a:bodyPr>
            <a:noAutofit/>
          </a:bodyPr>
          <a:p/>
        </p:txBody>
      </p:sp>
      <p:sp>
        <p:nvSpPr>
          <p:cNvPr id="32" name="shape:032"/>
          <p:cNvSpPr/>
          <p:nvPr/>
        </p:nvSpPr>
        <p:spPr>
          <a:xfrm>
            <a:off x="6885584" y="2743200"/>
            <a:ext cx="548640" cy="259689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2</a:t>
            </a:r>
            <a:endParaRPr lang="en-US" sz="900" dirty="0"/>
          </a:p>
        </p:txBody>
      </p:sp>
      <p:sp>
        <p:nvSpPr>
          <p:cNvPr id="33" name="shape:033"/>
          <p:cNvSpPr/>
          <p:nvPr/>
        </p:nvSpPr>
        <p:spPr>
          <a:xfrm>
            <a:off x="6627876"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ラベル10</a:t>
            </a:r>
            <a:endParaRPr lang="en-US" sz="1000" dirty="0"/>
          </a:p>
        </p:txBody>
      </p:sp>
      <p:sp>
        <p:nvSpPr>
          <p:cNvPr id="34" name="static:operator_34"/>
          <p:cNvSpPr/>
          <p:nvPr/>
        </p:nvSpPr>
        <p:spPr>
          <a:xfrm>
            <a:off x="7760513" y="2286000"/>
            <a:ext cx="594360" cy="3328416"/>
          </a:xfrm>
          <a:prstGeom prst="rect">
            <a:avLst/>
          </a:prstGeom>
          <a:noFill/>
          <a:ln/>
        </p:spPr>
        <p:txBody>
          <a:bodyPr wrap="square" lIns="381" tIns="381" rIns="381" bIns="381" rtlCol="0" anchor="ctr">
            <a:noAutofit/>
          </a:bodyPr>
          <a:lstStyle/>
          <a:p>
            <a:pPr algn="ctr" indent="0" marL="0">
              <a:buNone/>
            </a:pPr>
            <a:r>
              <a:rPr lang="en-US" sz="3000" b="1" dirty="0">
                <a:solidFill>
                  <a:srgbClr val="322014"/>
                </a:solidFill>
                <a:latin typeface="Yu Gothic" pitchFamily="34" charset="0"/>
                <a:ea typeface="Yu Gothic" pitchFamily="34" charset="-122"/>
                <a:cs typeface="Yu Gothic" pitchFamily="34" charset="-120"/>
              </a:rPr>
              <a:t>=</a:t>
            </a:r>
            <a:endParaRPr lang="en-US" sz="3000" dirty="0"/>
          </a:p>
        </p:txBody>
      </p:sp>
      <p:sp>
        <p:nvSpPr>
          <p:cNvPr id="35" name="shape:035"/>
          <p:cNvSpPr/>
          <p:nvPr/>
        </p:nvSpPr>
        <p:spPr>
          <a:xfrm>
            <a:off x="8423453" y="2286000"/>
            <a:ext cx="31921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ラベル11</a:t>
            </a:r>
            <a:endParaRPr lang="en-US" sz="1200" dirty="0"/>
          </a:p>
        </p:txBody>
      </p:sp>
      <p:sp>
        <p:nvSpPr>
          <p:cNvPr id="36" name="shape:036"/>
          <p:cNvSpPr/>
          <p:nvPr/>
        </p:nvSpPr>
        <p:spPr>
          <a:xfrm>
            <a:off x="8423453" y="2596896"/>
            <a:ext cx="3192170" cy="0"/>
          </a:xfrm>
          <a:prstGeom prst="line">
            <a:avLst/>
          </a:prstGeom>
          <a:noFill/>
          <a:ln w="6350">
            <a:solidFill>
              <a:srgbClr val="E2DCD2"/>
            </a:solidFill>
            <a:prstDash val="solid"/>
          </a:ln>
        </p:spPr>
        <p:txBody>
          <a:bodyPr>
            <a:noAutofit/>
          </a:bodyPr>
          <a:p/>
        </p:txBody>
      </p:sp>
      <p:sp>
        <p:nvSpPr>
          <p:cNvPr id="37" name="shape:037"/>
          <p:cNvSpPr/>
          <p:nvPr/>
        </p:nvSpPr>
        <p:spPr>
          <a:xfrm>
            <a:off x="8681161" y="4930060"/>
            <a:ext cx="548640" cy="410036"/>
          </a:xfrm>
          <a:prstGeom prst="rect">
            <a:avLst/>
          </a:prstGeom>
          <a:solidFill>
            <a:srgbClr val="322014"/>
          </a:solidFill>
          <a:ln/>
        </p:spPr>
        <p:txBody>
          <a:bodyPr>
            <a:noAutofit/>
          </a:bodyPr>
          <a:p/>
        </p:txBody>
      </p:sp>
      <p:sp>
        <p:nvSpPr>
          <p:cNvPr id="38" name="shape:038"/>
          <p:cNvSpPr/>
          <p:nvPr/>
        </p:nvSpPr>
        <p:spPr>
          <a:xfrm>
            <a:off x="8681161" y="4930060"/>
            <a:ext cx="548640" cy="410036"/>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1.5</a:t>
            </a:r>
            <a:endParaRPr lang="en-US" sz="900" dirty="0"/>
          </a:p>
        </p:txBody>
      </p:sp>
      <p:sp>
        <p:nvSpPr>
          <p:cNvPr id="39" name="shape:039"/>
          <p:cNvSpPr/>
          <p:nvPr/>
        </p:nvSpPr>
        <p:spPr>
          <a:xfrm>
            <a:off x="8681161" y="4793381"/>
            <a:ext cx="548640" cy="136679"/>
          </a:xfrm>
          <a:prstGeom prst="rect">
            <a:avLst/>
          </a:prstGeom>
          <a:solidFill>
            <a:srgbClr val="5A3921"/>
          </a:solidFill>
          <a:ln/>
        </p:spPr>
        <p:txBody>
          <a:bodyPr>
            <a:noAutofit/>
          </a:bodyPr>
          <a:p/>
        </p:txBody>
      </p:sp>
      <p:sp>
        <p:nvSpPr>
          <p:cNvPr id="40" name="shape:040"/>
          <p:cNvSpPr/>
          <p:nvPr/>
        </p:nvSpPr>
        <p:spPr>
          <a:xfrm>
            <a:off x="8423453"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ラベル12</a:t>
            </a:r>
            <a:endParaRPr lang="en-US" sz="1000" dirty="0"/>
          </a:p>
        </p:txBody>
      </p:sp>
      <p:sp>
        <p:nvSpPr>
          <p:cNvPr id="41" name="shape:041"/>
          <p:cNvSpPr/>
          <p:nvPr/>
        </p:nvSpPr>
        <p:spPr>
          <a:xfrm>
            <a:off x="9745218" y="4301338"/>
            <a:ext cx="548640" cy="1038758"/>
          </a:xfrm>
          <a:prstGeom prst="rect">
            <a:avLst/>
          </a:prstGeom>
          <a:solidFill>
            <a:srgbClr val="322014"/>
          </a:solidFill>
          <a:ln/>
        </p:spPr>
        <p:txBody>
          <a:bodyPr>
            <a:noAutofit/>
          </a:bodyPr>
          <a:p/>
        </p:txBody>
      </p:sp>
      <p:sp>
        <p:nvSpPr>
          <p:cNvPr id="42" name="shape:042"/>
          <p:cNvSpPr/>
          <p:nvPr/>
        </p:nvSpPr>
        <p:spPr>
          <a:xfrm>
            <a:off x="9745218" y="4301338"/>
            <a:ext cx="548640" cy="1038758"/>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3.8</a:t>
            </a:r>
            <a:endParaRPr lang="en-US" sz="900" dirty="0"/>
          </a:p>
        </p:txBody>
      </p:sp>
      <p:sp>
        <p:nvSpPr>
          <p:cNvPr id="43" name="shape:043"/>
          <p:cNvSpPr/>
          <p:nvPr/>
        </p:nvSpPr>
        <p:spPr>
          <a:xfrm>
            <a:off x="9745218" y="4164659"/>
            <a:ext cx="548640" cy="136679"/>
          </a:xfrm>
          <a:prstGeom prst="rect">
            <a:avLst/>
          </a:prstGeom>
          <a:solidFill>
            <a:srgbClr val="5A3921"/>
          </a:solidFill>
          <a:ln/>
        </p:spPr>
        <p:txBody>
          <a:bodyPr>
            <a:noAutofit/>
          </a:bodyPr>
          <a:p/>
        </p:txBody>
      </p:sp>
      <p:sp>
        <p:nvSpPr>
          <p:cNvPr id="44" name="shape:044"/>
          <p:cNvSpPr/>
          <p:nvPr/>
        </p:nvSpPr>
        <p:spPr>
          <a:xfrm>
            <a:off x="9487510"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ラベル15</a:t>
            </a:r>
            <a:endParaRPr lang="en-US" sz="1000" dirty="0"/>
          </a:p>
        </p:txBody>
      </p:sp>
      <p:sp>
        <p:nvSpPr>
          <p:cNvPr id="45" name="shape:045"/>
          <p:cNvSpPr/>
          <p:nvPr/>
        </p:nvSpPr>
        <p:spPr>
          <a:xfrm>
            <a:off x="10809275" y="2879879"/>
            <a:ext cx="548640" cy="2460217"/>
          </a:xfrm>
          <a:prstGeom prst="rect">
            <a:avLst/>
          </a:prstGeom>
          <a:solidFill>
            <a:srgbClr val="322014"/>
          </a:solidFill>
          <a:ln/>
        </p:spPr>
        <p:txBody>
          <a:bodyPr>
            <a:noAutofit/>
          </a:bodyPr>
          <a:p/>
        </p:txBody>
      </p:sp>
      <p:sp>
        <p:nvSpPr>
          <p:cNvPr id="46" name="shape:046"/>
          <p:cNvSpPr/>
          <p:nvPr/>
        </p:nvSpPr>
        <p:spPr>
          <a:xfrm>
            <a:off x="10809275" y="2879879"/>
            <a:ext cx="548640" cy="2460217"/>
          </a:xfrm>
          <a:prstGeom prst="rect">
            <a:avLst/>
          </a:prstGeom>
          <a:noFill/>
          <a:ln/>
        </p:spPr>
        <p:txBody>
          <a:bodyPr wrap="square" lIns="381" tIns="381" rIns="381" bIns="381" rtlCol="0" anchor="ctr">
            <a:noAutofit/>
          </a:bodyPr>
          <a:lstStyle/>
          <a:p>
            <a:pPr algn="ctr" indent="0" marL="0">
              <a:buNone/>
            </a:pPr>
            <a:r>
              <a:rPr lang="en-US" sz="900" b="1" dirty="0">
                <a:solidFill>
                  <a:srgbClr val="FFFFFF"/>
                </a:solidFill>
                <a:latin typeface="Yu Gothic" pitchFamily="34" charset="0"/>
                <a:ea typeface="Yu Gothic" pitchFamily="34" charset="-122"/>
                <a:cs typeface="Yu Gothic" pitchFamily="34" charset="-120"/>
              </a:rPr>
              <a:t>9</a:t>
            </a:r>
            <a:endParaRPr lang="en-US" sz="900" dirty="0"/>
          </a:p>
        </p:txBody>
      </p:sp>
      <p:sp>
        <p:nvSpPr>
          <p:cNvPr id="47" name="shape:047"/>
          <p:cNvSpPr/>
          <p:nvPr/>
        </p:nvSpPr>
        <p:spPr>
          <a:xfrm>
            <a:off x="10809275" y="2743200"/>
            <a:ext cx="548640" cy="136679"/>
          </a:xfrm>
          <a:prstGeom prst="rect">
            <a:avLst/>
          </a:prstGeom>
          <a:solidFill>
            <a:srgbClr val="5A3921"/>
          </a:solidFill>
          <a:ln/>
        </p:spPr>
        <p:txBody>
          <a:bodyPr>
            <a:noAutofit/>
          </a:bodyPr>
          <a:p/>
        </p:txBody>
      </p:sp>
      <p:sp>
        <p:nvSpPr>
          <p:cNvPr id="48" name="shape:048"/>
          <p:cNvSpPr/>
          <p:nvPr/>
        </p:nvSpPr>
        <p:spPr>
          <a:xfrm>
            <a:off x="10551566" y="5385816"/>
            <a:ext cx="1064057" cy="201168"/>
          </a:xfrm>
          <a:prstGeom prst="rect">
            <a:avLst/>
          </a:prstGeom>
          <a:noFill/>
          <a:ln/>
        </p:spPr>
        <p:txBody>
          <a:bodyPr wrap="square" lIns="381" tIns="381" rIns="381" bIns="381" rtlCol="0" anchor="t">
            <a:noAutofit/>
          </a:bodyPr>
          <a:lstStyle/>
          <a:p>
            <a:pPr algn="ctr" indent="0" marL="0">
              <a:buNone/>
            </a:pPr>
            <a:r>
              <a:rPr lang="en-US" sz="1000" b="1" dirty="0">
                <a:solidFill>
                  <a:srgbClr val="322014"/>
                </a:solidFill>
                <a:latin typeface="Yu Gothic" pitchFamily="34" charset="0"/>
                <a:ea typeface="Yu Gothic" pitchFamily="34" charset="-122"/>
                <a:cs typeface="Yu Gothic" pitchFamily="34" charset="-120"/>
              </a:rPr>
              <a:t>ラベル18</a:t>
            </a:r>
            <a:endParaRPr lang="en-US" sz="1000" dirty="0"/>
          </a:p>
        </p:txBody>
      </p:sp>
      <p:sp>
        <p:nvSpPr>
          <p:cNvPr id="49" name="shape:049"/>
          <p:cNvSpPr/>
          <p:nvPr/>
        </p:nvSpPr>
        <p:spPr>
          <a:xfrm>
            <a:off x="576072" y="6071616"/>
            <a:ext cx="182880" cy="182880"/>
          </a:xfrm>
          <a:prstGeom prst="rect">
            <a:avLst/>
          </a:prstGeom>
          <a:solidFill>
            <a:srgbClr val="322014"/>
          </a:solidFill>
          <a:ln/>
        </p:spPr>
        <p:txBody>
          <a:bodyPr>
            <a:noAutofit/>
          </a:bodyPr>
          <a:p/>
        </p:txBody>
      </p:sp>
      <p:sp>
        <p:nvSpPr>
          <p:cNvPr id="50" name="shape:050"/>
          <p:cNvSpPr/>
          <p:nvPr/>
        </p:nvSpPr>
        <p:spPr>
          <a:xfrm>
            <a:off x="832104" y="6053328"/>
            <a:ext cx="1463040" cy="201168"/>
          </a:xfrm>
          <a:prstGeom prst="rect">
            <a:avLst/>
          </a:prstGeom>
          <a:noFill/>
          <a:ln/>
        </p:spPr>
        <p:txBody>
          <a:bodyPr wrap="square" lIns="381" tIns="381" rIns="381" bIns="381" rtlCol="0" anchor="ctr">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ラベル1</a:t>
            </a:r>
            <a:endParaRPr lang="en-US" sz="1100" dirty="0"/>
          </a:p>
        </p:txBody>
      </p:sp>
      <p:sp>
        <p:nvSpPr>
          <p:cNvPr id="51" name="shape:051"/>
          <p:cNvSpPr/>
          <p:nvPr/>
        </p:nvSpPr>
        <p:spPr>
          <a:xfrm>
            <a:off x="2221992" y="6071616"/>
            <a:ext cx="182880" cy="182880"/>
          </a:xfrm>
          <a:prstGeom prst="rect">
            <a:avLst/>
          </a:prstGeom>
          <a:solidFill>
            <a:srgbClr val="5A3921"/>
          </a:solidFill>
          <a:ln/>
        </p:spPr>
        <p:txBody>
          <a:bodyPr>
            <a:noAutofit/>
          </a:bodyPr>
          <a:p/>
        </p:txBody>
      </p:sp>
      <p:sp>
        <p:nvSpPr>
          <p:cNvPr id="52" name="shape:052"/>
          <p:cNvSpPr/>
          <p:nvPr/>
        </p:nvSpPr>
        <p:spPr>
          <a:xfrm>
            <a:off x="2478024" y="6053328"/>
            <a:ext cx="1463040" cy="201168"/>
          </a:xfrm>
          <a:prstGeom prst="rect">
            <a:avLst/>
          </a:prstGeom>
          <a:noFill/>
          <a:ln/>
        </p:spPr>
        <p:txBody>
          <a:bodyPr wrap="square" lIns="381" tIns="381" rIns="381" bIns="381" rtlCol="0" anchor="ctr">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ラベル2</a:t>
            </a:r>
            <a:endParaRPr lang="en-US" sz="1100" dirty="0"/>
          </a:p>
        </p:txBody>
      </p:sp>
      <p:sp>
        <p:nvSpPr>
          <p:cNvPr id="5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
        <p:nvSpPr>
          <p:cNvPr id="54" name="static:total_54"/>
          <p:cNvSpPr txBox="1"/>
          <p:nvPr/>
        </p:nvSpPr>
        <p:spPr>
          <a:xfrm>
            <a:off x="8589721" y="2743200"/>
            <a:ext cx="731520" cy="219456"/>
          </a:xfrm>
          <a:prstGeom prst="rect">
            <a:avLst/>
          </a:prstGeom>
          <a:noFill/>
        </p:spPr>
        <p:txBody>
          <a:bodyPr wrap="none" lIns="0" rIns="0" tIns="0" bIns="0">
            <a:noAutofit/>
          </a:bodyPr>
          <a:lstStyle/>
          <a:p>
            <a:r>
              <a:rPr sz="1000">
                <a:solidFill>
                  <a:srgbClr val="322014"/>
                </a:solidFill>
                <a:latin typeface="Yu Gothic"/>
              </a:rPr>
              <a:t>合計</a:t>
            </a:r>
          </a:p>
        </p:txBody>
      </p:sp>
      <p:sp>
        <p:nvSpPr>
          <p:cNvPr id="55" name="static:total_55"/>
          <p:cNvSpPr txBox="1"/>
          <p:nvPr/>
        </p:nvSpPr>
        <p:spPr>
          <a:xfrm>
            <a:off x="9653778" y="2743200"/>
            <a:ext cx="731520" cy="219456"/>
          </a:xfrm>
          <a:prstGeom prst="rect">
            <a:avLst/>
          </a:prstGeom>
          <a:noFill/>
        </p:spPr>
        <p:txBody>
          <a:bodyPr wrap="none" lIns="0" rIns="0" tIns="0" bIns="0">
            <a:noAutofit/>
          </a:bodyPr>
          <a:lstStyle/>
          <a:p>
            <a:r>
              <a:rPr sz="1000">
                <a:solidFill>
                  <a:srgbClr val="322014"/>
                </a:solidFill>
                <a:latin typeface="Yu Gothic"/>
              </a:rPr>
              <a:t>合計</a:t>
            </a:r>
          </a:p>
        </p:txBody>
      </p:sp>
      <p:sp>
        <p:nvSpPr>
          <p:cNvPr id="56" name="static:total_56"/>
          <p:cNvSpPr txBox="1"/>
          <p:nvPr/>
        </p:nvSpPr>
        <p:spPr>
          <a:xfrm>
            <a:off x="10717835" y="2743200"/>
            <a:ext cx="731520" cy="219456"/>
          </a:xfrm>
          <a:prstGeom prst="rect">
            <a:avLst/>
          </a:prstGeom>
          <a:noFill/>
        </p:spPr>
        <p:txBody>
          <a:bodyPr wrap="none" lIns="0" rIns="0" tIns="0" bIns="0">
            <a:noAutofit/>
          </a:bodyPr>
          <a:lstStyle/>
          <a:p>
            <a:r>
              <a:rPr sz="1000">
                <a:solidFill>
                  <a:srgbClr val="322014"/>
                </a:solidFill>
                <a:latin typeface="Yu Gothic"/>
              </a:rPr>
              <a:t>合計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計算ロジックの流れ</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