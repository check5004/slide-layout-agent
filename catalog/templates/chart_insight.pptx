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Sheet1!$A$2:$A$5</c:f>
              <c:strCache>
                <c:ptCount val="4"/>
                <c:pt idx="0">
                  <c:v>ラベル1</c:v>
                </c:pt>
                <c:pt idx="1">
                  <c:v>ラベル2</c:v>
                </c:pt>
                <c:pt idx="2">
                  <c:v>ラベル3</c:v>
                </c:pt>
                <c:pt idx="3">
                  <c:v>ラベル4</c:v>
                </c:pt>
              </c:strCache>
            </c:strRef>
          </c:cat>
          <c:val>
            <c:numRef>
              <c:f>Sheet1!$B$2:$B$5</c:f>
              <c:numCache>
                <c:formatCode>General</c:formatCode>
                <c:ptCount val="4"/>
                <c:pt idx="0">
                  <c:v>32</c:v>
                </c:pt>
                <c:pt idx="1">
                  <c:v>41</c:v>
                </c:pt>
                <c:pt idx="2">
                  <c:v>49</c:v>
                </c:pt>
                <c:pt idx="3">
                  <c:v>58</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"chart_insight", "upstream_commit": "e5dd04dc6f1acf010046d2fc7319bcf5242a849a", "source_pptx_slide": 14,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05  CHART_INSIGHT</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単一チャート＋含意</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14</a:t>
            </a:r>
            <a:endParaRPr lang="en-US" sz="750" dirty="0"/>
          </a:p>
        </p:txBody>
      </p:sp>
      <p:sp>
        <p:nvSpPr>
          <p:cNvPr id="10" name="shape:010"/>
          <p:cNvSpPr/>
          <p:nvPr/>
        </p:nvSpPr>
        <p:spPr>
          <a:xfrm>
            <a:off x="576072" y="1920240"/>
            <a:ext cx="6126480" cy="27432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指標名、単位</a:t>
            </a:r>
            <a:endParaRPr lang="en-US" sz="1500" dirty="0"/>
          </a:p>
        </p:txBody>
      </p:sp>
      <p:sp>
        <p:nvSpPr>
          <p:cNvPr id="13" name="shape:013"/>
          <p:cNvSpPr/>
          <p:nvPr/>
        </p:nvSpPr>
        <p:spPr>
          <a:xfrm>
            <a:off x="117043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ラベル1</a:t>
            </a:r>
            <a:endParaRPr lang="en-US" sz="950" dirty="0"/>
          </a:p>
        </p:txBody>
      </p:sp>
      <p:sp>
        <p:nvSpPr>
          <p:cNvPr id="16" name="shape:016"/>
          <p:cNvSpPr/>
          <p:nvPr/>
        </p:nvSpPr>
        <p:spPr>
          <a:xfrm>
            <a:off x="222199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ラベル2</a:t>
            </a:r>
            <a:endParaRPr lang="en-US" sz="950" dirty="0"/>
          </a:p>
        </p:txBody>
      </p:sp>
      <p:sp>
        <p:nvSpPr>
          <p:cNvPr id="19" name="shape:019"/>
          <p:cNvSpPr/>
          <p:nvPr/>
        </p:nvSpPr>
        <p:spPr>
          <a:xfrm>
            <a:off x="327355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ラベル3</a:t>
            </a:r>
            <a:endParaRPr lang="en-US" sz="950" dirty="0"/>
          </a:p>
        </p:txBody>
      </p:sp>
      <p:sp>
        <p:nvSpPr>
          <p:cNvPr id="22" name="shape:022"/>
          <p:cNvSpPr/>
          <p:nvPr/>
        </p:nvSpPr>
        <p:spPr>
          <a:xfrm>
            <a:off x="4325112" y="5669280"/>
            <a:ext cx="1024128" cy="256032"/>
          </a:xfrm>
          <a:prstGeom prst="rect">
            <a:avLst/>
          </a:prstGeom>
          <a:noFill/>
          <a:ln/>
        </p:spPr>
        <p:txBody>
          <a:bodyPr wrap="square" lIns="381" tIns="381" rIns="381" bIns="381" rtlCol="0" anchor="t">
            <a:noAutofit/>
          </a:bodyPr>
          <a:lstStyle/>
          <a:p>
            <a:pPr algn="l" indent="0" marL="0">
              <a:buNone/>
            </a:pPr>
            <a:r>
              <a:rPr lang="en-US" sz="950" dirty="0">
                <a:solidFill>
                  <a:srgbClr val="322014"/>
                </a:solidFill>
                <a:latin typeface="Yu Gothic" pitchFamily="34" charset="0"/>
                <a:ea typeface="Yu Gothic" pitchFamily="34" charset="-122"/>
                <a:cs typeface="Yu Gothic" pitchFamily="34" charset="-120"/>
              </a:rPr>
              <a:t>ラベル4</a:t>
            </a:r>
            <a:endParaRPr lang="en-US" sz="950" dirty="0"/>
          </a:p>
        </p:txBody>
      </p:sp>
      <p:sp>
        <p:nvSpPr>
          <p:cNvPr id="23" name="shape:023"/>
          <p:cNvSpPr/>
          <p:nvPr/>
        </p:nvSpPr>
        <p:spPr>
          <a:xfrm>
            <a:off x="576072" y="5577840"/>
            <a:ext cx="5760720" cy="0"/>
          </a:xfrm>
          <a:prstGeom prst="line">
            <a:avLst/>
          </a:prstGeom>
          <a:noFill/>
          <a:ln w="12700">
            <a:solidFill>
              <a:srgbClr val="322014"/>
            </a:solidFill>
            <a:prstDash val="solid"/>
          </a:ln>
        </p:spPr>
        <p:txBody>
          <a:bodyPr>
            <a:noAutofit/>
          </a:bodyPr>
          <a:p/>
        </p:txBody>
      </p:sp>
      <p:sp>
        <p:nvSpPr>
          <p:cNvPr id="24" name="shape:024"/>
          <p:cNvSpPr/>
          <p:nvPr/>
        </p:nvSpPr>
        <p:spPr>
          <a:xfrm>
            <a:off x="6858000" y="2057400"/>
            <a:ext cx="0" cy="1417320"/>
          </a:xfrm>
          <a:prstGeom prst="line">
            <a:avLst/>
          </a:prstGeom>
          <a:noFill/>
          <a:ln w="27940">
            <a:solidFill>
              <a:srgbClr val="5A3921"/>
            </a:solidFill>
            <a:prstDash val="solid"/>
          </a:ln>
        </p:spPr>
        <p:txBody>
          <a:bodyPr>
            <a:noAutofit/>
          </a:bodyPr>
          <a:p/>
        </p:txBody>
      </p:sp>
      <p:sp>
        <p:nvSpPr>
          <p:cNvPr id="25" name="shape:025"/>
          <p:cNvSpPr/>
          <p:nvPr/>
        </p:nvSpPr>
        <p:spPr>
          <a:xfrm>
            <a:off x="7059168" y="2057400"/>
            <a:ext cx="4187952" cy="4114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2</a:t>
            </a:r>
            <a:endParaRPr lang="en-US" sz="1500" dirty="0"/>
          </a:p>
        </p:txBody>
      </p:sp>
      <p:sp>
        <p:nvSpPr>
          <p:cNvPr id="26" name="shape:026"/>
          <p:cNvSpPr/>
          <p:nvPr/>
        </p:nvSpPr>
        <p:spPr>
          <a:xfrm>
            <a:off x="7059168" y="2560320"/>
            <a:ext cx="4187952" cy="914400"/>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Text 1</a:t>
            </a:r>
            <a:endParaRPr lang="en-US" sz="1350" dirty="0"/>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graphicFrame>
        <p:nvGraphicFramePr>
          <p:cNvPr id="28" name="shape:028"/>
          <p:cNvGraphicFramePr>
            <a:graphicFrameLocks noGrp="1"/>
          </p:cNvGraphicFramePr>
          <p:nvPr/>
        </p:nvGraphicFramePr>
        <p:xfrm>
          <a:off x="1143000" y="2423160"/>
          <a:ext cx="4206240" cy="32004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単一チャート＋含意</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