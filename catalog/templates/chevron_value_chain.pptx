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"chevron_value_chain", "upstream_commit": "e5dd04dc6f1acf010046d2fc7319bcf5242a849a", "source_pptx_slide": 59,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31  CHEVRON_VALUE_CHAIN</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バリューチェーン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59</a:t>
            </a:r>
            <a:endParaRPr lang="en-US" sz="750" dirty="0"/>
          </a:p>
        </p:txBody>
      </p:sp>
      <p:sp>
        <p:nvSpPr>
          <p:cNvPr id="10" name="shape:010"/>
          <p:cNvSpPr/>
          <p:nvPr/>
        </p:nvSpPr>
        <p:spPr>
          <a:xfrm>
            <a:off x="576072" y="1874520"/>
            <a:ext cx="11039551" cy="237744"/>
          </a:xfrm>
          <a:prstGeom prst="rect">
            <a:avLst/>
          </a:prstGeom>
          <a:noFill/>
          <a:ln/>
        </p:spPr>
        <p:txBody>
          <a:bodyPr wrap="square" lIns="381" tIns="381" rIns="381" bIns="381" rtlCol="0" anchor="t">
            <a:noAutofit/>
          </a:bodyPr>
          <a:lstStyle/>
          <a:p>
            <a:pPr algn="l" indent="0" marL="0">
              <a:buNone/>
            </a:pPr>
            <a:r>
              <a:rPr lang="en-US" sz="1150" b="1" dirty="0">
                <a:solidFill>
                  <a:srgbClr val="8A7B6B"/>
                </a:solidFill>
                <a:latin typeface="Yu Gothic" pitchFamily="34" charset="0"/>
                <a:ea typeface="Yu Gothic" pitchFamily="34" charset="-122"/>
                <a:cs typeface="Yu Gothic" pitchFamily="34" charset="-120"/>
              </a:rPr>
              <a:t>ラベル1</a:t>
            </a:r>
            <a:endParaRPr lang="en-US" sz="1150" dirty="0"/>
          </a:p>
        </p:txBody>
      </p:sp>
      <p:sp>
        <p:nvSpPr>
          <p:cNvPr id="11" name="shape:011"/>
          <p:cNvSpPr/>
          <p:nvPr/>
        </p:nvSpPr>
        <p:spPr>
          <a:xfrm>
            <a:off x="576072" y="2185416"/>
            <a:ext cx="1733833" cy="411480"/>
          </a:xfrm>
          <a:prstGeom prst="homePlate">
            <a:avLst/>
          </a:prstGeom>
          <a:solidFill>
            <a:srgbClr val="322014"/>
          </a:solidFill>
          <a:ln/>
        </p:spPr>
        <p:txBody>
          <a:bodyPr>
            <a:noAutofit/>
          </a:bodyPr>
          <a:p/>
        </p:txBody>
      </p:sp>
      <p:sp>
        <p:nvSpPr>
          <p:cNvPr id="12" name="shape:012"/>
          <p:cNvSpPr/>
          <p:nvPr/>
        </p:nvSpPr>
        <p:spPr>
          <a:xfrm>
            <a:off x="685800"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ラベル2</a:t>
            </a:r>
            <a:endParaRPr lang="en-US" sz="1050" dirty="0"/>
          </a:p>
        </p:txBody>
      </p:sp>
      <p:sp>
        <p:nvSpPr>
          <p:cNvPr id="13" name="shape:013"/>
          <p:cNvSpPr/>
          <p:nvPr/>
        </p:nvSpPr>
        <p:spPr>
          <a:xfrm>
            <a:off x="2127025" y="2185416"/>
            <a:ext cx="1733833" cy="411480"/>
          </a:xfrm>
          <a:prstGeom prst="chevron">
            <a:avLst/>
          </a:prstGeom>
          <a:solidFill>
            <a:srgbClr val="322014"/>
          </a:solidFill>
          <a:ln/>
        </p:spPr>
        <p:txBody>
          <a:bodyPr>
            <a:noAutofit/>
          </a:bodyPr>
          <a:p/>
        </p:txBody>
      </p:sp>
      <p:sp>
        <p:nvSpPr>
          <p:cNvPr id="14" name="shape:014"/>
          <p:cNvSpPr/>
          <p:nvPr/>
        </p:nvSpPr>
        <p:spPr>
          <a:xfrm>
            <a:off x="2236753"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ラベル3</a:t>
            </a:r>
            <a:endParaRPr lang="en-US" sz="1050" dirty="0"/>
          </a:p>
        </p:txBody>
      </p:sp>
      <p:sp>
        <p:nvSpPr>
          <p:cNvPr id="15" name="shape:015"/>
          <p:cNvSpPr/>
          <p:nvPr/>
        </p:nvSpPr>
        <p:spPr>
          <a:xfrm>
            <a:off x="3677978" y="2185416"/>
            <a:ext cx="1733833" cy="411480"/>
          </a:xfrm>
          <a:prstGeom prst="chevron">
            <a:avLst/>
          </a:prstGeom>
          <a:solidFill>
            <a:srgbClr val="322014"/>
          </a:solidFill>
          <a:ln/>
        </p:spPr>
        <p:txBody>
          <a:bodyPr>
            <a:noAutofit/>
          </a:bodyPr>
          <a:p/>
        </p:txBody>
      </p:sp>
      <p:sp>
        <p:nvSpPr>
          <p:cNvPr id="16" name="shape:016"/>
          <p:cNvSpPr/>
          <p:nvPr/>
        </p:nvSpPr>
        <p:spPr>
          <a:xfrm>
            <a:off x="3787706"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ラベル4</a:t>
            </a:r>
            <a:endParaRPr lang="en-US" sz="1050" dirty="0"/>
          </a:p>
        </p:txBody>
      </p:sp>
      <p:sp>
        <p:nvSpPr>
          <p:cNvPr id="17" name="shape:017"/>
          <p:cNvSpPr/>
          <p:nvPr/>
        </p:nvSpPr>
        <p:spPr>
          <a:xfrm>
            <a:off x="5228931" y="2185416"/>
            <a:ext cx="1733833" cy="411480"/>
          </a:xfrm>
          <a:prstGeom prst="chevron">
            <a:avLst/>
          </a:prstGeom>
          <a:solidFill>
            <a:srgbClr val="322014"/>
          </a:solidFill>
          <a:ln/>
        </p:spPr>
        <p:txBody>
          <a:bodyPr>
            <a:noAutofit/>
          </a:bodyPr>
          <a:p/>
        </p:txBody>
      </p:sp>
      <p:sp>
        <p:nvSpPr>
          <p:cNvPr id="18" name="shape:018"/>
          <p:cNvSpPr/>
          <p:nvPr/>
        </p:nvSpPr>
        <p:spPr>
          <a:xfrm>
            <a:off x="5338659"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ラベル5</a:t>
            </a:r>
            <a:endParaRPr lang="en-US" sz="1050" dirty="0"/>
          </a:p>
        </p:txBody>
      </p:sp>
      <p:sp>
        <p:nvSpPr>
          <p:cNvPr id="19" name="shape:019"/>
          <p:cNvSpPr/>
          <p:nvPr/>
        </p:nvSpPr>
        <p:spPr>
          <a:xfrm>
            <a:off x="6779884" y="2185416"/>
            <a:ext cx="1733833" cy="411480"/>
          </a:xfrm>
          <a:prstGeom prst="chevron">
            <a:avLst/>
          </a:prstGeom>
          <a:solidFill>
            <a:srgbClr val="322014"/>
          </a:solidFill>
          <a:ln/>
        </p:spPr>
        <p:txBody>
          <a:bodyPr>
            <a:noAutofit/>
          </a:bodyPr>
          <a:p/>
        </p:txBody>
      </p:sp>
      <p:sp>
        <p:nvSpPr>
          <p:cNvPr id="20" name="shape:020"/>
          <p:cNvSpPr/>
          <p:nvPr/>
        </p:nvSpPr>
        <p:spPr>
          <a:xfrm>
            <a:off x="6889612"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ラベル6</a:t>
            </a:r>
            <a:endParaRPr lang="en-US" sz="1050" dirty="0"/>
          </a:p>
        </p:txBody>
      </p:sp>
      <p:sp>
        <p:nvSpPr>
          <p:cNvPr id="21" name="shape:021"/>
          <p:cNvSpPr/>
          <p:nvPr/>
        </p:nvSpPr>
        <p:spPr>
          <a:xfrm>
            <a:off x="8330837" y="2185416"/>
            <a:ext cx="1733833" cy="411480"/>
          </a:xfrm>
          <a:prstGeom prst="chevron">
            <a:avLst/>
          </a:prstGeom>
          <a:solidFill>
            <a:srgbClr val="322014"/>
          </a:solidFill>
          <a:ln/>
        </p:spPr>
        <p:txBody>
          <a:bodyPr>
            <a:noAutofit/>
          </a:bodyPr>
          <a:p/>
        </p:txBody>
      </p:sp>
      <p:sp>
        <p:nvSpPr>
          <p:cNvPr id="22" name="shape:022"/>
          <p:cNvSpPr/>
          <p:nvPr/>
        </p:nvSpPr>
        <p:spPr>
          <a:xfrm>
            <a:off x="8440565"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ラベル7</a:t>
            </a:r>
            <a:endParaRPr lang="en-US" sz="1050" dirty="0"/>
          </a:p>
        </p:txBody>
      </p:sp>
      <p:sp>
        <p:nvSpPr>
          <p:cNvPr id="23" name="shape:023"/>
          <p:cNvSpPr/>
          <p:nvPr/>
        </p:nvSpPr>
        <p:spPr>
          <a:xfrm>
            <a:off x="9881790" y="2185416"/>
            <a:ext cx="1733833" cy="411480"/>
          </a:xfrm>
          <a:prstGeom prst="chevron">
            <a:avLst/>
          </a:prstGeom>
          <a:solidFill>
            <a:srgbClr val="322014"/>
          </a:solidFill>
          <a:ln/>
        </p:spPr>
        <p:txBody>
          <a:bodyPr>
            <a:noAutofit/>
          </a:bodyPr>
          <a:p/>
        </p:txBody>
      </p:sp>
      <p:sp>
        <p:nvSpPr>
          <p:cNvPr id="24" name="shape:024"/>
          <p:cNvSpPr/>
          <p:nvPr/>
        </p:nvSpPr>
        <p:spPr>
          <a:xfrm>
            <a:off x="9991518" y="2185416"/>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ラベル8</a:t>
            </a:r>
            <a:endParaRPr lang="en-US" sz="1050" dirty="0"/>
          </a:p>
        </p:txBody>
      </p:sp>
      <p:sp>
        <p:nvSpPr>
          <p:cNvPr id="25" name="shape:025"/>
          <p:cNvSpPr/>
          <p:nvPr/>
        </p:nvSpPr>
        <p:spPr>
          <a:xfrm>
            <a:off x="594360"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1</a:t>
            </a:r>
            <a:endParaRPr lang="en-US" sz="1000" dirty="0"/>
          </a:p>
        </p:txBody>
      </p:sp>
      <p:sp>
        <p:nvSpPr>
          <p:cNvPr id="26" name="shape:026"/>
          <p:cNvSpPr/>
          <p:nvPr/>
        </p:nvSpPr>
        <p:spPr>
          <a:xfrm>
            <a:off x="2145313" y="2724912"/>
            <a:ext cx="0" cy="1033272"/>
          </a:xfrm>
          <a:prstGeom prst="line">
            <a:avLst/>
          </a:prstGeom>
          <a:noFill/>
          <a:ln w="6350">
            <a:solidFill>
              <a:srgbClr val="E2DCD2"/>
            </a:solidFill>
            <a:prstDash val="solid"/>
          </a:ln>
        </p:spPr>
        <p:txBody>
          <a:bodyPr>
            <a:noAutofit/>
          </a:bodyPr>
          <a:p/>
        </p:txBody>
      </p:sp>
      <p:sp>
        <p:nvSpPr>
          <p:cNvPr id="27" name="shape:027"/>
          <p:cNvSpPr/>
          <p:nvPr/>
        </p:nvSpPr>
        <p:spPr>
          <a:xfrm>
            <a:off x="2255041"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2</a:t>
            </a:r>
            <a:endParaRPr lang="en-US" sz="1000" dirty="0"/>
          </a:p>
        </p:txBody>
      </p:sp>
      <p:sp>
        <p:nvSpPr>
          <p:cNvPr id="28" name="shape:028"/>
          <p:cNvSpPr/>
          <p:nvPr/>
        </p:nvSpPr>
        <p:spPr>
          <a:xfrm>
            <a:off x="3696266" y="2724912"/>
            <a:ext cx="0" cy="1033272"/>
          </a:xfrm>
          <a:prstGeom prst="line">
            <a:avLst/>
          </a:prstGeom>
          <a:noFill/>
          <a:ln w="6350">
            <a:solidFill>
              <a:srgbClr val="E2DCD2"/>
            </a:solidFill>
            <a:prstDash val="solid"/>
          </a:ln>
        </p:spPr>
        <p:txBody>
          <a:bodyPr>
            <a:noAutofit/>
          </a:bodyPr>
          <a:p/>
        </p:txBody>
      </p:sp>
      <p:sp>
        <p:nvSpPr>
          <p:cNvPr id="29" name="shape:029"/>
          <p:cNvSpPr/>
          <p:nvPr/>
        </p:nvSpPr>
        <p:spPr>
          <a:xfrm>
            <a:off x="3805994"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3</a:t>
            </a:r>
            <a:endParaRPr lang="en-US" sz="1000" dirty="0"/>
          </a:p>
        </p:txBody>
      </p:sp>
      <p:sp>
        <p:nvSpPr>
          <p:cNvPr id="30" name="shape:030"/>
          <p:cNvSpPr/>
          <p:nvPr/>
        </p:nvSpPr>
        <p:spPr>
          <a:xfrm>
            <a:off x="5247219" y="2724912"/>
            <a:ext cx="0" cy="1033272"/>
          </a:xfrm>
          <a:prstGeom prst="line">
            <a:avLst/>
          </a:prstGeom>
          <a:noFill/>
          <a:ln w="6350">
            <a:solidFill>
              <a:srgbClr val="E2DCD2"/>
            </a:solidFill>
            <a:prstDash val="solid"/>
          </a:ln>
        </p:spPr>
        <p:txBody>
          <a:bodyPr>
            <a:noAutofit/>
          </a:bodyPr>
          <a:p/>
        </p:txBody>
      </p:sp>
      <p:sp>
        <p:nvSpPr>
          <p:cNvPr id="31" name="shape:031"/>
          <p:cNvSpPr/>
          <p:nvPr/>
        </p:nvSpPr>
        <p:spPr>
          <a:xfrm>
            <a:off x="5356947"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4</a:t>
            </a:r>
            <a:endParaRPr lang="en-US" sz="1000" dirty="0"/>
          </a:p>
        </p:txBody>
      </p:sp>
      <p:sp>
        <p:nvSpPr>
          <p:cNvPr id="32" name="shape:032"/>
          <p:cNvSpPr/>
          <p:nvPr/>
        </p:nvSpPr>
        <p:spPr>
          <a:xfrm>
            <a:off x="6798172" y="2724912"/>
            <a:ext cx="0" cy="1033272"/>
          </a:xfrm>
          <a:prstGeom prst="line">
            <a:avLst/>
          </a:prstGeom>
          <a:noFill/>
          <a:ln w="6350">
            <a:solidFill>
              <a:srgbClr val="E2DCD2"/>
            </a:solidFill>
            <a:prstDash val="solid"/>
          </a:ln>
        </p:spPr>
        <p:txBody>
          <a:bodyPr>
            <a:noAutofit/>
          </a:bodyPr>
          <a:p/>
        </p:txBody>
      </p:sp>
      <p:sp>
        <p:nvSpPr>
          <p:cNvPr id="33" name="shape:033"/>
          <p:cNvSpPr/>
          <p:nvPr/>
        </p:nvSpPr>
        <p:spPr>
          <a:xfrm>
            <a:off x="6907900"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5</a:t>
            </a:r>
            <a:endParaRPr lang="en-US" sz="1000" dirty="0"/>
          </a:p>
        </p:txBody>
      </p:sp>
      <p:sp>
        <p:nvSpPr>
          <p:cNvPr id="34" name="shape:034"/>
          <p:cNvSpPr/>
          <p:nvPr/>
        </p:nvSpPr>
        <p:spPr>
          <a:xfrm>
            <a:off x="8349125" y="2724912"/>
            <a:ext cx="0" cy="1033272"/>
          </a:xfrm>
          <a:prstGeom prst="line">
            <a:avLst/>
          </a:prstGeom>
          <a:noFill/>
          <a:ln w="6350">
            <a:solidFill>
              <a:srgbClr val="E2DCD2"/>
            </a:solidFill>
            <a:prstDash val="solid"/>
          </a:ln>
        </p:spPr>
        <p:txBody>
          <a:bodyPr>
            <a:noAutofit/>
          </a:bodyPr>
          <a:p/>
        </p:txBody>
      </p:sp>
      <p:sp>
        <p:nvSpPr>
          <p:cNvPr id="35" name="shape:035"/>
          <p:cNvSpPr/>
          <p:nvPr/>
        </p:nvSpPr>
        <p:spPr>
          <a:xfrm>
            <a:off x="8458853"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6</a:t>
            </a:r>
            <a:endParaRPr lang="en-US" sz="1000" dirty="0"/>
          </a:p>
        </p:txBody>
      </p:sp>
      <p:sp>
        <p:nvSpPr>
          <p:cNvPr id="36" name="shape:036"/>
          <p:cNvSpPr/>
          <p:nvPr/>
        </p:nvSpPr>
        <p:spPr>
          <a:xfrm>
            <a:off x="9900078" y="2724912"/>
            <a:ext cx="0" cy="1033272"/>
          </a:xfrm>
          <a:prstGeom prst="line">
            <a:avLst/>
          </a:prstGeom>
          <a:noFill/>
          <a:ln w="6350">
            <a:solidFill>
              <a:srgbClr val="E2DCD2"/>
            </a:solidFill>
            <a:prstDash val="solid"/>
          </a:ln>
        </p:spPr>
        <p:txBody>
          <a:bodyPr>
            <a:noAutofit/>
          </a:bodyPr>
          <a:p/>
        </p:txBody>
      </p:sp>
      <p:sp>
        <p:nvSpPr>
          <p:cNvPr id="37" name="shape:037"/>
          <p:cNvSpPr/>
          <p:nvPr/>
        </p:nvSpPr>
        <p:spPr>
          <a:xfrm>
            <a:off x="10009806" y="2706624"/>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7</a:t>
            </a:r>
            <a:endParaRPr lang="en-US" sz="1000" dirty="0"/>
          </a:p>
        </p:txBody>
      </p:sp>
      <p:sp>
        <p:nvSpPr>
          <p:cNvPr id="38" name="shape:038"/>
          <p:cNvSpPr/>
          <p:nvPr/>
        </p:nvSpPr>
        <p:spPr>
          <a:xfrm>
            <a:off x="576072" y="4041648"/>
            <a:ext cx="11039551" cy="237744"/>
          </a:xfrm>
          <a:prstGeom prst="rect">
            <a:avLst/>
          </a:prstGeom>
          <a:noFill/>
          <a:ln/>
        </p:spPr>
        <p:txBody>
          <a:bodyPr wrap="square" lIns="381" tIns="381" rIns="381" bIns="381" rtlCol="0" anchor="t">
            <a:noAutofit/>
          </a:bodyPr>
          <a:lstStyle/>
          <a:p>
            <a:pPr algn="l" indent="0" marL="0">
              <a:buNone/>
            </a:pPr>
            <a:r>
              <a:rPr lang="en-US" sz="1150" b="1" dirty="0">
                <a:solidFill>
                  <a:srgbClr val="8A7B6B"/>
                </a:solidFill>
                <a:latin typeface="Yu Gothic" pitchFamily="34" charset="0"/>
                <a:ea typeface="Yu Gothic" pitchFamily="34" charset="-122"/>
                <a:cs typeface="Yu Gothic" pitchFamily="34" charset="-120"/>
              </a:rPr>
              <a:t>ラベル9</a:t>
            </a:r>
            <a:endParaRPr lang="en-US" sz="1150" dirty="0"/>
          </a:p>
        </p:txBody>
      </p:sp>
      <p:sp>
        <p:nvSpPr>
          <p:cNvPr id="39" name="shape:039"/>
          <p:cNvSpPr/>
          <p:nvPr/>
        </p:nvSpPr>
        <p:spPr>
          <a:xfrm>
            <a:off x="576072" y="4352544"/>
            <a:ext cx="1733833" cy="411480"/>
          </a:xfrm>
          <a:prstGeom prst="homePlate">
            <a:avLst/>
          </a:prstGeom>
          <a:solidFill>
            <a:srgbClr val="C5A681"/>
          </a:solidFill>
          <a:ln/>
        </p:spPr>
        <p:txBody>
          <a:bodyPr>
            <a:noAutofit/>
          </a:bodyPr>
          <a:p/>
        </p:txBody>
      </p:sp>
      <p:sp>
        <p:nvSpPr>
          <p:cNvPr id="40" name="shape:040"/>
          <p:cNvSpPr/>
          <p:nvPr/>
        </p:nvSpPr>
        <p:spPr>
          <a:xfrm>
            <a:off x="685800"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ラベル10</a:t>
            </a:r>
            <a:endParaRPr lang="en-US" sz="1050" dirty="0"/>
          </a:p>
        </p:txBody>
      </p:sp>
      <p:sp>
        <p:nvSpPr>
          <p:cNvPr id="41" name="shape:041"/>
          <p:cNvSpPr/>
          <p:nvPr/>
        </p:nvSpPr>
        <p:spPr>
          <a:xfrm>
            <a:off x="2127025" y="4352544"/>
            <a:ext cx="1733833" cy="411480"/>
          </a:xfrm>
          <a:prstGeom prst="chevron">
            <a:avLst/>
          </a:prstGeom>
          <a:solidFill>
            <a:srgbClr val="C5A681"/>
          </a:solidFill>
          <a:ln/>
        </p:spPr>
        <p:txBody>
          <a:bodyPr>
            <a:noAutofit/>
          </a:bodyPr>
          <a:p/>
        </p:txBody>
      </p:sp>
      <p:sp>
        <p:nvSpPr>
          <p:cNvPr id="42" name="shape:042"/>
          <p:cNvSpPr/>
          <p:nvPr/>
        </p:nvSpPr>
        <p:spPr>
          <a:xfrm>
            <a:off x="2236753"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ラベル11</a:t>
            </a:r>
            <a:endParaRPr lang="en-US" sz="1050" dirty="0"/>
          </a:p>
        </p:txBody>
      </p:sp>
      <p:sp>
        <p:nvSpPr>
          <p:cNvPr id="43" name="shape:043"/>
          <p:cNvSpPr/>
          <p:nvPr/>
        </p:nvSpPr>
        <p:spPr>
          <a:xfrm>
            <a:off x="3677978" y="4352544"/>
            <a:ext cx="1733833" cy="411480"/>
          </a:xfrm>
          <a:prstGeom prst="chevron">
            <a:avLst/>
          </a:prstGeom>
          <a:solidFill>
            <a:srgbClr val="C5A681"/>
          </a:solidFill>
          <a:ln/>
        </p:spPr>
        <p:txBody>
          <a:bodyPr>
            <a:noAutofit/>
          </a:bodyPr>
          <a:p/>
        </p:txBody>
      </p:sp>
      <p:sp>
        <p:nvSpPr>
          <p:cNvPr id="44" name="shape:044"/>
          <p:cNvSpPr/>
          <p:nvPr/>
        </p:nvSpPr>
        <p:spPr>
          <a:xfrm>
            <a:off x="3787706"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ラベル12</a:t>
            </a:r>
            <a:endParaRPr lang="en-US" sz="1050" dirty="0"/>
          </a:p>
        </p:txBody>
      </p:sp>
      <p:sp>
        <p:nvSpPr>
          <p:cNvPr id="45" name="shape:045"/>
          <p:cNvSpPr/>
          <p:nvPr/>
        </p:nvSpPr>
        <p:spPr>
          <a:xfrm>
            <a:off x="5228931" y="4352544"/>
            <a:ext cx="1733833" cy="411480"/>
          </a:xfrm>
          <a:prstGeom prst="chevron">
            <a:avLst/>
          </a:prstGeom>
          <a:solidFill>
            <a:srgbClr val="C5A681"/>
          </a:solidFill>
          <a:ln/>
        </p:spPr>
        <p:txBody>
          <a:bodyPr>
            <a:noAutofit/>
          </a:bodyPr>
          <a:p/>
        </p:txBody>
      </p:sp>
      <p:sp>
        <p:nvSpPr>
          <p:cNvPr id="46" name="shape:046"/>
          <p:cNvSpPr/>
          <p:nvPr/>
        </p:nvSpPr>
        <p:spPr>
          <a:xfrm>
            <a:off x="5338659"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ラベル13</a:t>
            </a:r>
            <a:endParaRPr lang="en-US" sz="1050" dirty="0"/>
          </a:p>
        </p:txBody>
      </p:sp>
      <p:sp>
        <p:nvSpPr>
          <p:cNvPr id="47" name="shape:047"/>
          <p:cNvSpPr/>
          <p:nvPr/>
        </p:nvSpPr>
        <p:spPr>
          <a:xfrm>
            <a:off x="6779884" y="4352544"/>
            <a:ext cx="1733833" cy="411480"/>
          </a:xfrm>
          <a:prstGeom prst="chevron">
            <a:avLst/>
          </a:prstGeom>
          <a:solidFill>
            <a:srgbClr val="C5A681"/>
          </a:solidFill>
          <a:ln/>
        </p:spPr>
        <p:txBody>
          <a:bodyPr>
            <a:noAutofit/>
          </a:bodyPr>
          <a:p/>
        </p:txBody>
      </p:sp>
      <p:sp>
        <p:nvSpPr>
          <p:cNvPr id="48" name="shape:048"/>
          <p:cNvSpPr/>
          <p:nvPr/>
        </p:nvSpPr>
        <p:spPr>
          <a:xfrm>
            <a:off x="6889612"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ラベル14</a:t>
            </a:r>
            <a:endParaRPr lang="en-US" sz="1050" dirty="0"/>
          </a:p>
        </p:txBody>
      </p:sp>
      <p:sp>
        <p:nvSpPr>
          <p:cNvPr id="49" name="shape:049"/>
          <p:cNvSpPr/>
          <p:nvPr/>
        </p:nvSpPr>
        <p:spPr>
          <a:xfrm>
            <a:off x="8330837" y="4352544"/>
            <a:ext cx="1733833" cy="411480"/>
          </a:xfrm>
          <a:prstGeom prst="chevron">
            <a:avLst/>
          </a:prstGeom>
          <a:solidFill>
            <a:srgbClr val="C5A681"/>
          </a:solidFill>
          <a:ln/>
        </p:spPr>
        <p:txBody>
          <a:bodyPr>
            <a:noAutofit/>
          </a:bodyPr>
          <a:p/>
        </p:txBody>
      </p:sp>
      <p:sp>
        <p:nvSpPr>
          <p:cNvPr id="50" name="shape:050"/>
          <p:cNvSpPr/>
          <p:nvPr/>
        </p:nvSpPr>
        <p:spPr>
          <a:xfrm>
            <a:off x="8440565"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ラベル15</a:t>
            </a:r>
            <a:endParaRPr lang="en-US" sz="1050" dirty="0"/>
          </a:p>
        </p:txBody>
      </p:sp>
      <p:sp>
        <p:nvSpPr>
          <p:cNvPr id="51" name="shape:051"/>
          <p:cNvSpPr/>
          <p:nvPr/>
        </p:nvSpPr>
        <p:spPr>
          <a:xfrm>
            <a:off x="9881790" y="4352544"/>
            <a:ext cx="1733833" cy="411480"/>
          </a:xfrm>
          <a:prstGeom prst="chevron">
            <a:avLst/>
          </a:prstGeom>
          <a:solidFill>
            <a:srgbClr val="C5A681"/>
          </a:solidFill>
          <a:ln/>
        </p:spPr>
        <p:txBody>
          <a:bodyPr>
            <a:noAutofit/>
          </a:bodyPr>
          <a:p/>
        </p:txBody>
      </p:sp>
      <p:sp>
        <p:nvSpPr>
          <p:cNvPr id="52" name="shape:052"/>
          <p:cNvSpPr/>
          <p:nvPr/>
        </p:nvSpPr>
        <p:spPr>
          <a:xfrm>
            <a:off x="9991518" y="4352544"/>
            <a:ext cx="1368073" cy="411480"/>
          </a:xfrm>
          <a:prstGeom prst="rect">
            <a:avLst/>
          </a:prstGeom>
          <a:noFill/>
          <a:ln/>
        </p:spPr>
        <p:txBody>
          <a:bodyPr wrap="square" lIns="381" tIns="381" rIns="381" bIns="381" rtlCol="0" anchor="ctr">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ラベル16</a:t>
            </a:r>
            <a:endParaRPr lang="en-US" sz="1050" dirty="0"/>
          </a:p>
        </p:txBody>
      </p:sp>
      <p:sp>
        <p:nvSpPr>
          <p:cNvPr id="53" name="shape:053"/>
          <p:cNvSpPr/>
          <p:nvPr/>
        </p:nvSpPr>
        <p:spPr>
          <a:xfrm>
            <a:off x="594360"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8</a:t>
            </a:r>
            <a:endParaRPr lang="en-US" sz="1000" dirty="0"/>
          </a:p>
        </p:txBody>
      </p:sp>
      <p:sp>
        <p:nvSpPr>
          <p:cNvPr id="54" name="shape:054"/>
          <p:cNvSpPr/>
          <p:nvPr/>
        </p:nvSpPr>
        <p:spPr>
          <a:xfrm>
            <a:off x="2145313" y="4892040"/>
            <a:ext cx="0" cy="1033272"/>
          </a:xfrm>
          <a:prstGeom prst="line">
            <a:avLst/>
          </a:prstGeom>
          <a:noFill/>
          <a:ln w="6350">
            <a:solidFill>
              <a:srgbClr val="E2DCD2"/>
            </a:solidFill>
            <a:prstDash val="solid"/>
          </a:ln>
        </p:spPr>
        <p:txBody>
          <a:bodyPr>
            <a:noAutofit/>
          </a:bodyPr>
          <a:p/>
        </p:txBody>
      </p:sp>
      <p:sp>
        <p:nvSpPr>
          <p:cNvPr id="55" name="shape:055"/>
          <p:cNvSpPr/>
          <p:nvPr/>
        </p:nvSpPr>
        <p:spPr>
          <a:xfrm>
            <a:off x="2255041"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9</a:t>
            </a:r>
            <a:endParaRPr lang="en-US" sz="1000" dirty="0"/>
          </a:p>
        </p:txBody>
      </p:sp>
      <p:sp>
        <p:nvSpPr>
          <p:cNvPr id="56" name="shape:056"/>
          <p:cNvSpPr/>
          <p:nvPr/>
        </p:nvSpPr>
        <p:spPr>
          <a:xfrm>
            <a:off x="3696266" y="4892040"/>
            <a:ext cx="0" cy="1033272"/>
          </a:xfrm>
          <a:prstGeom prst="line">
            <a:avLst/>
          </a:prstGeom>
          <a:noFill/>
          <a:ln w="6350">
            <a:solidFill>
              <a:srgbClr val="E2DCD2"/>
            </a:solidFill>
            <a:prstDash val="solid"/>
          </a:ln>
        </p:spPr>
        <p:txBody>
          <a:bodyPr>
            <a:noAutofit/>
          </a:bodyPr>
          <a:p/>
        </p:txBody>
      </p:sp>
      <p:sp>
        <p:nvSpPr>
          <p:cNvPr id="57" name="shape:057"/>
          <p:cNvSpPr/>
          <p:nvPr/>
        </p:nvSpPr>
        <p:spPr>
          <a:xfrm>
            <a:off x="3805994"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10</a:t>
            </a:r>
            <a:endParaRPr lang="en-US" sz="1000" dirty="0"/>
          </a:p>
        </p:txBody>
      </p:sp>
      <p:sp>
        <p:nvSpPr>
          <p:cNvPr id="58" name="shape:058"/>
          <p:cNvSpPr/>
          <p:nvPr/>
        </p:nvSpPr>
        <p:spPr>
          <a:xfrm>
            <a:off x="5247219" y="4892040"/>
            <a:ext cx="0" cy="1033272"/>
          </a:xfrm>
          <a:prstGeom prst="line">
            <a:avLst/>
          </a:prstGeom>
          <a:noFill/>
          <a:ln w="6350">
            <a:solidFill>
              <a:srgbClr val="E2DCD2"/>
            </a:solidFill>
            <a:prstDash val="solid"/>
          </a:ln>
        </p:spPr>
        <p:txBody>
          <a:bodyPr>
            <a:noAutofit/>
          </a:bodyPr>
          <a:p/>
        </p:txBody>
      </p:sp>
      <p:sp>
        <p:nvSpPr>
          <p:cNvPr id="59" name="shape:059"/>
          <p:cNvSpPr/>
          <p:nvPr/>
        </p:nvSpPr>
        <p:spPr>
          <a:xfrm>
            <a:off x="5356947"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11</a:t>
            </a:r>
            <a:endParaRPr lang="en-US" sz="1000" dirty="0"/>
          </a:p>
        </p:txBody>
      </p:sp>
      <p:sp>
        <p:nvSpPr>
          <p:cNvPr id="60" name="shape:060"/>
          <p:cNvSpPr/>
          <p:nvPr/>
        </p:nvSpPr>
        <p:spPr>
          <a:xfrm>
            <a:off x="6798172" y="4892040"/>
            <a:ext cx="0" cy="1033272"/>
          </a:xfrm>
          <a:prstGeom prst="line">
            <a:avLst/>
          </a:prstGeom>
          <a:noFill/>
          <a:ln w="6350">
            <a:solidFill>
              <a:srgbClr val="E2DCD2"/>
            </a:solidFill>
            <a:prstDash val="solid"/>
          </a:ln>
        </p:spPr>
        <p:txBody>
          <a:bodyPr>
            <a:noAutofit/>
          </a:bodyPr>
          <a:p/>
        </p:txBody>
      </p:sp>
      <p:sp>
        <p:nvSpPr>
          <p:cNvPr id="61" name="shape:061"/>
          <p:cNvSpPr/>
          <p:nvPr/>
        </p:nvSpPr>
        <p:spPr>
          <a:xfrm>
            <a:off x="6907900"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12</a:t>
            </a:r>
            <a:endParaRPr lang="en-US" sz="1000" dirty="0"/>
          </a:p>
        </p:txBody>
      </p:sp>
      <p:sp>
        <p:nvSpPr>
          <p:cNvPr id="62" name="shape:062"/>
          <p:cNvSpPr/>
          <p:nvPr/>
        </p:nvSpPr>
        <p:spPr>
          <a:xfrm>
            <a:off x="8349125" y="4892040"/>
            <a:ext cx="0" cy="1033272"/>
          </a:xfrm>
          <a:prstGeom prst="line">
            <a:avLst/>
          </a:prstGeom>
          <a:noFill/>
          <a:ln w="6350">
            <a:solidFill>
              <a:srgbClr val="E2DCD2"/>
            </a:solidFill>
            <a:prstDash val="solid"/>
          </a:ln>
        </p:spPr>
        <p:txBody>
          <a:bodyPr>
            <a:noAutofit/>
          </a:bodyPr>
          <a:p/>
        </p:txBody>
      </p:sp>
      <p:sp>
        <p:nvSpPr>
          <p:cNvPr id="63" name="shape:063"/>
          <p:cNvSpPr/>
          <p:nvPr/>
        </p:nvSpPr>
        <p:spPr>
          <a:xfrm>
            <a:off x="8458853"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13</a:t>
            </a:r>
            <a:endParaRPr lang="en-US" sz="1000" dirty="0"/>
          </a:p>
        </p:txBody>
      </p:sp>
      <p:sp>
        <p:nvSpPr>
          <p:cNvPr id="64" name="shape:064"/>
          <p:cNvSpPr/>
          <p:nvPr/>
        </p:nvSpPr>
        <p:spPr>
          <a:xfrm>
            <a:off x="9900078" y="4892040"/>
            <a:ext cx="0" cy="1033272"/>
          </a:xfrm>
          <a:prstGeom prst="line">
            <a:avLst/>
          </a:prstGeom>
          <a:noFill/>
          <a:ln w="6350">
            <a:solidFill>
              <a:srgbClr val="E2DCD2"/>
            </a:solidFill>
            <a:prstDash val="solid"/>
          </a:ln>
        </p:spPr>
        <p:txBody>
          <a:bodyPr>
            <a:noAutofit/>
          </a:bodyPr>
          <a:p/>
        </p:txBody>
      </p:sp>
      <p:sp>
        <p:nvSpPr>
          <p:cNvPr id="65" name="shape:065"/>
          <p:cNvSpPr/>
          <p:nvPr/>
        </p:nvSpPr>
        <p:spPr>
          <a:xfrm>
            <a:off x="10009806" y="4873752"/>
            <a:ext cx="1276633" cy="1106424"/>
          </a:xfrm>
          <a:prstGeom prst="rect">
            <a:avLst/>
          </a:prstGeom>
          <a:noFill/>
          <a:ln/>
        </p:spPr>
        <p:txBody>
          <a:bodyPr wrap="square" lIns="381" tIns="381" rIns="381" bIns="381" rtlCol="0" anchor="t">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14</a:t>
            </a:r>
            <a:endParaRPr lang="en-US" sz="1000" dirty="0"/>
          </a:p>
        </p:txBody>
      </p:sp>
      <p:sp>
        <p:nvSpPr>
          <p:cNvPr id="6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バリューチェーン</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