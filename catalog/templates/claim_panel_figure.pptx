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"claim_panel_figure", "upstream_commit": "e5dd04dc6f1acf010046d2fc7319bcf5242a849a", "source_pptx_slide": 41,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パーツ11｜主張パネル＋図</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主張パネル＋図</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41</a:t>
            </a:r>
            <a:endParaRPr lang="en-US" sz="750" dirty="0"/>
          </a:p>
        </p:txBody>
      </p:sp>
      <p:sp>
        <p:nvSpPr>
          <p:cNvPr id="10" name="shape:010"/>
          <p:cNvSpPr/>
          <p:nvPr/>
        </p:nvSpPr>
        <p:spPr>
          <a:xfrm>
            <a:off x="576072" y="1572768"/>
            <a:ext cx="2232000" cy="4599432"/>
          </a:xfrm>
          <a:prstGeom prst="rect">
            <a:avLst/>
          </a:prstGeom>
          <a:solidFill>
            <a:srgbClr val="322014"/>
          </a:solidFill>
          <a:ln/>
        </p:spPr>
        <p:txBody>
          <a:bodyPr>
            <a:noAutofit/>
          </a:bodyPr>
          <a:p/>
        </p:txBody>
      </p:sp>
      <p:sp>
        <p:nvSpPr>
          <p:cNvPr id="11" name="shape:011"/>
          <p:cNvSpPr/>
          <p:nvPr/>
        </p:nvSpPr>
        <p:spPr>
          <a:xfrm>
            <a:off x="792072" y="1788768"/>
            <a:ext cx="1800000" cy="384048"/>
          </a:xfrm>
          <a:prstGeom prst="rect">
            <a:avLst/>
          </a:prstGeom>
          <a:noFill/>
          <a:ln/>
        </p:spPr>
        <p:txBody>
          <a:bodyPr wrap="square" lIns="0" tIns="0" rIns="0" bIns="0" rtlCol="0" anchor="t">
            <a:noAutofit/>
          </a:bodyPr>
          <a:lstStyle/>
          <a:p>
            <a:pPr algn="l" indent="0" marL="0">
              <a:buNone/>
            </a:pPr>
            <a:r>
              <a:rPr lang="en-US" sz="2600" b="1" dirty="0">
                <a:solidFill>
                  <a:srgbClr val="C5A681"/>
                </a:solidFill>
                <a:latin typeface="Yu Mincho Demibold" pitchFamily="34" charset="0"/>
                <a:ea typeface="Yu Mincho Demibold" pitchFamily="34" charset="-122"/>
                <a:cs typeface="Yu Mincho Demibold" pitchFamily="34" charset="-120"/>
              </a:rPr>
              <a:t>2</a:t>
            </a:r>
            <a:endParaRPr lang="en-US" sz="2600" dirty="0"/>
          </a:p>
        </p:txBody>
      </p:sp>
      <p:sp>
        <p:nvSpPr>
          <p:cNvPr id="12" name="shape:012"/>
          <p:cNvSpPr/>
          <p:nvPr/>
        </p:nvSpPr>
        <p:spPr>
          <a:xfrm>
            <a:off x="792072" y="2209392"/>
            <a:ext cx="1800000" cy="219456"/>
          </a:xfrm>
          <a:prstGeom prst="rect">
            <a:avLst/>
          </a:prstGeom>
          <a:noFill/>
          <a:ln/>
        </p:spPr>
        <p:txBody>
          <a:bodyPr wrap="square" lIns="0" tIns="0" rIns="0" bIns="0" rtlCol="0" anchor="t">
            <a:noAutofit/>
          </a:bodyPr>
          <a:lstStyle/>
          <a:p>
            <a:pPr indent="0" marL="0">
              <a:buNone/>
            </a:pPr>
            <a:r>
              <a:rPr lang="en-US" sz="950" b="1" spc="100" kern="0" dirty="0">
                <a:solidFill>
                  <a:srgbClr val="E2DCD2"/>
                </a:solidFill>
                <a:latin typeface="Yu Gothic" pitchFamily="34" charset="0"/>
                <a:ea typeface="Yu Gothic" pitchFamily="34" charset="-122"/>
                <a:cs typeface="Yu Gothic" pitchFamily="34" charset="-120"/>
              </a:rPr>
              <a:t>ラベル 1（区分名）</a:t>
            </a:r>
            <a:endParaRPr lang="en-US" sz="950" dirty="0"/>
          </a:p>
        </p:txBody>
      </p:sp>
      <p:sp>
        <p:nvSpPr>
          <p:cNvPr id="13" name="shape:013"/>
          <p:cNvSpPr/>
          <p:nvPr/>
        </p:nvSpPr>
        <p:spPr>
          <a:xfrm>
            <a:off x="792072" y="4676040"/>
            <a:ext cx="1800000" cy="1280160"/>
          </a:xfrm>
          <a:prstGeom prst="rect">
            <a:avLst/>
          </a:prstGeom>
          <a:noFill/>
          <a:ln/>
        </p:spPr>
        <p:txBody>
          <a:bodyPr wrap="square" lIns="0" tIns="0" rIns="0" bIns="0" rtlCol="0" anchor="b">
            <a:noAutofit/>
          </a:bodyPr>
          <a:lstStyle/>
          <a:p>
            <a:pPr algn="l" indent="0" marL="0">
              <a:buNone/>
            </a:pPr>
            <a:r>
              <a:rPr lang="en-US" sz="1400" b="1" dirty="0">
                <a:solidFill>
                  <a:srgbClr val="FFFFFF"/>
                </a:solidFill>
                <a:latin typeface="Yu Mincho Demibold" pitchFamily="34" charset="0"/>
                <a:ea typeface="Yu Mincho Demibold" pitchFamily="34" charset="-122"/>
                <a:cs typeface="Yu Mincho Demibold" pitchFamily="34" charset="-120"/>
              </a:rPr>
              <a:t>Text 1（この1枚の主張を1文で）</a:t>
            </a:r>
            <a:endParaRPr lang="en-US" sz="1400" dirty="0"/>
          </a:p>
        </p:txBody>
      </p:sp>
      <p:sp>
        <p:nvSpPr>
          <p:cNvPr id="14" name="shape:014"/>
          <p:cNvSpPr/>
          <p:nvPr/>
        </p:nvSpPr>
        <p:spPr>
          <a:xfrm>
            <a:off x="3096072" y="1609344"/>
            <a:ext cx="6690751" cy="237744"/>
          </a:xfrm>
          <a:prstGeom prst="rect">
            <a:avLst/>
          </a:prstGeom>
          <a:noFill/>
          <a:ln/>
        </p:spPr>
        <p:txBody>
          <a:bodyPr wrap="square" lIns="0" tIns="0" rIns="0" bIns="0" rtlCol="0" anchor="b">
            <a:noAutofit/>
          </a:bodyPr>
          <a:lstStyle/>
          <a:p>
            <a:pPr algn="l" indent="0" marL="0">
              <a:buNone/>
            </a:pPr>
            <a:r>
              <a:rPr lang="en-US" sz="1150" b="1" dirty="0">
                <a:solidFill>
                  <a:srgbClr val="322014"/>
                </a:solidFill>
                <a:latin typeface="Yu Mincho Demibold" pitchFamily="34" charset="0"/>
                <a:ea typeface="Yu Mincho Demibold" pitchFamily="34" charset="-122"/>
                <a:cs typeface="Yu Mincho Demibold" pitchFamily="34" charset="-120"/>
              </a:rPr>
              <a:t>指標名</a:t>
            </a:r>
            <a:endParaRPr lang="en-US" sz="1150" dirty="0"/>
          </a:p>
        </p:txBody>
      </p:sp>
      <p:sp>
        <p:nvSpPr>
          <p:cNvPr id="15" name="shape:015"/>
          <p:cNvSpPr/>
          <p:nvPr/>
        </p:nvSpPr>
        <p:spPr>
          <a:xfrm>
            <a:off x="9786823" y="1609344"/>
            <a:ext cx="1828800" cy="237744"/>
          </a:xfrm>
          <a:prstGeom prst="rect">
            <a:avLst/>
          </a:prstGeom>
          <a:noFill/>
          <a:ln/>
        </p:spPr>
        <p:txBody>
          <a:bodyPr wrap="square" lIns="0" tIns="0" rIns="0" bIns="0" rtlCol="0" anchor="b">
            <a:noAutofit/>
          </a:bodyPr>
          <a:lstStyle/>
          <a:p>
            <a:pPr algn="r" indent="0" marL="0">
              <a:buNone/>
            </a:pPr>
            <a:r>
              <a:rPr lang="en-US" sz="850" dirty="0">
                <a:solidFill>
                  <a:srgbClr val="8A7B6B"/>
                </a:solidFill>
                <a:latin typeface="Yu Gothic" pitchFamily="34" charset="0"/>
                <a:ea typeface="Yu Gothic" pitchFamily="34" charset="-122"/>
                <a:cs typeface="Yu Gothic" pitchFamily="34" charset="-120"/>
              </a:rPr>
              <a:t>単位、YYYY〜YYYY年</a:t>
            </a:r>
            <a:endParaRPr lang="en-US" sz="850" dirty="0"/>
          </a:p>
        </p:txBody>
      </p:sp>
      <p:sp>
        <p:nvSpPr>
          <p:cNvPr id="16" name="shape:016"/>
          <p:cNvSpPr/>
          <p:nvPr/>
        </p:nvSpPr>
        <p:spPr>
          <a:xfrm>
            <a:off x="3096072" y="1883664"/>
            <a:ext cx="8519551" cy="0"/>
          </a:xfrm>
          <a:prstGeom prst="line">
            <a:avLst/>
          </a:prstGeom>
          <a:noFill/>
          <a:ln w="17780">
            <a:solidFill>
              <a:srgbClr val="322014"/>
            </a:solidFill>
            <a:prstDash val="solid"/>
          </a:ln>
        </p:spPr>
        <p:txBody>
          <a:bodyPr>
            <a:noAutofit/>
          </a:bodyPr>
          <a:p/>
        </p:txBody>
      </p:sp>
      <p:graphicFrame>
        <p:nvGraphicFramePr>
          <p:cNvPr id="42" name="shape:042"/>
          <p:cNvGraphicFramePr>
            <a:graphicFrameLocks noGrp="1"/>
          </p:cNvGraphicFramePr>
          <p:nvPr>
            <p:extLst>
              <p:ext uri="{D42A27DB-BD31-4B8C-83A1-F6EECF244321}">
                <p14:modId xmlns:p14="http://schemas.microsoft.com/office/powerpoint/2010/main" val="1579011935"/>
              </p:ext>
            </p:extLst>
          </p:nvPr>
        </p:nvGraphicFramePr>
        <p:xfrm>
          <a:off x="3096072" y="1993392"/>
          <a:ext cx="8519551" cy="914400"/>
        </p:xfrm>
        <a:graphic>
          <a:graphicData uri="http://schemas.openxmlformats.org/drawingml/2006/table">
            <a:tbl>
              <a:tblPr/>
              <a:tblGrid>
                <a:gridCol w="1440000"/>
                <a:gridCol w="1152000"/>
                <a:gridCol w="5927551"/>
              </a:tblGrid>
              <a:tr h="1392936">
                <a:tc>
                  <a:txBody>
                    <a:bodyPr/>
                    <a:lstStyle/>
                    <a:p>
                      <a:pPr indent="0" marL="0">
                        <a:buNone/>
                      </a:pPr>
                      <a:r>
                        <a:rPr lang="en-US" sz="1100" b="1" dirty="0">
                          <a:solidFill>
                            <a:srgbClr val="5A3921"/>
                          </a:solidFill>
                          <a:latin typeface="Yu Mincho Demibold" pitchFamily="34" charset="0"/>
                          <a:ea typeface="Yu Mincho Demibold" pitchFamily="34" charset="-122"/>
                          <a:cs typeface="Yu Mincho Demibold" pitchFamily="34" charset="-120"/>
                        </a:rPr>
                        <a:t>ラベル 7</a:t>
                      </a:r>
                      <a:endParaRPr lang="en-US" sz="1100" dirty="0">
                        <a:latin typeface="Yu Mincho Demibold" charset="0"/>
                        <a:ea typeface="Yu Mincho Demibold" charset="0"/>
                        <a:cs typeface="Yu Mincho Demibold" charset="0"/>
                      </a:endParaRPr>
                    </a:p>
                  </a:txBody>
                  <a:tcPr marL="91440" marR="91440"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indent="0" marL="0">
                        <a:buNone/>
                      </a:pPr>
                      <a:r>
                        <a:rPr lang="en-US" sz="1400" b="1" dirty="0">
                          <a:solidFill>
                            <a:srgbClr val="322014"/>
                          </a:solidFill>
                          <a:latin typeface="Yu Gothic" pitchFamily="34" charset="0"/>
                          <a:ea typeface="Yu Gothic" pitchFamily="34" charset="-122"/>
                          <a:cs typeface="Yu Gothic" pitchFamily="34" charset="-120"/>
                        </a:rPr>
                        <a:t>ラベル 8</a:t>
                      </a:r>
                      <a:endParaRPr lang="en-US" sz="1400" dirty="0">
                        <a:latin typeface="Yu Gothic" charset="0"/>
                        <a:ea typeface="Yu Gothic" charset="0"/>
                        <a:cs typeface="Yu Gothic" charset="0"/>
                      </a:endParaRPr>
                    </a:p>
                  </a:txBody>
                  <a:tcPr marL="91440" marR="91440"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indent="0" marL="0">
                        <a:buNone/>
                      </a:pPr>
                      <a:r>
                        <a:rPr lang="en-US" sz="1000" dirty="0">
                          <a:solidFill>
                            <a:srgbClr val="322014"/>
                          </a:solidFill>
                          <a:latin typeface="Yu Gothic" pitchFamily="34" charset="0"/>
                          <a:ea typeface="Yu Gothic" pitchFamily="34" charset="-122"/>
                          <a:cs typeface="Yu Gothic" pitchFamily="34" charset="-120"/>
                        </a:rPr>
                        <a:t>Text 1</a:t>
                      </a:r>
                      <a:endParaRPr lang="en-US" sz="1000" dirty="0">
                        <a:latin typeface="Yu Gothic" charset="0"/>
                        <a:ea typeface="Yu Gothic" charset="0"/>
                        <a:cs typeface="Yu Gothic" charset="0"/>
                      </a:endParaRPr>
                    </a:p>
                  </a:txBody>
                  <a:tcPr marL="91440" marR="91440"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1392936">
                <a:tc>
                  <a:txBody>
                    <a:bodyPr/>
                    <a:lstStyle/>
                    <a:p>
                      <a:pPr indent="0" marL="0">
                        <a:buNone/>
                      </a:pPr>
                      <a:r>
                        <a:rPr lang="en-US" sz="1100" b="1" dirty="0">
                          <a:solidFill>
                            <a:srgbClr val="5A3921"/>
                          </a:solidFill>
                          <a:latin typeface="Yu Mincho Demibold" pitchFamily="34" charset="0"/>
                          <a:ea typeface="Yu Mincho Demibold" pitchFamily="34" charset="-122"/>
                          <a:cs typeface="Yu Mincho Demibold" pitchFamily="34" charset="-120"/>
                        </a:rPr>
                        <a:t>ラベル 9</a:t>
                      </a:r>
                      <a:endParaRPr lang="en-US" sz="1100" dirty="0">
                        <a:latin typeface="Yu Mincho Demibold" charset="0"/>
                        <a:ea typeface="Yu Mincho Demibold" charset="0"/>
                        <a:cs typeface="Yu Mincho Demibold" charset="0"/>
                      </a:endParaRPr>
                    </a:p>
                  </a:txBody>
                  <a:tcPr marL="91440" marR="91440"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indent="0" marL="0">
                        <a:buNone/>
                      </a:pPr>
                      <a:r>
                        <a:rPr lang="en-US" sz="1400" b="1" dirty="0">
                          <a:solidFill>
                            <a:srgbClr val="322014"/>
                          </a:solidFill>
                          <a:latin typeface="Yu Gothic" pitchFamily="34" charset="0"/>
                          <a:ea typeface="Yu Gothic" pitchFamily="34" charset="-122"/>
                          <a:cs typeface="Yu Gothic" pitchFamily="34" charset="-120"/>
                        </a:rPr>
                        <a:t>ラベル 10</a:t>
                      </a:r>
                      <a:endParaRPr lang="en-US" sz="1400" dirty="0">
                        <a:latin typeface="Yu Gothic" charset="0"/>
                        <a:ea typeface="Yu Gothic" charset="0"/>
                        <a:cs typeface="Yu Gothic" charset="0"/>
                      </a:endParaRPr>
                    </a:p>
                  </a:txBody>
                  <a:tcPr marL="91440" marR="91440"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indent="0" marL="0">
                        <a:buNone/>
                      </a:pPr>
                      <a:r>
                        <a:rPr lang="en-US" sz="1000" dirty="0">
                          <a:solidFill>
                            <a:srgbClr val="322014"/>
                          </a:solidFill>
                          <a:latin typeface="Yu Gothic" pitchFamily="34" charset="0"/>
                          <a:ea typeface="Yu Gothic" pitchFamily="34" charset="-122"/>
                          <a:cs typeface="Yu Gothic" pitchFamily="34" charset="-120"/>
                        </a:rPr>
                        <a:t>Text 2</a:t>
                      </a:r>
                      <a:endParaRPr lang="en-US" sz="1000" dirty="0">
                        <a:latin typeface="Yu Gothic" charset="0"/>
                        <a:ea typeface="Yu Gothic" charset="0"/>
                        <a:cs typeface="Yu Gothic" charset="0"/>
                      </a:endParaRPr>
                    </a:p>
                  </a:txBody>
                  <a:tcPr marL="91440" marR="91440"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1392936">
                <a:tc>
                  <a:txBody>
                    <a:bodyPr/>
                    <a:lstStyle/>
                    <a:p>
                      <a:pPr indent="0" marL="0">
                        <a:buNone/>
                      </a:pPr>
                      <a:r>
                        <a:rPr lang="en-US" sz="1100" b="1" dirty="0">
                          <a:solidFill>
                            <a:srgbClr val="5A3921"/>
                          </a:solidFill>
                          <a:latin typeface="Yu Mincho Demibold" pitchFamily="34" charset="0"/>
                          <a:ea typeface="Yu Mincho Demibold" pitchFamily="34" charset="-122"/>
                          <a:cs typeface="Yu Mincho Demibold" pitchFamily="34" charset="-120"/>
                        </a:rPr>
                        <a:t>ラベル 11</a:t>
                      </a:r>
                      <a:endParaRPr lang="en-US" sz="1100" dirty="0">
                        <a:latin typeface="Yu Mincho Demibold" charset="0"/>
                        <a:ea typeface="Yu Mincho Demibold" charset="0"/>
                        <a:cs typeface="Yu Mincho Demibold" charset="0"/>
                      </a:endParaRPr>
                    </a:p>
                  </a:txBody>
                  <a:tcPr marL="91440" marR="91440"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0" cap="flat" cmpd="sng" algn="ctr">
                      <a:noFill/>
                    </a:lnB>
                  </a:tcPr>
                </a:tc>
                <a:tc>
                  <a:txBody>
                    <a:bodyPr/>
                    <a:lstStyle/>
                    <a:p>
                      <a:pPr indent="0" marL="0">
                        <a:buNone/>
                      </a:pPr>
                      <a:r>
                        <a:rPr lang="en-US" sz="1400" b="1" dirty="0">
                          <a:solidFill>
                            <a:srgbClr val="322014"/>
                          </a:solidFill>
                          <a:latin typeface="Yu Gothic" pitchFamily="34" charset="0"/>
                          <a:ea typeface="Yu Gothic" pitchFamily="34" charset="-122"/>
                          <a:cs typeface="Yu Gothic" pitchFamily="34" charset="-120"/>
                        </a:rPr>
                        <a:t>ラベル 12</a:t>
                      </a:r>
                      <a:endParaRPr lang="en-US" sz="1400" dirty="0">
                        <a:latin typeface="Yu Gothic" charset="0"/>
                        <a:ea typeface="Yu Gothic" charset="0"/>
                        <a:cs typeface="Yu Gothic" charset="0"/>
                      </a:endParaRPr>
                    </a:p>
                  </a:txBody>
                  <a:tcPr marL="91440" marR="91440" marT="54864" marB="54864"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000" dirty="0">
                          <a:solidFill>
                            <a:srgbClr val="322014"/>
                          </a:solidFill>
                          <a:latin typeface="Yu Gothic" pitchFamily="34" charset="0"/>
                          <a:ea typeface="Yu Gothic" pitchFamily="34" charset="-122"/>
                          <a:cs typeface="Yu Gothic" pitchFamily="34" charset="-120"/>
                        </a:rPr>
                        <a:t>Text 3</a:t>
                      </a:r>
                      <a:endParaRPr lang="en-US" sz="1000" dirty="0">
                        <a:latin typeface="Yu Gothic" charset="0"/>
                        <a:ea typeface="Yu Gothic" charset="0"/>
                        <a:cs typeface="Yu Gothic" charset="0"/>
                      </a:endParaRPr>
                    </a:p>
                  </a:txBody>
                  <a:tcPr marL="91440" marR="91440" marT="54864" marB="54864" anchor="ctr">
                    <a:lnL w="0" cap="flat" cmpd="sng" algn="ctr">
                      <a:noFill/>
                    </a:lnL>
                    <a:lnR w="0" cap="flat" cmpd="sng" algn="ctr">
                      <a:noFill/>
                    </a:lnR>
                    <a:lnT w="0" cap="flat" cmpd="sng" algn="ctr">
                      <a:noFill/>
                    </a:lnT>
                    <a:lnB w="0" cap="flat" cmpd="sng" algn="ctr">
                      <a:noFill/>
                    </a:lnB>
                  </a:tcPr>
                </a:tc>
              </a:tr>
            </a:tbl>
          </a:graphicData>
        </a:graphic>
      </p:graphicFrame>
      <p:sp>
        <p:nvSpPr>
          <p:cNvPr id="43"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主張パネル＋図</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