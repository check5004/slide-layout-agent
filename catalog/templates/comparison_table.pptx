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"comparison_table", "upstream_commit": "e5dd04dc6f1acf010046d2fc7319bcf5242a849a", "source_pptx_slide": 28,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10  COMPARISON_TABLE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選択肢の比較表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28</a:t>
            </a:r>
            <a:endParaRPr lang="en-US" sz="750" dirty="0"/>
          </a:p>
        </p:txBody>
      </p:sp>
      <p:graphicFrame>
        <p:nvGraphicFramePr>
          <p:cNvPr id="29" name="shape:029"/>
          <p:cNvGraphicFramePr>
            <a:graphicFrameLocks noGrp="1"/>
          </p:cNvGraphicFramePr>
          <p:nvPr>
            <p:extLst>
              <p:ext uri="{D42A27DB-BD31-4B8C-83A1-F6EECF244321}">
                <p14:modId xmlns:p14="http://schemas.microsoft.com/office/powerpoint/2010/main" val="1579011935"/>
              </p:ext>
            </p:extLst>
          </p:nvPr>
        </p:nvGraphicFramePr>
        <p:xfrm>
          <a:off x="576072" y="2029968"/>
          <a:ext cx="11091672" cy="3950208"/>
        </p:xfrm>
        <a:graphic>
          <a:graphicData uri="http://schemas.openxmlformats.org/drawingml/2006/table">
            <a:tbl>
              <a:tblPr/>
              <a:tblGrid>
                <a:gridCol w="2194560"/>
                <a:gridCol w="2194560"/>
                <a:gridCol w="2194560"/>
                <a:gridCol w="4507992"/>
              </a:tblGrid>
              <a:tr h="384048">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評価軸</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自社</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競合</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c>
                  <a:txBody>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含意</a:t>
                      </a:r>
                      <a:endParaRPr lang="en-US" sz="12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15240" cap="flat" cmpd="sng" algn="ctr">
                      <a:solidFill>
                        <a:srgbClr val="322014"/>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ラベル1</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ラベル3</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1</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2</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ラベル5</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3</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4</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r h="1188720">
                <a:tc>
                  <a:txBody>
                    <a:bodyPr/>
                    <a:lstStyle/>
                    <a:p>
                      <a:pPr algn="l" indent="0" marL="0">
                        <a:buNone/>
                      </a:pPr>
                      <a:r>
                        <a:rPr lang="en-US" sz="1050" b="1" dirty="0">
                          <a:solidFill>
                            <a:srgbClr val="322014"/>
                          </a:solidFill>
                          <a:latin typeface="Yu Gothic" pitchFamily="34" charset="0"/>
                          <a:ea typeface="Yu Gothic" pitchFamily="34" charset="-122"/>
                          <a:cs typeface="Yu Gothic" pitchFamily="34" charset="-120"/>
                        </a:rPr>
                        <a:t>ラベル7</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ラベル8</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ラベル9</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5</a:t>
                      </a:r>
                      <a:endParaRPr lang="en-US" sz="1050" dirty="0">
                        <a:latin typeface="Yu Gothic" charset="0"/>
                        <a:ea typeface="Yu Gothic" charset="0"/>
                        <a:cs typeface="Yu Gothic" charset="0"/>
                      </a:endParaRPr>
                    </a:p>
                    <a:p>
                      <a:pPr algn="l" marL="127000" indent="-127000">
                        <a:buSzPct val="100000"/>
                        <a:buChar char="•"/>
                      </a:pPr>
                      <a:r>
                        <a:rPr lang="en-US" sz="1050" dirty="0">
                          <a:solidFill>
                            <a:srgbClr val="322014"/>
                          </a:solidFill>
                          <a:latin typeface="Yu Gothic" pitchFamily="34" charset="0"/>
                          <a:ea typeface="Yu Gothic" pitchFamily="34" charset="-122"/>
                          <a:cs typeface="Yu Gothic" pitchFamily="34" charset="-120"/>
                        </a:rPr>
                        <a:t>Text 6</a:t>
                      </a:r>
                      <a:endParaRPr lang="en-US" sz="1050" dirty="0">
                        <a:latin typeface="Yu Gothic" charset="0"/>
                        <a:ea typeface="Yu Gothic" charset="0"/>
                        <a:cs typeface="Yu Gothic" charset="0"/>
                      </a:endParaRPr>
                    </a:p>
                  </a:txBody>
                  <a:tcPr marL="0" marR="76200" marT="63500" marB="114300" anchor="t">
                    <a:lnL w="0" cap="flat" cmpd="sng" algn="ctr">
                      <a:noFill/>
                    </a:lnL>
                    <a:lnR w="0" cap="flat" cmpd="sng" algn="ctr">
                      <a:noFill/>
                    </a:lnR>
                    <a:lnT w="0" cap="flat" cmpd="sng" algn="ctr">
                      <a:noFill/>
                    </a:lnT>
                    <a:lnB w="6350" cap="flat" cmpd="sng" algn="ctr">
                      <a:solidFill>
                        <a:srgbClr val="E2DCD2"/>
                      </a:solidFill>
                      <a:prstDash val="solid"/>
                      <a:round/>
                      <a:headEnd type="none" w="med" len="med"/>
                      <a:tailEnd type="none" w="med" len="med"/>
                    </a:lnB>
                  </a:tcPr>
                </a:tc>
              </a:tr>
            </a:tbl>
          </a:graphicData>
        </a:graphic>
      </p:graphicFrame>
      <p:sp>
        <p:nvSpPr>
          <p:cNvPr id="30"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選択肢の比較表</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