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"decision_page", "upstream_commit": "e5dd04dc6f1acf010046d2fc7319bcf5242a849a", "source_pptx_slide": 70,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35  DECISION_PAGE</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意思決定ページ</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70</a:t>
            </a:r>
            <a:endParaRPr lang="en-US" sz="750" dirty="0"/>
          </a:p>
        </p:txBody>
      </p:sp>
      <p:sp>
        <p:nvSpPr>
          <p:cNvPr id="10" name="shape:010"/>
          <p:cNvSpPr/>
          <p:nvPr/>
        </p:nvSpPr>
        <p:spPr>
          <a:xfrm>
            <a:off x="576072" y="2894076"/>
            <a:ext cx="5212080" cy="0"/>
          </a:xfrm>
          <a:prstGeom prst="line">
            <a:avLst/>
          </a:prstGeom>
          <a:noFill/>
          <a:ln w="27940">
            <a:solidFill>
              <a:srgbClr val="5A3921"/>
            </a:solidFill>
            <a:prstDash val="solid"/>
          </a:ln>
        </p:spPr>
        <p:txBody>
          <a:bodyPr>
            <a:noAutofit/>
          </a:bodyPr>
          <a:p/>
        </p:txBody>
      </p:sp>
      <p:sp>
        <p:nvSpPr>
          <p:cNvPr id="11" name="shape:011"/>
          <p:cNvSpPr/>
          <p:nvPr/>
        </p:nvSpPr>
        <p:spPr>
          <a:xfrm>
            <a:off x="576072" y="3104388"/>
            <a:ext cx="2194560" cy="219456"/>
          </a:xfrm>
          <a:prstGeom prst="rect">
            <a:avLst/>
          </a:prstGeom>
          <a:noFill/>
          <a:ln/>
        </p:spPr>
        <p:txBody>
          <a:bodyPr wrap="square" lIns="381" tIns="381" rIns="381" bIns="381" rtlCol="0" anchor="t">
            <a:noAutofit/>
          </a:bodyPr>
          <a:lstStyle/>
          <a:p>
            <a:pPr algn="l" indent="0" marL="0">
              <a:buNone/>
            </a:pPr>
            <a:r>
              <a:rPr lang="en-US" sz="1050" b="1" dirty="0">
                <a:solidFill>
                  <a:srgbClr val="8A7B6B"/>
                </a:solidFill>
                <a:latin typeface="Yu Gothic" pitchFamily="34" charset="0"/>
                <a:ea typeface="Yu Gothic" pitchFamily="34" charset="-122"/>
                <a:cs typeface="Yu Gothic" pitchFamily="34" charset="-120"/>
              </a:rPr>
              <a:t>推奨する意思決定</a:t>
            </a:r>
            <a:endParaRPr lang="en-US" sz="1050" dirty="0"/>
          </a:p>
        </p:txBody>
      </p:sp>
      <p:sp>
        <p:nvSpPr>
          <p:cNvPr id="12" name="shape:012"/>
          <p:cNvSpPr/>
          <p:nvPr/>
        </p:nvSpPr>
        <p:spPr>
          <a:xfrm>
            <a:off x="576072" y="3470148"/>
            <a:ext cx="5303520" cy="1371600"/>
          </a:xfrm>
          <a:prstGeom prst="rect">
            <a:avLst/>
          </a:prstGeom>
          <a:noFill/>
          <a:ln/>
        </p:spPr>
        <p:txBody>
          <a:bodyPr wrap="square" lIns="381" tIns="381" rIns="381" bIns="381" rtlCol="0" anchor="t">
            <a:noAutofit/>
          </a:bodyPr>
          <a:lstStyle/>
          <a:p>
            <a:pPr algn="l" indent="0" marL="0">
              <a:buNone/>
            </a:pPr>
            <a:r>
              <a:rPr lang="en-US" sz="2200" b="1" dirty="0">
                <a:solidFill>
                  <a:srgbClr val="322014"/>
                </a:solidFill>
                <a:latin typeface="Yu Gothic" pitchFamily="34" charset="0"/>
                <a:ea typeface="Yu Gothic" pitchFamily="34" charset="-122"/>
                <a:cs typeface="Yu Gothic" pitchFamily="34" charset="-120"/>
              </a:rPr>
              <a:t>Text 1</a:t>
            </a:r>
            <a:endParaRPr lang="en-US" sz="2200" dirty="0"/>
          </a:p>
        </p:txBody>
      </p:sp>
      <p:sp>
        <p:nvSpPr>
          <p:cNvPr id="13" name="shape:013"/>
          <p:cNvSpPr/>
          <p:nvPr/>
        </p:nvSpPr>
        <p:spPr>
          <a:xfrm>
            <a:off x="6217920" y="2921508"/>
            <a:ext cx="274320" cy="25603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1</a:t>
            </a:r>
            <a:endParaRPr lang="en-US" sz="1600" dirty="0"/>
          </a:p>
        </p:txBody>
      </p:sp>
      <p:sp>
        <p:nvSpPr>
          <p:cNvPr id="14" name="shape:014"/>
          <p:cNvSpPr/>
          <p:nvPr/>
        </p:nvSpPr>
        <p:spPr>
          <a:xfrm>
            <a:off x="6720840" y="2921508"/>
            <a:ext cx="4572000" cy="384048"/>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Text 2</a:t>
            </a:r>
            <a:endParaRPr lang="en-US" sz="1350" dirty="0"/>
          </a:p>
        </p:txBody>
      </p:sp>
      <p:sp>
        <p:nvSpPr>
          <p:cNvPr id="15" name="shape:015"/>
          <p:cNvSpPr/>
          <p:nvPr/>
        </p:nvSpPr>
        <p:spPr>
          <a:xfrm>
            <a:off x="6172200" y="3406140"/>
            <a:ext cx="5074920" cy="0"/>
          </a:xfrm>
          <a:prstGeom prst="line">
            <a:avLst/>
          </a:prstGeom>
          <a:noFill/>
          <a:ln w="6350">
            <a:solidFill>
              <a:srgbClr val="E2DCD2"/>
            </a:solidFill>
            <a:prstDash val="solid"/>
          </a:ln>
        </p:spPr>
        <p:txBody>
          <a:bodyPr>
            <a:noAutofit/>
          </a:bodyPr>
          <a:p/>
        </p:txBody>
      </p:sp>
      <p:sp>
        <p:nvSpPr>
          <p:cNvPr id="16" name="shape:016"/>
          <p:cNvSpPr/>
          <p:nvPr/>
        </p:nvSpPr>
        <p:spPr>
          <a:xfrm>
            <a:off x="6217920" y="3634740"/>
            <a:ext cx="274320" cy="25603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2</a:t>
            </a:r>
            <a:endParaRPr lang="en-US" sz="1600" dirty="0"/>
          </a:p>
        </p:txBody>
      </p:sp>
      <p:sp>
        <p:nvSpPr>
          <p:cNvPr id="17" name="shape:017"/>
          <p:cNvSpPr/>
          <p:nvPr/>
        </p:nvSpPr>
        <p:spPr>
          <a:xfrm>
            <a:off x="6720840" y="3634740"/>
            <a:ext cx="4572000" cy="384048"/>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Text 3</a:t>
            </a:r>
            <a:endParaRPr lang="en-US" sz="1350" dirty="0"/>
          </a:p>
        </p:txBody>
      </p:sp>
      <p:sp>
        <p:nvSpPr>
          <p:cNvPr id="18" name="shape:018"/>
          <p:cNvSpPr/>
          <p:nvPr/>
        </p:nvSpPr>
        <p:spPr>
          <a:xfrm>
            <a:off x="6172200" y="4119372"/>
            <a:ext cx="5074920" cy="0"/>
          </a:xfrm>
          <a:prstGeom prst="line">
            <a:avLst/>
          </a:prstGeom>
          <a:noFill/>
          <a:ln w="6350">
            <a:solidFill>
              <a:srgbClr val="E2DCD2"/>
            </a:solidFill>
            <a:prstDash val="solid"/>
          </a:ln>
        </p:spPr>
        <p:txBody>
          <a:bodyPr>
            <a:noAutofit/>
          </a:bodyPr>
          <a:p/>
        </p:txBody>
      </p:sp>
      <p:sp>
        <p:nvSpPr>
          <p:cNvPr id="19" name="shape:019"/>
          <p:cNvSpPr/>
          <p:nvPr/>
        </p:nvSpPr>
        <p:spPr>
          <a:xfrm>
            <a:off x="6217920" y="4347972"/>
            <a:ext cx="274320" cy="25603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3</a:t>
            </a:r>
            <a:endParaRPr lang="en-US" sz="1600" dirty="0"/>
          </a:p>
        </p:txBody>
      </p:sp>
      <p:sp>
        <p:nvSpPr>
          <p:cNvPr id="20" name="shape:020"/>
          <p:cNvSpPr/>
          <p:nvPr/>
        </p:nvSpPr>
        <p:spPr>
          <a:xfrm>
            <a:off x="6720840" y="4347972"/>
            <a:ext cx="4572000" cy="384048"/>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Text 4</a:t>
            </a:r>
            <a:endParaRPr lang="en-US" sz="1350" dirty="0"/>
          </a:p>
        </p:txBody>
      </p:sp>
      <p:sp>
        <p:nvSpPr>
          <p:cNvPr id="21" name="shape:021"/>
          <p:cNvSpPr/>
          <p:nvPr/>
        </p:nvSpPr>
        <p:spPr>
          <a:xfrm>
            <a:off x="6172200" y="4832604"/>
            <a:ext cx="5074920" cy="0"/>
          </a:xfrm>
          <a:prstGeom prst="line">
            <a:avLst/>
          </a:prstGeom>
          <a:noFill/>
          <a:ln w="6350">
            <a:solidFill>
              <a:srgbClr val="E2DCD2"/>
            </a:solidFill>
            <a:prstDash val="solid"/>
          </a:ln>
        </p:spPr>
        <p:txBody>
          <a:bodyPr>
            <a:noAutofit/>
          </a:bodyPr>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意思決定ページ</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