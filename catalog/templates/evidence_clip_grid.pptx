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"evidence_clip_grid", "upstream_commit": "e5dd04dc6f1acf010046d2fc7319bcf5242a849a", "source_pptx_slide": 69,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パーツ21｜外部動向の根拠グリッド</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外部動向の根拠グリッド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1（YYYY年M月D日）、Source 2（YYYY年M月D日）</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69</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56072" y="1734768"/>
            <a:ext cx="797220" cy="182880"/>
          </a:xfrm>
          <a:prstGeom prst="rect">
            <a:avLst/>
          </a:prstGeom>
          <a:solidFill>
            <a:srgbClr val="322014"/>
          </a:solidFill>
          <a:ln/>
        </p:spPr>
        <p:txBody>
          <a:bodyPr>
            <a:noAutofit/>
          </a:bodyPr>
          <a:p/>
        </p:txBody>
      </p:sp>
      <p:sp>
        <p:nvSpPr>
          <p:cNvPr id="12" name="shape:012"/>
          <p:cNvSpPr/>
          <p:nvPr/>
        </p:nvSpPr>
        <p:spPr>
          <a:xfrm>
            <a:off x="756072"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ラベル 1分類</a:t>
            </a:r>
            <a:endParaRPr lang="en-US" sz="750" dirty="0"/>
          </a:p>
        </p:txBody>
      </p:sp>
      <p:sp>
        <p:nvSpPr>
          <p:cNvPr id="13" name="shape:013"/>
          <p:cNvSpPr/>
          <p:nvPr/>
        </p:nvSpPr>
        <p:spPr>
          <a:xfrm>
            <a:off x="756072"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YYYY年M月D日</a:t>
            </a:r>
            <a:endParaRPr lang="en-US" sz="800" dirty="0"/>
          </a:p>
        </p:txBody>
      </p:sp>
      <p:sp>
        <p:nvSpPr>
          <p:cNvPr id="14" name="shape:014"/>
          <p:cNvSpPr/>
          <p:nvPr/>
        </p:nvSpPr>
        <p:spPr>
          <a:xfrm>
            <a:off x="756072"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Text 1</a:t>
            </a:r>
            <a:endParaRPr lang="en-US" sz="1100" dirty="0"/>
          </a:p>
        </p:txBody>
      </p:sp>
      <p:sp>
        <p:nvSpPr>
          <p:cNvPr id="15" name="shape:015"/>
          <p:cNvSpPr/>
          <p:nvPr/>
        </p:nvSpPr>
        <p:spPr>
          <a:xfrm>
            <a:off x="756072"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Text 2</a:t>
            </a:r>
            <a:endParaRPr lang="en-US" sz="850" dirty="0"/>
          </a:p>
        </p:txBody>
      </p:sp>
      <p:sp>
        <p:nvSpPr>
          <p:cNvPr id="16" name="shape:016"/>
          <p:cNvSpPr/>
          <p:nvPr/>
        </p:nvSpPr>
        <p:spPr>
          <a:xfrm>
            <a:off x="6167848" y="1572768"/>
            <a:ext cx="5447776" cy="2227716"/>
          </a:xfrm>
          <a:prstGeom prst="rect">
            <a:avLst/>
          </a:prstGeom>
          <a:solidFill>
            <a:srgbClr val="EFEEE8"/>
          </a:solidFill>
          <a:ln/>
        </p:spPr>
        <p:txBody>
          <a:bodyPr>
            <a:noAutofit/>
          </a:bodyPr>
          <a:p/>
        </p:txBody>
      </p:sp>
      <p:sp>
        <p:nvSpPr>
          <p:cNvPr id="17" name="shape:017"/>
          <p:cNvSpPr/>
          <p:nvPr/>
        </p:nvSpPr>
        <p:spPr>
          <a:xfrm>
            <a:off x="6347848" y="1734768"/>
            <a:ext cx="797220" cy="182880"/>
          </a:xfrm>
          <a:prstGeom prst="rect">
            <a:avLst/>
          </a:prstGeom>
          <a:solidFill>
            <a:srgbClr val="322014"/>
          </a:solidFill>
          <a:ln/>
        </p:spPr>
        <p:txBody>
          <a:bodyPr>
            <a:noAutofit/>
          </a:bodyPr>
          <a:p/>
        </p:txBody>
      </p:sp>
      <p:sp>
        <p:nvSpPr>
          <p:cNvPr id="18" name="shape:018"/>
          <p:cNvSpPr/>
          <p:nvPr/>
        </p:nvSpPr>
        <p:spPr>
          <a:xfrm>
            <a:off x="6347848" y="1734768"/>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ラベル 2分類</a:t>
            </a:r>
            <a:endParaRPr lang="en-US" sz="750" dirty="0"/>
          </a:p>
        </p:txBody>
      </p:sp>
      <p:sp>
        <p:nvSpPr>
          <p:cNvPr id="19" name="shape:019"/>
          <p:cNvSpPr/>
          <p:nvPr/>
        </p:nvSpPr>
        <p:spPr>
          <a:xfrm>
            <a:off x="6347848" y="1989648"/>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YYYY年M月D日</a:t>
            </a:r>
            <a:endParaRPr lang="en-US" sz="800" dirty="0"/>
          </a:p>
        </p:txBody>
      </p:sp>
      <p:sp>
        <p:nvSpPr>
          <p:cNvPr id="20" name="shape:020"/>
          <p:cNvSpPr/>
          <p:nvPr/>
        </p:nvSpPr>
        <p:spPr>
          <a:xfrm>
            <a:off x="6347848" y="2226240"/>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Text 3</a:t>
            </a:r>
            <a:endParaRPr lang="en-US" sz="1100" dirty="0"/>
          </a:p>
        </p:txBody>
      </p:sp>
      <p:sp>
        <p:nvSpPr>
          <p:cNvPr id="21" name="shape:021"/>
          <p:cNvSpPr/>
          <p:nvPr/>
        </p:nvSpPr>
        <p:spPr>
          <a:xfrm>
            <a:off x="6347848" y="2517696"/>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Text 4</a:t>
            </a:r>
            <a:endParaRPr lang="en-US" sz="850" dirty="0"/>
          </a:p>
        </p:txBody>
      </p:sp>
      <p:sp>
        <p:nvSpPr>
          <p:cNvPr id="22" name="shape:022"/>
          <p:cNvSpPr/>
          <p:nvPr/>
        </p:nvSpPr>
        <p:spPr>
          <a:xfrm>
            <a:off x="576072" y="3944484"/>
            <a:ext cx="5447776" cy="2227716"/>
          </a:xfrm>
          <a:prstGeom prst="rect">
            <a:avLst/>
          </a:prstGeom>
          <a:solidFill>
            <a:srgbClr val="EFEEE8"/>
          </a:solidFill>
          <a:ln/>
        </p:spPr>
        <p:txBody>
          <a:bodyPr>
            <a:noAutofit/>
          </a:bodyPr>
          <a:p/>
        </p:txBody>
      </p:sp>
      <p:sp>
        <p:nvSpPr>
          <p:cNvPr id="23" name="shape:023"/>
          <p:cNvSpPr/>
          <p:nvPr/>
        </p:nvSpPr>
        <p:spPr>
          <a:xfrm>
            <a:off x="756072" y="4106484"/>
            <a:ext cx="797220" cy="182880"/>
          </a:xfrm>
          <a:prstGeom prst="rect">
            <a:avLst/>
          </a:prstGeom>
          <a:solidFill>
            <a:srgbClr val="322014"/>
          </a:solidFill>
          <a:ln/>
        </p:spPr>
        <p:txBody>
          <a:bodyPr>
            <a:noAutofit/>
          </a:bodyPr>
          <a:p/>
        </p:txBody>
      </p:sp>
      <p:sp>
        <p:nvSpPr>
          <p:cNvPr id="24" name="shape:024"/>
          <p:cNvSpPr/>
          <p:nvPr/>
        </p:nvSpPr>
        <p:spPr>
          <a:xfrm>
            <a:off x="756072"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ラベル 3分類</a:t>
            </a:r>
            <a:endParaRPr lang="en-US" sz="750" dirty="0"/>
          </a:p>
        </p:txBody>
      </p:sp>
      <p:sp>
        <p:nvSpPr>
          <p:cNvPr id="25" name="shape:025"/>
          <p:cNvSpPr/>
          <p:nvPr/>
        </p:nvSpPr>
        <p:spPr>
          <a:xfrm>
            <a:off x="756072"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YYYY年M月D日</a:t>
            </a:r>
            <a:endParaRPr lang="en-US" sz="800" dirty="0"/>
          </a:p>
        </p:txBody>
      </p:sp>
      <p:sp>
        <p:nvSpPr>
          <p:cNvPr id="26" name="shape:026"/>
          <p:cNvSpPr/>
          <p:nvPr/>
        </p:nvSpPr>
        <p:spPr>
          <a:xfrm>
            <a:off x="756072"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Text 5</a:t>
            </a:r>
            <a:endParaRPr lang="en-US" sz="1100" dirty="0"/>
          </a:p>
        </p:txBody>
      </p:sp>
      <p:sp>
        <p:nvSpPr>
          <p:cNvPr id="27" name="shape:027"/>
          <p:cNvSpPr/>
          <p:nvPr/>
        </p:nvSpPr>
        <p:spPr>
          <a:xfrm>
            <a:off x="756072"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Text 6</a:t>
            </a:r>
            <a:endParaRPr lang="en-US" sz="850" dirty="0"/>
          </a:p>
        </p:txBody>
      </p:sp>
      <p:sp>
        <p:nvSpPr>
          <p:cNvPr id="28" name="shape:028"/>
          <p:cNvSpPr/>
          <p:nvPr/>
        </p:nvSpPr>
        <p:spPr>
          <a:xfrm>
            <a:off x="6167848" y="3944484"/>
            <a:ext cx="5447776" cy="2227716"/>
          </a:xfrm>
          <a:prstGeom prst="rect">
            <a:avLst/>
          </a:prstGeom>
          <a:solidFill>
            <a:srgbClr val="EFEEE8"/>
          </a:solidFill>
          <a:ln/>
        </p:spPr>
        <p:txBody>
          <a:bodyPr>
            <a:noAutofit/>
          </a:bodyPr>
          <a:p/>
        </p:txBody>
      </p:sp>
      <p:sp>
        <p:nvSpPr>
          <p:cNvPr id="29" name="shape:029"/>
          <p:cNvSpPr/>
          <p:nvPr/>
        </p:nvSpPr>
        <p:spPr>
          <a:xfrm>
            <a:off x="6347848" y="4106484"/>
            <a:ext cx="797220" cy="182880"/>
          </a:xfrm>
          <a:prstGeom prst="rect">
            <a:avLst/>
          </a:prstGeom>
          <a:solidFill>
            <a:srgbClr val="322014"/>
          </a:solidFill>
          <a:ln/>
        </p:spPr>
        <p:txBody>
          <a:bodyPr>
            <a:noAutofit/>
          </a:bodyPr>
          <a:p/>
        </p:txBody>
      </p:sp>
      <p:sp>
        <p:nvSpPr>
          <p:cNvPr id="30" name="shape:030"/>
          <p:cNvSpPr/>
          <p:nvPr/>
        </p:nvSpPr>
        <p:spPr>
          <a:xfrm>
            <a:off x="6347848" y="4106484"/>
            <a:ext cx="797220" cy="182880"/>
          </a:xfrm>
          <a:prstGeom prst="rect">
            <a:avLst/>
          </a:prstGeom>
          <a:noFill/>
          <a:ln/>
        </p:spPr>
        <p:txBody>
          <a:bodyPr wrap="square" lIns="0" tIns="0" rIns="0" bIns="0" rtlCol="0" anchor="ctr">
            <a:noAutofit/>
          </a:bodyPr>
          <a:lstStyle/>
          <a:p>
            <a:pPr algn="ctr" indent="0" marL="0">
              <a:buNone/>
            </a:pPr>
            <a:r>
              <a:rPr lang="en-US" sz="750" b="1" dirty="0">
                <a:solidFill>
                  <a:srgbClr val="FFFFFF"/>
                </a:solidFill>
                <a:latin typeface="Yu Gothic" pitchFamily="34" charset="0"/>
                <a:ea typeface="Yu Gothic" pitchFamily="34" charset="-122"/>
                <a:cs typeface="Yu Gothic" pitchFamily="34" charset="-120"/>
              </a:rPr>
              <a:t>ラベル 4分類</a:t>
            </a:r>
            <a:endParaRPr lang="en-US" sz="750" dirty="0"/>
          </a:p>
        </p:txBody>
      </p:sp>
      <p:sp>
        <p:nvSpPr>
          <p:cNvPr id="31" name="shape:031"/>
          <p:cNvSpPr/>
          <p:nvPr/>
        </p:nvSpPr>
        <p:spPr>
          <a:xfrm>
            <a:off x="6347848" y="4361364"/>
            <a:ext cx="5087776" cy="164592"/>
          </a:xfrm>
          <a:prstGeom prst="rect">
            <a:avLst/>
          </a:prstGeom>
          <a:noFill/>
          <a:ln/>
        </p:spPr>
        <p:txBody>
          <a:bodyPr wrap="square" lIns="0" tIns="0" rIns="0" bIns="0" rtlCol="0" anchor="t">
            <a:noAutofit/>
          </a:bodyPr>
          <a:lstStyle/>
          <a:p>
            <a:pPr indent="0" marL="0">
              <a:buNone/>
            </a:pPr>
            <a:r>
              <a:rPr lang="en-US" sz="800" i="1" dirty="0">
                <a:solidFill>
                  <a:srgbClr val="8A7B6B"/>
                </a:solidFill>
                <a:latin typeface="Yu Gothic" pitchFamily="34" charset="0"/>
                <a:ea typeface="Yu Gothic" pitchFamily="34" charset="-122"/>
                <a:cs typeface="Yu Gothic" pitchFamily="34" charset="-120"/>
              </a:rPr>
              <a:t>YYYY年M月D日</a:t>
            </a:r>
            <a:endParaRPr lang="en-US" sz="800" dirty="0"/>
          </a:p>
        </p:txBody>
      </p:sp>
      <p:sp>
        <p:nvSpPr>
          <p:cNvPr id="32" name="shape:032"/>
          <p:cNvSpPr/>
          <p:nvPr/>
        </p:nvSpPr>
        <p:spPr>
          <a:xfrm>
            <a:off x="6347848" y="4597956"/>
            <a:ext cx="5087776" cy="219456"/>
          </a:xfrm>
          <a:prstGeom prst="rect">
            <a:avLst/>
          </a:prstGeom>
          <a:noFill/>
          <a:ln/>
        </p:spPr>
        <p:txBody>
          <a:bodyPr wrap="square" lIns="0" tIns="0" rIns="0" bIns="0" rtlCol="0" anchor="t">
            <a:noAutofit/>
          </a:bodyPr>
          <a:lstStyle/>
          <a:p>
            <a:pPr algn="l" indent="0" marL="0">
              <a:buNone/>
            </a:pPr>
            <a:r>
              <a:rPr lang="en-US" sz="1100" b="1" dirty="0">
                <a:solidFill>
                  <a:srgbClr val="322014"/>
                </a:solidFill>
                <a:latin typeface="Yu Mincho Demibold" pitchFamily="34" charset="0"/>
                <a:ea typeface="Yu Mincho Demibold" pitchFamily="34" charset="-122"/>
                <a:cs typeface="Yu Mincho Demibold" pitchFamily="34" charset="-120"/>
              </a:rPr>
              <a:t>Text 7</a:t>
            </a:r>
            <a:endParaRPr lang="en-US" sz="1100" dirty="0"/>
          </a:p>
        </p:txBody>
      </p:sp>
      <p:sp>
        <p:nvSpPr>
          <p:cNvPr id="33" name="shape:033"/>
          <p:cNvSpPr/>
          <p:nvPr/>
        </p:nvSpPr>
        <p:spPr>
          <a:xfrm>
            <a:off x="6347848" y="4889412"/>
            <a:ext cx="5087776" cy="1120788"/>
          </a:xfrm>
          <a:prstGeom prst="rect">
            <a:avLst/>
          </a:prstGeom>
          <a:noFill/>
          <a:ln/>
        </p:spPr>
        <p:txBody>
          <a:bodyPr wrap="square" lIns="0" tIns="0" rIns="0" bIns="0" rtlCol="0" anchor="t">
            <a:noAutofit/>
          </a:bodyPr>
          <a:lstStyle/>
          <a:p>
            <a:pPr algn="l" indent="0" marL="0">
              <a:buNone/>
            </a:pPr>
            <a:r>
              <a:rPr lang="en-US" sz="850" dirty="0">
                <a:solidFill>
                  <a:srgbClr val="322014"/>
                </a:solidFill>
                <a:latin typeface="Yu Gothic" pitchFamily="34" charset="0"/>
                <a:ea typeface="Yu Gothic" pitchFamily="34" charset="-122"/>
                <a:cs typeface="Yu Gothic" pitchFamily="34" charset="-120"/>
              </a:rPr>
              <a:t>Text 8</a:t>
            </a:r>
            <a:endParaRPr lang="en-US" sz="8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外部動向の根拠グリッド</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