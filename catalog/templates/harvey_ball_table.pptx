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"harvey_ball_table", "upstream_commit": "e5dd04dc6f1acf010046d2fc7319bcf5242a849a", "source_pptx_slide": 35,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パーツ14｜充足度評価表（ハーベイボール）</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充足度評価表（ハーベイボール）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35</a:t>
            </a:r>
            <a:endParaRPr lang="en-US" sz="750" dirty="0"/>
          </a:p>
        </p:txBody>
      </p:sp>
      <p:sp>
        <p:nvSpPr>
          <p:cNvPr id="10" name="shape:010"/>
          <p:cNvSpPr/>
          <p:nvPr/>
        </p:nvSpPr>
        <p:spPr>
          <a:xfrm>
            <a:off x="9012406" y="1617984"/>
            <a:ext cx="165600" cy="165600"/>
          </a:xfrm>
          <a:prstGeom prst="ellipse">
            <a:avLst/>
          </a:prstGeom>
          <a:solidFill>
            <a:srgbClr val="322014"/>
          </a:solidFill>
          <a:ln/>
        </p:spPr>
        <p:txBody>
          <a:bodyPr>
            <a:noAutofit/>
          </a:bodyPr>
          <a:p/>
        </p:txBody>
      </p:sp>
      <p:sp>
        <p:nvSpPr>
          <p:cNvPr id="11" name="static:legend_11"/>
          <p:cNvSpPr/>
          <p:nvPr/>
        </p:nvSpPr>
        <p:spPr>
          <a:xfrm>
            <a:off x="9232006"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満たす</a:t>
            </a:r>
            <a:endParaRPr lang="en-US" sz="800" dirty="0"/>
          </a:p>
        </p:txBody>
      </p:sp>
      <p:sp>
        <p:nvSpPr>
          <p:cNvPr id="12" name="shape:012"/>
          <p:cNvSpPr/>
          <p:nvPr/>
        </p:nvSpPr>
        <p:spPr>
          <a:xfrm>
            <a:off x="9808279" y="1617984"/>
            <a:ext cx="165600" cy="165600"/>
          </a:xfrm>
          <a:prstGeom prst="pie">
            <a:avLst>
              <a:gd name="adj1" fmla="val 16200000"/>
              <a:gd name="adj2" fmla="val 5400000"/>
            </a:avLst>
          </a:prstGeom>
          <a:solidFill>
            <a:srgbClr val="322014"/>
          </a:solidFill>
          <a:ln/>
        </p:spPr>
        <p:txBody>
          <a:bodyPr>
            <a:noAutofit/>
          </a:bodyPr>
          <a:p/>
        </p:txBody>
      </p:sp>
      <p:sp>
        <p:nvSpPr>
          <p:cNvPr id="13" name="shape:013"/>
          <p:cNvSpPr/>
          <p:nvPr/>
        </p:nvSpPr>
        <p:spPr>
          <a:xfrm>
            <a:off x="9808279" y="1617984"/>
            <a:ext cx="165600" cy="165600"/>
          </a:xfrm>
          <a:prstGeom prst="ellipse">
            <a:avLst/>
          </a:prstGeom>
          <a:ln w="9525">
            <a:solidFill>
              <a:srgbClr val="322014"/>
            </a:solidFill>
            <a:prstDash val="solid"/>
          </a:ln>
        </p:spPr>
        <p:txBody>
          <a:bodyPr>
            <a:noAutofit/>
          </a:bodyPr>
          <a:p/>
        </p:txBody>
      </p:sp>
      <p:sp>
        <p:nvSpPr>
          <p:cNvPr id="14" name="static:legend_14"/>
          <p:cNvSpPr/>
          <p:nvPr/>
        </p:nvSpPr>
        <p:spPr>
          <a:xfrm>
            <a:off x="100278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一部満たす</a:t>
            </a:r>
            <a:endParaRPr lang="en-US" sz="800" dirty="0"/>
          </a:p>
        </p:txBody>
      </p:sp>
      <p:sp>
        <p:nvSpPr>
          <p:cNvPr id="15" name="shape:015"/>
          <p:cNvSpPr/>
          <p:nvPr/>
        </p:nvSpPr>
        <p:spPr>
          <a:xfrm>
            <a:off x="10819951" y="1617984"/>
            <a:ext cx="165600" cy="165600"/>
          </a:xfrm>
          <a:prstGeom prst="ellipse">
            <a:avLst/>
          </a:prstGeom>
          <a:ln w="9525">
            <a:solidFill>
              <a:srgbClr val="322014"/>
            </a:solidFill>
            <a:prstDash val="solid"/>
          </a:ln>
        </p:spPr>
        <p:txBody>
          <a:bodyPr>
            <a:noAutofit/>
          </a:bodyPr>
          <a:p/>
        </p:txBody>
      </p:sp>
      <p:sp>
        <p:nvSpPr>
          <p:cNvPr id="16" name="static:legend_16"/>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満たさない</a:t>
            </a:r>
            <a:endParaRPr lang="en-US" sz="800" dirty="0"/>
          </a:p>
        </p:txBody>
      </p:sp>
      <p:graphicFrame>
        <p:nvGraphicFramePr>
          <p:cNvPr id="36" name="shape:036"/>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1800000"/>
                <a:gridCol w="1224000"/>
                <a:gridCol w="1224000"/>
                <a:gridCol w="6791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評価軸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ラベル 1案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ラベル 2案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判断の理由</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
        <p:nvSpPr>
          <p:cNvPr id="38" name="shape:038"/>
          <p:cNvSpPr/>
          <p:nvPr/>
        </p:nvSpPr>
        <p:spPr>
          <a:xfrm>
            <a:off x="2905272" y="2894220"/>
            <a:ext cx="165600" cy="165600"/>
          </a:xfrm>
          <a:prstGeom prst="ellipse">
            <a:avLst/>
          </a:prstGeom>
          <a:ln w="9525">
            <a:solidFill>
              <a:srgbClr val="322014"/>
            </a:solidFill>
            <a:prstDash val="solid"/>
          </a:ln>
        </p:spPr>
        <p:txBody>
          <a:bodyPr>
            <a:noAutofit/>
          </a:bodyPr>
          <a:p/>
        </p:txBody>
      </p:sp>
      <p:sp>
        <p:nvSpPr>
          <p:cNvPr id="39" name="shape:039"/>
          <p:cNvSpPr/>
          <p:nvPr/>
        </p:nvSpPr>
        <p:spPr>
          <a:xfrm>
            <a:off x="2905272" y="2894220"/>
            <a:ext cx="165600" cy="165600"/>
          </a:xfrm>
          <a:prstGeom prst="pie">
            <a:avLst>
              <a:gd name="adj1" fmla="val 16200000"/>
              <a:gd name="adj2" fmla="val 5400000"/>
            </a:avLst>
          </a:prstGeom>
          <a:solidFill>
            <a:srgbClr val="322014"/>
          </a:solidFill>
          <a:ln/>
        </p:spPr>
        <p:txBody>
          <a:bodyPr>
            <a:noAutofit/>
          </a:bodyPr>
          <a:p/>
        </p:txBody>
      </p:sp>
      <p:sp>
        <p:nvSpPr>
          <p:cNvPr id="40" name="shape:040"/>
          <p:cNvSpPr/>
          <p:nvPr/>
        </p:nvSpPr>
        <p:spPr>
          <a:xfrm>
            <a:off x="4129272" y="2894220"/>
            <a:ext cx="165600" cy="165600"/>
          </a:xfrm>
          <a:prstGeom prst="ellipse">
            <a:avLst/>
          </a:prstGeom>
          <a:ln w="9525">
            <a:solidFill>
              <a:srgbClr val="322014"/>
            </a:solidFill>
            <a:prstDash val="solid"/>
          </a:ln>
        </p:spPr>
        <p:txBody>
          <a:bodyPr>
            <a:noAutofit/>
          </a:bodyPr>
          <a:p/>
        </p:txBody>
      </p:sp>
      <p:sp>
        <p:nvSpPr>
          <p:cNvPr id="41" name="shape:041"/>
          <p:cNvSpPr/>
          <p:nvPr/>
        </p:nvSpPr>
        <p:spPr>
          <a:xfrm>
            <a:off x="4129272" y="2894220"/>
            <a:ext cx="165600" cy="165600"/>
          </a:xfrm>
          <a:prstGeom prst="pie">
            <a:avLst>
              <a:gd name="adj1" fmla="val 16200000"/>
              <a:gd name="adj2" fmla="val 5400000"/>
            </a:avLst>
          </a:prstGeom>
          <a:solidFill>
            <a:srgbClr val="322014"/>
          </a:solidFill>
          <a:ln/>
        </p:spPr>
        <p:txBody>
          <a:bodyPr>
            <a:noAutofit/>
          </a:bodyPr>
          <a:p/>
        </p:txBody>
      </p:sp>
      <p:sp>
        <p:nvSpPr>
          <p:cNvPr id="42" name="shape:042"/>
          <p:cNvSpPr/>
          <p:nvPr/>
        </p:nvSpPr>
        <p:spPr>
          <a:xfrm>
            <a:off x="2905272" y="4172292"/>
            <a:ext cx="165600" cy="165600"/>
          </a:xfrm>
          <a:prstGeom prst="ellipse">
            <a:avLst/>
          </a:prstGeom>
          <a:ln w="9525">
            <a:solidFill>
              <a:srgbClr val="322014"/>
            </a:solidFill>
            <a:prstDash val="solid"/>
          </a:ln>
        </p:spPr>
        <p:txBody>
          <a:bodyPr>
            <a:noAutofit/>
          </a:bodyPr>
          <a:p/>
        </p:txBody>
      </p:sp>
      <p:sp>
        <p:nvSpPr>
          <p:cNvPr id="43" name="shape:043"/>
          <p:cNvSpPr/>
          <p:nvPr/>
        </p:nvSpPr>
        <p:spPr>
          <a:xfrm>
            <a:off x="2905272" y="4172292"/>
            <a:ext cx="165600" cy="165600"/>
          </a:xfrm>
          <a:prstGeom prst="pie">
            <a:avLst>
              <a:gd name="adj1" fmla="val 16200000"/>
              <a:gd name="adj2" fmla="val 5400000"/>
            </a:avLst>
          </a:prstGeom>
          <a:solidFill>
            <a:srgbClr val="322014"/>
          </a:solidFill>
          <a:ln/>
        </p:spPr>
        <p:txBody>
          <a:bodyPr>
            <a:noAutofit/>
          </a:bodyPr>
          <a:p/>
        </p:txBody>
      </p:sp>
      <p:sp>
        <p:nvSpPr>
          <p:cNvPr id="44" name="shape:044"/>
          <p:cNvSpPr/>
          <p:nvPr/>
        </p:nvSpPr>
        <p:spPr>
          <a:xfrm>
            <a:off x="4129272" y="4172292"/>
            <a:ext cx="165600" cy="165600"/>
          </a:xfrm>
          <a:prstGeom prst="ellipse">
            <a:avLst/>
          </a:prstGeom>
          <a:ln w="9525">
            <a:solidFill>
              <a:srgbClr val="322014"/>
            </a:solidFill>
            <a:prstDash val="solid"/>
          </a:ln>
        </p:spPr>
        <p:txBody>
          <a:bodyPr>
            <a:noAutofit/>
          </a:bodyPr>
          <a:p/>
        </p:txBody>
      </p:sp>
      <p:sp>
        <p:nvSpPr>
          <p:cNvPr id="45" name="shape:045"/>
          <p:cNvSpPr/>
          <p:nvPr/>
        </p:nvSpPr>
        <p:spPr>
          <a:xfrm>
            <a:off x="4129272" y="4172292"/>
            <a:ext cx="165600" cy="165600"/>
          </a:xfrm>
          <a:prstGeom prst="pie">
            <a:avLst>
              <a:gd name="adj1" fmla="val 16200000"/>
              <a:gd name="adj2" fmla="val 5400000"/>
            </a:avLst>
          </a:prstGeom>
          <a:solidFill>
            <a:srgbClr val="322014"/>
          </a:solidFill>
          <a:ln/>
        </p:spPr>
        <p:txBody>
          <a:bodyPr>
            <a:noAutofit/>
          </a:bodyPr>
          <a:p/>
        </p:txBody>
      </p:sp>
      <p:sp>
        <p:nvSpPr>
          <p:cNvPr id="46" name="shape:046"/>
          <p:cNvSpPr/>
          <p:nvPr/>
        </p:nvSpPr>
        <p:spPr>
          <a:xfrm>
            <a:off x="2905272" y="5450364"/>
            <a:ext cx="165600" cy="165600"/>
          </a:xfrm>
          <a:prstGeom prst="ellipse">
            <a:avLst/>
          </a:prstGeom>
          <a:ln w="9525">
            <a:solidFill>
              <a:srgbClr val="322014"/>
            </a:solidFill>
            <a:prstDash val="solid"/>
          </a:ln>
        </p:spPr>
        <p:txBody>
          <a:bodyPr>
            <a:noAutofit/>
          </a:bodyPr>
          <a:p/>
        </p:txBody>
      </p:sp>
      <p:sp>
        <p:nvSpPr>
          <p:cNvPr id="47" name="shape:047"/>
          <p:cNvSpPr/>
          <p:nvPr/>
        </p:nvSpPr>
        <p:spPr>
          <a:xfrm>
            <a:off x="2905272" y="5450364"/>
            <a:ext cx="165600" cy="165600"/>
          </a:xfrm>
          <a:prstGeom prst="pie">
            <a:avLst>
              <a:gd name="adj1" fmla="val 16200000"/>
              <a:gd name="adj2" fmla="val 5400000"/>
            </a:avLst>
          </a:prstGeom>
          <a:solidFill>
            <a:srgbClr val="322014"/>
          </a:solidFill>
          <a:ln/>
        </p:spPr>
        <p:txBody>
          <a:bodyPr>
            <a:noAutofit/>
          </a:bodyPr>
          <a:p/>
        </p:txBody>
      </p:sp>
      <p:sp>
        <p:nvSpPr>
          <p:cNvPr id="48" name="shape:048"/>
          <p:cNvSpPr/>
          <p:nvPr/>
        </p:nvSpPr>
        <p:spPr>
          <a:xfrm>
            <a:off x="4129272" y="5450364"/>
            <a:ext cx="165600" cy="165600"/>
          </a:xfrm>
          <a:prstGeom prst="ellipse">
            <a:avLst/>
          </a:prstGeom>
          <a:ln w="9525">
            <a:solidFill>
              <a:srgbClr val="322014"/>
            </a:solidFill>
            <a:prstDash val="solid"/>
          </a:ln>
        </p:spPr>
        <p:txBody>
          <a:bodyPr>
            <a:noAutofit/>
          </a:bodyPr>
          <a:p/>
        </p:txBody>
      </p:sp>
      <p:sp>
        <p:nvSpPr>
          <p:cNvPr id="49" name="shape:049"/>
          <p:cNvSpPr/>
          <p:nvPr/>
        </p:nvSpPr>
        <p:spPr>
          <a:xfrm>
            <a:off x="4129272" y="5450364"/>
            <a:ext cx="165600" cy="165600"/>
          </a:xfrm>
          <a:prstGeom prst="pie">
            <a:avLst>
              <a:gd name="adj1" fmla="val 16200000"/>
              <a:gd name="adj2" fmla="val 5400000"/>
            </a:avLst>
          </a:prstGeom>
          <a:solidFill>
            <a:srgbClr val="322014"/>
          </a:solidFill>
          <a:ln/>
        </p:spPr>
        <p:txBody>
          <a:bodyPr>
            <a:noAutofit/>
          </a:body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充足度評価表（ハーベイボール）</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