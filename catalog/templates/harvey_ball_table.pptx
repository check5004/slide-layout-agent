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"harvey_ball_table", "upstream_commit": "e5dd04dc6f1acf010046d2fc7319bcf5242a849a", "source_pptx_slide": 35,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パーツ14｜充足度評価表（ハーベイボール）</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充足度評価表（ハーベイボール）</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35</a:t>
            </a:r>
            <a:endParaRPr lang="en-US" sz="750" dirty="0"/>
          </a:p>
        </p:txBody>
      </p:sp>
      <p:sp>
        <p:nvSpPr>
          <p:cNvPr id="10" name="shape:010"/>
          <p:cNvSpPr/>
          <p:nvPr/>
        </p:nvSpPr>
        <p:spPr>
          <a:xfrm>
            <a:off x="9012406" y="1617984"/>
            <a:ext cx="165600" cy="165600"/>
          </a:xfrm>
          <a:prstGeom prst="ellipse">
            <a:avLst/>
          </a:prstGeom>
          <a:solidFill>
            <a:srgbClr val="322014"/>
          </a:solidFill>
          <a:ln/>
        </p:spPr>
        <p:txBody>
          <a:bodyPr>
            <a:noAutofit/>
          </a:bodyPr>
          <a:p/>
        </p:txBody>
      </p:sp>
      <p:sp>
        <p:nvSpPr>
          <p:cNvPr id="11" name="static:legend_11"/>
          <p:cNvSpPr/>
          <p:nvPr/>
        </p:nvSpPr>
        <p:spPr>
          <a:xfrm>
            <a:off x="9232006" y="1609344"/>
            <a:ext cx="3602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満たす</a:t>
            </a:r>
            <a:endParaRPr lang="en-US" sz="800" dirty="0"/>
          </a:p>
        </p:txBody>
      </p:sp>
      <p:sp>
        <p:nvSpPr>
          <p:cNvPr id="12" name="shape:012"/>
          <p:cNvSpPr/>
          <p:nvPr/>
        </p:nvSpPr>
        <p:spPr>
          <a:xfrm>
            <a:off x="9808279" y="1617984"/>
            <a:ext cx="165600" cy="165600"/>
          </a:xfrm>
          <a:prstGeom prst="pie">
            <a:avLst>
              <a:gd name="adj1" fmla="val 16200000"/>
              <a:gd name="adj2" fmla="val 5400000"/>
            </a:avLst>
          </a:prstGeom>
          <a:solidFill>
            <a:srgbClr val="322014"/>
          </a:solidFill>
          <a:ln/>
        </p:spPr>
        <p:txBody>
          <a:bodyPr>
            <a:noAutofit/>
          </a:bodyPr>
          <a:p/>
        </p:txBody>
      </p:sp>
      <p:sp>
        <p:nvSpPr>
          <p:cNvPr id="13" name="shape:013"/>
          <p:cNvSpPr/>
          <p:nvPr/>
        </p:nvSpPr>
        <p:spPr>
          <a:xfrm>
            <a:off x="9808279" y="1617984"/>
            <a:ext cx="165600" cy="165600"/>
          </a:xfrm>
          <a:prstGeom prst="ellipse">
            <a:avLst/>
          </a:prstGeom>
          <a:ln w="9525">
            <a:solidFill>
              <a:srgbClr val="322014"/>
            </a:solidFill>
            <a:prstDash val="solid"/>
          </a:ln>
        </p:spPr>
        <p:txBody>
          <a:bodyPr>
            <a:noAutofit/>
          </a:bodyPr>
          <a:p/>
        </p:txBody>
      </p:sp>
      <p:sp>
        <p:nvSpPr>
          <p:cNvPr id="14" name="static:legend_14"/>
          <p:cNvSpPr/>
          <p:nvPr/>
        </p:nvSpPr>
        <p:spPr>
          <a:xfrm>
            <a:off x="1002787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一部満たす</a:t>
            </a:r>
            <a:endParaRPr lang="en-US" sz="800" dirty="0"/>
          </a:p>
        </p:txBody>
      </p:sp>
      <p:sp>
        <p:nvSpPr>
          <p:cNvPr id="15" name="shape:015"/>
          <p:cNvSpPr/>
          <p:nvPr/>
        </p:nvSpPr>
        <p:spPr>
          <a:xfrm>
            <a:off x="10819951" y="1617984"/>
            <a:ext cx="165600" cy="165600"/>
          </a:xfrm>
          <a:prstGeom prst="ellipse">
            <a:avLst/>
          </a:prstGeom>
          <a:ln w="9525">
            <a:solidFill>
              <a:srgbClr val="322014"/>
            </a:solidFill>
            <a:prstDash val="solid"/>
          </a:ln>
        </p:spPr>
        <p:txBody>
          <a:bodyPr>
            <a:noAutofit/>
          </a:bodyPr>
          <a:p/>
        </p:txBody>
      </p:sp>
      <p:sp>
        <p:nvSpPr>
          <p:cNvPr id="16" name="static:legend_16"/>
          <p:cNvSpPr/>
          <p:nvPr/>
        </p:nvSpPr>
        <p:spPr>
          <a:xfrm>
            <a:off x="11039551"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満たさない</a:t>
            </a:r>
            <a:endParaRPr lang="en-US" sz="800" dirty="0"/>
          </a:p>
        </p:txBody>
      </p:sp>
      <p:graphicFrame>
        <p:nvGraphicFramePr>
          <p:cNvPr id="36" name="shape:036"/>
          <p:cNvGraphicFramePr>
            <a:graphicFrameLocks noGrp="1"/>
          </p:cNvGraphicFramePr>
          <p:nvPr>
            <p:extLst>
              <p:ext uri="{D42A27DB-BD31-4B8C-83A1-F6EECF244321}">
                <p14:modId xmlns:p14="http://schemas.microsoft.com/office/powerpoint/2010/main" val="1579011935"/>
              </p:ext>
            </p:extLst>
          </p:nvPr>
        </p:nvGraphicFramePr>
        <p:xfrm>
          <a:off x="576072" y="1972224"/>
          <a:ext cx="11039551" cy="914400"/>
        </p:xfrm>
        <a:graphic>
          <a:graphicData uri="http://schemas.openxmlformats.org/drawingml/2006/table">
            <a:tbl>
              <a:tblPr/>
              <a:tblGrid>
                <a:gridCol w="1800000"/>
                <a:gridCol w="1224000"/>
                <a:gridCol w="1224000"/>
                <a:gridCol w="6791551"/>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評価軸</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ラベル 1案</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ラベル 2案</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判断の理由</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3</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4</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3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
        <p:nvSpPr>
          <p:cNvPr id="38" name="shape:038"/>
          <p:cNvSpPr/>
          <p:nvPr/>
        </p:nvSpPr>
        <p:spPr>
          <a:xfrm>
            <a:off x="2905272" y="2894220"/>
            <a:ext cx="165600" cy="165600"/>
          </a:xfrm>
          <a:prstGeom prst="ellipse">
            <a:avLst/>
          </a:prstGeom>
          <a:ln w="9525">
            <a:solidFill>
              <a:srgbClr val="322014"/>
            </a:solidFill>
            <a:prstDash val="solid"/>
          </a:ln>
        </p:spPr>
        <p:txBody>
          <a:bodyPr>
            <a:noAutofit/>
          </a:bodyPr>
          <a:p/>
        </p:txBody>
      </p:sp>
      <p:sp>
        <p:nvSpPr>
          <p:cNvPr id="39" name="shape:039"/>
          <p:cNvSpPr/>
          <p:nvPr/>
        </p:nvSpPr>
        <p:spPr>
          <a:xfrm>
            <a:off x="2905272" y="2894220"/>
            <a:ext cx="165600" cy="165600"/>
          </a:xfrm>
          <a:prstGeom prst="pie">
            <a:avLst>
              <a:gd name="adj1" fmla="val 16200000"/>
              <a:gd name="adj2" fmla="val 5400000"/>
            </a:avLst>
          </a:prstGeom>
          <a:solidFill>
            <a:srgbClr val="322014"/>
          </a:solidFill>
          <a:ln/>
        </p:spPr>
        <p:txBody>
          <a:bodyPr>
            <a:noAutofit/>
          </a:bodyPr>
          <a:p/>
        </p:txBody>
      </p:sp>
      <p:sp>
        <p:nvSpPr>
          <p:cNvPr id="40" name="shape:040"/>
          <p:cNvSpPr/>
          <p:nvPr/>
        </p:nvSpPr>
        <p:spPr>
          <a:xfrm>
            <a:off x="4129272" y="2894220"/>
            <a:ext cx="165600" cy="165600"/>
          </a:xfrm>
          <a:prstGeom prst="ellipse">
            <a:avLst/>
          </a:prstGeom>
          <a:ln w="9525">
            <a:solidFill>
              <a:srgbClr val="322014"/>
            </a:solidFill>
            <a:prstDash val="solid"/>
          </a:ln>
        </p:spPr>
        <p:txBody>
          <a:bodyPr>
            <a:noAutofit/>
          </a:bodyPr>
          <a:p/>
        </p:txBody>
      </p:sp>
      <p:sp>
        <p:nvSpPr>
          <p:cNvPr id="41" name="shape:041"/>
          <p:cNvSpPr/>
          <p:nvPr/>
        </p:nvSpPr>
        <p:spPr>
          <a:xfrm>
            <a:off x="4129272" y="2894220"/>
            <a:ext cx="165600" cy="165600"/>
          </a:xfrm>
          <a:prstGeom prst="pie">
            <a:avLst>
              <a:gd name="adj1" fmla="val 16200000"/>
              <a:gd name="adj2" fmla="val 5400000"/>
            </a:avLst>
          </a:prstGeom>
          <a:solidFill>
            <a:srgbClr val="322014"/>
          </a:solidFill>
          <a:ln/>
        </p:spPr>
        <p:txBody>
          <a:bodyPr>
            <a:noAutofit/>
          </a:bodyPr>
          <a:p/>
        </p:txBody>
      </p:sp>
      <p:sp>
        <p:nvSpPr>
          <p:cNvPr id="42" name="shape:042"/>
          <p:cNvSpPr/>
          <p:nvPr/>
        </p:nvSpPr>
        <p:spPr>
          <a:xfrm>
            <a:off x="2905272" y="4172292"/>
            <a:ext cx="165600" cy="165600"/>
          </a:xfrm>
          <a:prstGeom prst="ellipse">
            <a:avLst/>
          </a:prstGeom>
          <a:ln w="9525">
            <a:solidFill>
              <a:srgbClr val="322014"/>
            </a:solidFill>
            <a:prstDash val="solid"/>
          </a:ln>
        </p:spPr>
        <p:txBody>
          <a:bodyPr>
            <a:noAutofit/>
          </a:bodyPr>
          <a:p/>
        </p:txBody>
      </p:sp>
      <p:sp>
        <p:nvSpPr>
          <p:cNvPr id="43" name="shape:043"/>
          <p:cNvSpPr/>
          <p:nvPr/>
        </p:nvSpPr>
        <p:spPr>
          <a:xfrm>
            <a:off x="2905272" y="4172292"/>
            <a:ext cx="165600" cy="165600"/>
          </a:xfrm>
          <a:prstGeom prst="pie">
            <a:avLst>
              <a:gd name="adj1" fmla="val 16200000"/>
              <a:gd name="adj2" fmla="val 5400000"/>
            </a:avLst>
          </a:prstGeom>
          <a:solidFill>
            <a:srgbClr val="322014"/>
          </a:solidFill>
          <a:ln/>
        </p:spPr>
        <p:txBody>
          <a:bodyPr>
            <a:noAutofit/>
          </a:bodyPr>
          <a:p/>
        </p:txBody>
      </p:sp>
      <p:sp>
        <p:nvSpPr>
          <p:cNvPr id="44" name="shape:044"/>
          <p:cNvSpPr/>
          <p:nvPr/>
        </p:nvSpPr>
        <p:spPr>
          <a:xfrm>
            <a:off x="4129272" y="4172292"/>
            <a:ext cx="165600" cy="165600"/>
          </a:xfrm>
          <a:prstGeom prst="ellipse">
            <a:avLst/>
          </a:prstGeom>
          <a:ln w="9525">
            <a:solidFill>
              <a:srgbClr val="322014"/>
            </a:solidFill>
            <a:prstDash val="solid"/>
          </a:ln>
        </p:spPr>
        <p:txBody>
          <a:bodyPr>
            <a:noAutofit/>
          </a:bodyPr>
          <a:p/>
        </p:txBody>
      </p:sp>
      <p:sp>
        <p:nvSpPr>
          <p:cNvPr id="45" name="shape:045"/>
          <p:cNvSpPr/>
          <p:nvPr/>
        </p:nvSpPr>
        <p:spPr>
          <a:xfrm>
            <a:off x="4129272" y="4172292"/>
            <a:ext cx="165600" cy="165600"/>
          </a:xfrm>
          <a:prstGeom prst="pie">
            <a:avLst>
              <a:gd name="adj1" fmla="val 16200000"/>
              <a:gd name="adj2" fmla="val 5400000"/>
            </a:avLst>
          </a:prstGeom>
          <a:solidFill>
            <a:srgbClr val="322014"/>
          </a:solidFill>
          <a:ln/>
        </p:spPr>
        <p:txBody>
          <a:bodyPr>
            <a:noAutofit/>
          </a:bodyPr>
          <a:p/>
        </p:txBody>
      </p:sp>
      <p:sp>
        <p:nvSpPr>
          <p:cNvPr id="46" name="shape:046"/>
          <p:cNvSpPr/>
          <p:nvPr/>
        </p:nvSpPr>
        <p:spPr>
          <a:xfrm>
            <a:off x="2905272" y="5450364"/>
            <a:ext cx="165600" cy="165600"/>
          </a:xfrm>
          <a:prstGeom prst="ellipse">
            <a:avLst/>
          </a:prstGeom>
          <a:ln w="9525">
            <a:solidFill>
              <a:srgbClr val="322014"/>
            </a:solidFill>
            <a:prstDash val="solid"/>
          </a:ln>
        </p:spPr>
        <p:txBody>
          <a:bodyPr>
            <a:noAutofit/>
          </a:bodyPr>
          <a:p/>
        </p:txBody>
      </p:sp>
      <p:sp>
        <p:nvSpPr>
          <p:cNvPr id="47" name="shape:047"/>
          <p:cNvSpPr/>
          <p:nvPr/>
        </p:nvSpPr>
        <p:spPr>
          <a:xfrm>
            <a:off x="2905272" y="5450364"/>
            <a:ext cx="165600" cy="165600"/>
          </a:xfrm>
          <a:prstGeom prst="pie">
            <a:avLst>
              <a:gd name="adj1" fmla="val 16200000"/>
              <a:gd name="adj2" fmla="val 5400000"/>
            </a:avLst>
          </a:prstGeom>
          <a:solidFill>
            <a:srgbClr val="322014"/>
          </a:solidFill>
          <a:ln/>
        </p:spPr>
        <p:txBody>
          <a:bodyPr>
            <a:noAutofit/>
          </a:bodyPr>
          <a:p/>
        </p:txBody>
      </p:sp>
      <p:sp>
        <p:nvSpPr>
          <p:cNvPr id="48" name="shape:048"/>
          <p:cNvSpPr/>
          <p:nvPr/>
        </p:nvSpPr>
        <p:spPr>
          <a:xfrm>
            <a:off x="4129272" y="5450364"/>
            <a:ext cx="165600" cy="165600"/>
          </a:xfrm>
          <a:prstGeom prst="ellipse">
            <a:avLst/>
          </a:prstGeom>
          <a:ln w="9525">
            <a:solidFill>
              <a:srgbClr val="322014"/>
            </a:solidFill>
            <a:prstDash val="solid"/>
          </a:ln>
        </p:spPr>
        <p:txBody>
          <a:bodyPr>
            <a:noAutofit/>
          </a:bodyPr>
          <a:p/>
        </p:txBody>
      </p:sp>
      <p:sp>
        <p:nvSpPr>
          <p:cNvPr id="49" name="shape:049"/>
          <p:cNvSpPr/>
          <p:nvPr/>
        </p:nvSpPr>
        <p:spPr>
          <a:xfrm>
            <a:off x="4129272" y="5450364"/>
            <a:ext cx="165600" cy="165600"/>
          </a:xfrm>
          <a:prstGeom prst="pie">
            <a:avLst>
              <a:gd name="adj1" fmla="val 16200000"/>
              <a:gd name="adj2" fmla="val 5400000"/>
            </a:avLst>
          </a:prstGeom>
          <a:solidFill>
            <a:srgbClr val="322014"/>
          </a:solidFill>
          <a:ln/>
        </p:spPr>
        <p:txBody>
          <a:bodyPr>
            <a:noAutofit/>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充足度評価表（ハーベイボール）</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