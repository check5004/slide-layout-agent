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"heatmap_table", "upstream_commit": "e5dd04dc6f1acf010046d2fc7319bcf5242a849a", "source_pptx_slide": 32,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14  HEATMAP_TABLE</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ヒートマップ表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32</a:t>
            </a:r>
            <a:endParaRPr lang="en-US" sz="750" dirty="0"/>
          </a:p>
        </p:txBody>
      </p:sp>
      <p:sp>
        <p:nvSpPr>
          <p:cNvPr id="10" name="shape:010"/>
          <p:cNvSpPr/>
          <p:nvPr/>
        </p:nvSpPr>
        <p:spPr>
          <a:xfrm>
            <a:off x="576072" y="2011680"/>
            <a:ext cx="237744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行の軸名</a:t>
            </a:r>
            <a:endParaRPr lang="en-US" sz="1250" dirty="0"/>
          </a:p>
        </p:txBody>
      </p:sp>
      <p:sp>
        <p:nvSpPr>
          <p:cNvPr id="11" name="shape:011"/>
          <p:cNvSpPr/>
          <p:nvPr/>
        </p:nvSpPr>
        <p:spPr>
          <a:xfrm>
            <a:off x="2953512"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2" name="shape:012"/>
          <p:cNvSpPr/>
          <p:nvPr/>
        </p:nvSpPr>
        <p:spPr>
          <a:xfrm>
            <a:off x="2953512" y="2340864"/>
            <a:ext cx="2092376" cy="0"/>
          </a:xfrm>
          <a:prstGeom prst="line">
            <a:avLst/>
          </a:prstGeom>
          <a:noFill/>
          <a:ln w="17780">
            <a:solidFill>
              <a:srgbClr val="322014"/>
            </a:solidFill>
            <a:prstDash val="solid"/>
          </a:ln>
        </p:spPr>
        <p:txBody>
          <a:bodyPr>
            <a:noAutofit/>
          </a:bodyPr>
          <a:p/>
        </p:txBody>
      </p:sp>
      <p:sp>
        <p:nvSpPr>
          <p:cNvPr id="13" name="shape:013"/>
          <p:cNvSpPr/>
          <p:nvPr/>
        </p:nvSpPr>
        <p:spPr>
          <a:xfrm>
            <a:off x="5119040"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4" name="shape:014"/>
          <p:cNvSpPr/>
          <p:nvPr/>
        </p:nvSpPr>
        <p:spPr>
          <a:xfrm>
            <a:off x="5119040" y="2340864"/>
            <a:ext cx="2092376" cy="0"/>
          </a:xfrm>
          <a:prstGeom prst="line">
            <a:avLst/>
          </a:prstGeom>
          <a:noFill/>
          <a:ln w="17780">
            <a:solidFill>
              <a:srgbClr val="322014"/>
            </a:solidFill>
            <a:prstDash val="solid"/>
          </a:ln>
        </p:spPr>
        <p:txBody>
          <a:bodyPr>
            <a:noAutofit/>
          </a:bodyPr>
          <a:p/>
        </p:txBody>
      </p:sp>
      <p:sp>
        <p:nvSpPr>
          <p:cNvPr id="15" name="shape:015"/>
          <p:cNvSpPr/>
          <p:nvPr/>
        </p:nvSpPr>
        <p:spPr>
          <a:xfrm>
            <a:off x="7284568"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6" name="shape:016"/>
          <p:cNvSpPr/>
          <p:nvPr/>
        </p:nvSpPr>
        <p:spPr>
          <a:xfrm>
            <a:off x="7284568" y="2340864"/>
            <a:ext cx="2092376" cy="0"/>
          </a:xfrm>
          <a:prstGeom prst="line">
            <a:avLst/>
          </a:prstGeom>
          <a:noFill/>
          <a:ln w="17780">
            <a:solidFill>
              <a:srgbClr val="322014"/>
            </a:solidFill>
            <a:prstDash val="solid"/>
          </a:ln>
        </p:spPr>
        <p:txBody>
          <a:bodyPr>
            <a:noAutofit/>
          </a:bodyPr>
          <a:p/>
        </p:txBody>
      </p:sp>
      <p:sp>
        <p:nvSpPr>
          <p:cNvPr id="17" name="shape:017"/>
          <p:cNvSpPr/>
          <p:nvPr/>
        </p:nvSpPr>
        <p:spPr>
          <a:xfrm>
            <a:off x="9450095"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列見出し4</a:t>
            </a:r>
            <a:endParaRPr lang="en-US" sz="1200" dirty="0"/>
          </a:p>
        </p:txBody>
      </p:sp>
      <p:sp>
        <p:nvSpPr>
          <p:cNvPr id="18" name="shape:018"/>
          <p:cNvSpPr/>
          <p:nvPr/>
        </p:nvSpPr>
        <p:spPr>
          <a:xfrm>
            <a:off x="9450095" y="2340864"/>
            <a:ext cx="2092376" cy="0"/>
          </a:xfrm>
          <a:prstGeom prst="line">
            <a:avLst/>
          </a:prstGeom>
          <a:noFill/>
          <a:ln w="17780">
            <a:solidFill>
              <a:srgbClr val="322014"/>
            </a:solidFill>
            <a:prstDash val="solid"/>
          </a:ln>
        </p:spPr>
        <p:txBody>
          <a:bodyPr>
            <a:noAutofit/>
          </a:bodyPr>
          <a:p/>
        </p:txBody>
      </p:sp>
      <p:sp>
        <p:nvSpPr>
          <p:cNvPr id="19" name="shape:019"/>
          <p:cNvSpPr/>
          <p:nvPr/>
        </p:nvSpPr>
        <p:spPr>
          <a:xfrm>
            <a:off x="576072" y="266090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行見出し1</a:t>
            </a:r>
            <a:endParaRPr lang="en-US" sz="1200" dirty="0"/>
          </a:p>
        </p:txBody>
      </p:sp>
      <p:sp>
        <p:nvSpPr>
          <p:cNvPr id="20" name="shape:020"/>
          <p:cNvSpPr/>
          <p:nvPr/>
        </p:nvSpPr>
        <p:spPr>
          <a:xfrm>
            <a:off x="2953512" y="2514600"/>
            <a:ext cx="2092376" cy="658368"/>
          </a:xfrm>
          <a:prstGeom prst="rect">
            <a:avLst/>
          </a:prstGeom>
          <a:solidFill>
            <a:srgbClr val="5A3921"/>
          </a:solidFill>
          <a:ln/>
        </p:spPr>
        <p:txBody>
          <a:bodyPr>
            <a:noAutofit/>
          </a:bodyPr>
          <a:p/>
        </p:txBody>
      </p:sp>
      <p:sp>
        <p:nvSpPr>
          <p:cNvPr id="21" name="shape:021"/>
          <p:cNvSpPr/>
          <p:nvPr/>
        </p:nvSpPr>
        <p:spPr>
          <a:xfrm>
            <a:off x="2953512"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22" name="shape:022"/>
          <p:cNvSpPr/>
          <p:nvPr/>
        </p:nvSpPr>
        <p:spPr>
          <a:xfrm>
            <a:off x="5119040" y="2514600"/>
            <a:ext cx="2092376" cy="658368"/>
          </a:xfrm>
          <a:prstGeom prst="rect">
            <a:avLst/>
          </a:prstGeom>
          <a:solidFill>
            <a:srgbClr val="C5A681"/>
          </a:solidFill>
          <a:ln/>
        </p:spPr>
        <p:txBody>
          <a:bodyPr>
            <a:noAutofit/>
          </a:bodyPr>
          <a:p/>
        </p:txBody>
      </p:sp>
      <p:sp>
        <p:nvSpPr>
          <p:cNvPr id="23" name="shape:023"/>
          <p:cNvSpPr/>
          <p:nvPr/>
        </p:nvSpPr>
        <p:spPr>
          <a:xfrm>
            <a:off x="5119040"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24" name="shape:024"/>
          <p:cNvSpPr/>
          <p:nvPr/>
        </p:nvSpPr>
        <p:spPr>
          <a:xfrm>
            <a:off x="7284568" y="2514600"/>
            <a:ext cx="2092376" cy="658368"/>
          </a:xfrm>
          <a:prstGeom prst="rect">
            <a:avLst/>
          </a:prstGeom>
          <a:solidFill>
            <a:srgbClr val="EFEEE8"/>
          </a:solidFill>
          <a:ln/>
        </p:spPr>
        <p:txBody>
          <a:bodyPr>
            <a:noAutofit/>
          </a:bodyPr>
          <a:p/>
        </p:txBody>
      </p:sp>
      <p:sp>
        <p:nvSpPr>
          <p:cNvPr id="25" name="shape:025"/>
          <p:cNvSpPr/>
          <p:nvPr/>
        </p:nvSpPr>
        <p:spPr>
          <a:xfrm>
            <a:off x="7284568"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26" name="shape:026"/>
          <p:cNvSpPr/>
          <p:nvPr/>
        </p:nvSpPr>
        <p:spPr>
          <a:xfrm>
            <a:off x="9450095" y="2514600"/>
            <a:ext cx="2092376" cy="658368"/>
          </a:xfrm>
          <a:prstGeom prst="rect">
            <a:avLst/>
          </a:prstGeom>
          <a:solidFill>
            <a:srgbClr val="C5A681"/>
          </a:solidFill>
          <a:ln/>
        </p:spPr>
        <p:txBody>
          <a:bodyPr>
            <a:noAutofit/>
          </a:bodyPr>
          <a:p/>
        </p:txBody>
      </p:sp>
      <p:sp>
        <p:nvSpPr>
          <p:cNvPr id="27" name="shape:027"/>
          <p:cNvSpPr/>
          <p:nvPr/>
        </p:nvSpPr>
        <p:spPr>
          <a:xfrm>
            <a:off x="9450095"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28" name="shape:028"/>
          <p:cNvSpPr/>
          <p:nvPr/>
        </p:nvSpPr>
        <p:spPr>
          <a:xfrm>
            <a:off x="576072" y="339242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行見出し2</a:t>
            </a:r>
            <a:endParaRPr lang="en-US" sz="1200" dirty="0"/>
          </a:p>
        </p:txBody>
      </p:sp>
      <p:sp>
        <p:nvSpPr>
          <p:cNvPr id="29" name="shape:029"/>
          <p:cNvSpPr/>
          <p:nvPr/>
        </p:nvSpPr>
        <p:spPr>
          <a:xfrm>
            <a:off x="2953512" y="3246120"/>
            <a:ext cx="2092376" cy="658368"/>
          </a:xfrm>
          <a:prstGeom prst="rect">
            <a:avLst/>
          </a:prstGeom>
          <a:solidFill>
            <a:srgbClr val="C5A681"/>
          </a:solidFill>
          <a:ln/>
        </p:spPr>
        <p:txBody>
          <a:bodyPr>
            <a:noAutofit/>
          </a:bodyPr>
          <a:p/>
        </p:txBody>
      </p:sp>
      <p:sp>
        <p:nvSpPr>
          <p:cNvPr id="30" name="shape:030"/>
          <p:cNvSpPr/>
          <p:nvPr/>
        </p:nvSpPr>
        <p:spPr>
          <a:xfrm>
            <a:off x="2953512"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31" name="shape:031"/>
          <p:cNvSpPr/>
          <p:nvPr/>
        </p:nvSpPr>
        <p:spPr>
          <a:xfrm>
            <a:off x="5119040" y="3246120"/>
            <a:ext cx="2092376" cy="658368"/>
          </a:xfrm>
          <a:prstGeom prst="rect">
            <a:avLst/>
          </a:prstGeom>
          <a:solidFill>
            <a:srgbClr val="EFEEE8"/>
          </a:solidFill>
          <a:ln/>
        </p:spPr>
        <p:txBody>
          <a:bodyPr>
            <a:noAutofit/>
          </a:bodyPr>
          <a:p/>
        </p:txBody>
      </p:sp>
      <p:sp>
        <p:nvSpPr>
          <p:cNvPr id="32" name="shape:032"/>
          <p:cNvSpPr/>
          <p:nvPr/>
        </p:nvSpPr>
        <p:spPr>
          <a:xfrm>
            <a:off x="5119040"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33" name="shape:033"/>
          <p:cNvSpPr/>
          <p:nvPr/>
        </p:nvSpPr>
        <p:spPr>
          <a:xfrm>
            <a:off x="7284568" y="3246120"/>
            <a:ext cx="2092376" cy="658368"/>
          </a:xfrm>
          <a:prstGeom prst="rect">
            <a:avLst/>
          </a:prstGeom>
          <a:ln w="6350">
            <a:solidFill>
              <a:srgbClr val="E2DCD2"/>
            </a:solidFill>
            <a:prstDash val="solid"/>
          </a:ln>
        </p:spPr>
        <p:txBody>
          <a:bodyPr>
            <a:noAutofit/>
          </a:bodyPr>
          <a:p/>
        </p:txBody>
      </p:sp>
      <p:sp>
        <p:nvSpPr>
          <p:cNvPr id="34" name="shape:034"/>
          <p:cNvSpPr/>
          <p:nvPr/>
        </p:nvSpPr>
        <p:spPr>
          <a:xfrm>
            <a:off x="7284568"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8A7B6B"/>
                </a:solidFill>
                <a:latin typeface="Yu Gothic" pitchFamily="34" charset="0"/>
                <a:ea typeface="Yu Gothic" pitchFamily="34" charset="-122"/>
                <a:cs typeface="Yu Gothic" pitchFamily="34" charset="-120"/>
              </a:rPr>
              <a:t>なし</a:t>
            </a:r>
            <a:endParaRPr lang="en-US" sz="1150" dirty="0"/>
          </a:p>
        </p:txBody>
      </p:sp>
      <p:sp>
        <p:nvSpPr>
          <p:cNvPr id="35" name="shape:035"/>
          <p:cNvSpPr/>
          <p:nvPr/>
        </p:nvSpPr>
        <p:spPr>
          <a:xfrm>
            <a:off x="9450095" y="3246120"/>
            <a:ext cx="2092376" cy="658368"/>
          </a:xfrm>
          <a:prstGeom prst="rect">
            <a:avLst/>
          </a:prstGeom>
          <a:solidFill>
            <a:srgbClr val="EFEEE8"/>
          </a:solidFill>
          <a:ln/>
        </p:spPr>
        <p:txBody>
          <a:bodyPr>
            <a:noAutofit/>
          </a:bodyPr>
          <a:p/>
        </p:txBody>
      </p:sp>
      <p:sp>
        <p:nvSpPr>
          <p:cNvPr id="36" name="shape:036"/>
          <p:cNvSpPr/>
          <p:nvPr/>
        </p:nvSpPr>
        <p:spPr>
          <a:xfrm>
            <a:off x="9450095"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37" name="shape:037"/>
          <p:cNvSpPr/>
          <p:nvPr/>
        </p:nvSpPr>
        <p:spPr>
          <a:xfrm>
            <a:off x="576072" y="412394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行見出し3</a:t>
            </a:r>
            <a:endParaRPr lang="en-US" sz="1200" dirty="0"/>
          </a:p>
        </p:txBody>
      </p:sp>
      <p:sp>
        <p:nvSpPr>
          <p:cNvPr id="38" name="shape:038"/>
          <p:cNvSpPr/>
          <p:nvPr/>
        </p:nvSpPr>
        <p:spPr>
          <a:xfrm>
            <a:off x="2953512" y="3977640"/>
            <a:ext cx="2092376" cy="658368"/>
          </a:xfrm>
          <a:prstGeom prst="rect">
            <a:avLst/>
          </a:prstGeom>
          <a:solidFill>
            <a:srgbClr val="5A3921"/>
          </a:solidFill>
          <a:ln/>
        </p:spPr>
        <p:txBody>
          <a:bodyPr>
            <a:noAutofit/>
          </a:bodyPr>
          <a:p/>
        </p:txBody>
      </p:sp>
      <p:sp>
        <p:nvSpPr>
          <p:cNvPr id="39" name="shape:039"/>
          <p:cNvSpPr/>
          <p:nvPr/>
        </p:nvSpPr>
        <p:spPr>
          <a:xfrm>
            <a:off x="2953512"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0" name="shape:040"/>
          <p:cNvSpPr/>
          <p:nvPr/>
        </p:nvSpPr>
        <p:spPr>
          <a:xfrm>
            <a:off x="5119040" y="3977640"/>
            <a:ext cx="2092376" cy="658368"/>
          </a:xfrm>
          <a:prstGeom prst="rect">
            <a:avLst/>
          </a:prstGeom>
          <a:solidFill>
            <a:srgbClr val="5A3921"/>
          </a:solidFill>
          <a:ln/>
        </p:spPr>
        <p:txBody>
          <a:bodyPr>
            <a:noAutofit/>
          </a:bodyPr>
          <a:p/>
        </p:txBody>
      </p:sp>
      <p:sp>
        <p:nvSpPr>
          <p:cNvPr id="41" name="shape:041"/>
          <p:cNvSpPr/>
          <p:nvPr/>
        </p:nvSpPr>
        <p:spPr>
          <a:xfrm>
            <a:off x="5119040"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2" name="shape:042"/>
          <p:cNvSpPr/>
          <p:nvPr/>
        </p:nvSpPr>
        <p:spPr>
          <a:xfrm>
            <a:off x="7284568" y="3977640"/>
            <a:ext cx="2092376" cy="658368"/>
          </a:xfrm>
          <a:prstGeom prst="rect">
            <a:avLst/>
          </a:prstGeom>
          <a:solidFill>
            <a:srgbClr val="C5A681"/>
          </a:solidFill>
          <a:ln/>
        </p:spPr>
        <p:txBody>
          <a:bodyPr>
            <a:noAutofit/>
          </a:bodyPr>
          <a:p/>
        </p:txBody>
      </p:sp>
      <p:sp>
        <p:nvSpPr>
          <p:cNvPr id="43" name="shape:043"/>
          <p:cNvSpPr/>
          <p:nvPr/>
        </p:nvSpPr>
        <p:spPr>
          <a:xfrm>
            <a:off x="7284568"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44" name="shape:044"/>
          <p:cNvSpPr/>
          <p:nvPr/>
        </p:nvSpPr>
        <p:spPr>
          <a:xfrm>
            <a:off x="9450095" y="3977640"/>
            <a:ext cx="2092376" cy="658368"/>
          </a:xfrm>
          <a:prstGeom prst="rect">
            <a:avLst/>
          </a:prstGeom>
          <a:solidFill>
            <a:srgbClr val="5A3921"/>
          </a:solidFill>
          <a:ln/>
        </p:spPr>
        <p:txBody>
          <a:bodyPr>
            <a:noAutofit/>
          </a:bodyPr>
          <a:p/>
        </p:txBody>
      </p:sp>
      <p:sp>
        <p:nvSpPr>
          <p:cNvPr id="45" name="shape:045"/>
          <p:cNvSpPr/>
          <p:nvPr/>
        </p:nvSpPr>
        <p:spPr>
          <a:xfrm>
            <a:off x="9450095"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6" name="shape:046"/>
          <p:cNvSpPr/>
          <p:nvPr/>
        </p:nvSpPr>
        <p:spPr>
          <a:xfrm>
            <a:off x="576072" y="485546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行見出し4</a:t>
            </a:r>
            <a:endParaRPr lang="en-US" sz="1200" dirty="0"/>
          </a:p>
        </p:txBody>
      </p:sp>
      <p:sp>
        <p:nvSpPr>
          <p:cNvPr id="47" name="shape:047"/>
          <p:cNvSpPr/>
          <p:nvPr/>
        </p:nvSpPr>
        <p:spPr>
          <a:xfrm>
            <a:off x="2953512" y="4709160"/>
            <a:ext cx="2092376" cy="658368"/>
          </a:xfrm>
          <a:prstGeom prst="rect">
            <a:avLst/>
          </a:prstGeom>
          <a:solidFill>
            <a:srgbClr val="C5A681"/>
          </a:solidFill>
          <a:ln/>
        </p:spPr>
        <p:txBody>
          <a:bodyPr>
            <a:noAutofit/>
          </a:bodyPr>
          <a:p/>
        </p:txBody>
      </p:sp>
      <p:sp>
        <p:nvSpPr>
          <p:cNvPr id="48" name="shape:048"/>
          <p:cNvSpPr/>
          <p:nvPr/>
        </p:nvSpPr>
        <p:spPr>
          <a:xfrm>
            <a:off x="2953512"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49" name="shape:049"/>
          <p:cNvSpPr/>
          <p:nvPr/>
        </p:nvSpPr>
        <p:spPr>
          <a:xfrm>
            <a:off x="5119040" y="4709160"/>
            <a:ext cx="2092376" cy="658368"/>
          </a:xfrm>
          <a:prstGeom prst="rect">
            <a:avLst/>
          </a:prstGeom>
          <a:solidFill>
            <a:srgbClr val="EFEEE8"/>
          </a:solidFill>
          <a:ln/>
        </p:spPr>
        <p:txBody>
          <a:bodyPr>
            <a:noAutofit/>
          </a:bodyPr>
          <a:p/>
        </p:txBody>
      </p:sp>
      <p:sp>
        <p:nvSpPr>
          <p:cNvPr id="50" name="shape:050"/>
          <p:cNvSpPr/>
          <p:nvPr/>
        </p:nvSpPr>
        <p:spPr>
          <a:xfrm>
            <a:off x="5119040"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51" name="shape:051"/>
          <p:cNvSpPr/>
          <p:nvPr/>
        </p:nvSpPr>
        <p:spPr>
          <a:xfrm>
            <a:off x="7284568" y="4709160"/>
            <a:ext cx="2092376" cy="658368"/>
          </a:xfrm>
          <a:prstGeom prst="rect">
            <a:avLst/>
          </a:prstGeom>
          <a:ln w="6350">
            <a:solidFill>
              <a:srgbClr val="E2DCD2"/>
            </a:solidFill>
            <a:prstDash val="solid"/>
          </a:ln>
        </p:spPr>
        <p:txBody>
          <a:bodyPr>
            <a:noAutofit/>
          </a:bodyPr>
          <a:p/>
        </p:txBody>
      </p:sp>
      <p:sp>
        <p:nvSpPr>
          <p:cNvPr id="52" name="shape:052"/>
          <p:cNvSpPr/>
          <p:nvPr/>
        </p:nvSpPr>
        <p:spPr>
          <a:xfrm>
            <a:off x="7284568"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8A7B6B"/>
                </a:solidFill>
                <a:latin typeface="Yu Gothic" pitchFamily="34" charset="0"/>
                <a:ea typeface="Yu Gothic" pitchFamily="34" charset="-122"/>
                <a:cs typeface="Yu Gothic" pitchFamily="34" charset="-120"/>
              </a:rPr>
              <a:t>なし</a:t>
            </a:r>
            <a:endParaRPr lang="en-US" sz="1150" dirty="0"/>
          </a:p>
        </p:txBody>
      </p:sp>
      <p:sp>
        <p:nvSpPr>
          <p:cNvPr id="53" name="shape:053"/>
          <p:cNvSpPr/>
          <p:nvPr/>
        </p:nvSpPr>
        <p:spPr>
          <a:xfrm>
            <a:off x="9450095" y="4709160"/>
            <a:ext cx="2092376" cy="658368"/>
          </a:xfrm>
          <a:prstGeom prst="rect">
            <a:avLst/>
          </a:prstGeom>
          <a:solidFill>
            <a:srgbClr val="EFEEE8"/>
          </a:solidFill>
          <a:ln/>
        </p:spPr>
        <p:txBody>
          <a:bodyPr>
            <a:noAutofit/>
          </a:bodyPr>
          <a:p/>
        </p:txBody>
      </p:sp>
      <p:sp>
        <p:nvSpPr>
          <p:cNvPr id="54" name="shape:054"/>
          <p:cNvSpPr/>
          <p:nvPr/>
        </p:nvSpPr>
        <p:spPr>
          <a:xfrm>
            <a:off x="9450095"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55" name="shape:055"/>
          <p:cNvSpPr/>
          <p:nvPr/>
        </p:nvSpPr>
        <p:spPr>
          <a:xfrm>
            <a:off x="576072" y="5577840"/>
            <a:ext cx="201168" cy="201168"/>
          </a:xfrm>
          <a:prstGeom prst="rect">
            <a:avLst/>
          </a:prstGeom>
          <a:ln w="6350">
            <a:solidFill>
              <a:srgbClr val="E2DCD2"/>
            </a:solidFill>
            <a:prstDash val="solid"/>
          </a:ln>
        </p:spPr>
        <p:txBody>
          <a:bodyPr>
            <a:noAutofit/>
          </a:bodyPr>
          <a:p/>
        </p:txBody>
      </p:sp>
      <p:sp>
        <p:nvSpPr>
          <p:cNvPr id="56" name="static:legend_56"/>
          <p:cNvSpPr/>
          <p:nvPr/>
        </p:nvSpPr>
        <p:spPr>
          <a:xfrm>
            <a:off x="86868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なし</a:t>
            </a:r>
            <a:endParaRPr lang="en-US" sz="1100" dirty="0"/>
          </a:p>
        </p:txBody>
      </p:sp>
      <p:sp>
        <p:nvSpPr>
          <p:cNvPr id="57" name="shape:057"/>
          <p:cNvSpPr/>
          <p:nvPr/>
        </p:nvSpPr>
        <p:spPr>
          <a:xfrm>
            <a:off x="2496312" y="5577840"/>
            <a:ext cx="201168" cy="201168"/>
          </a:xfrm>
          <a:prstGeom prst="rect">
            <a:avLst/>
          </a:prstGeom>
          <a:solidFill>
            <a:srgbClr val="EFEEE8"/>
          </a:solidFill>
          <a:ln/>
        </p:spPr>
        <p:txBody>
          <a:bodyPr>
            <a:noAutofit/>
          </a:bodyPr>
          <a:p/>
        </p:txBody>
      </p:sp>
      <p:sp>
        <p:nvSpPr>
          <p:cNvPr id="58" name="static:legend_58"/>
          <p:cNvSpPr/>
          <p:nvPr/>
        </p:nvSpPr>
        <p:spPr>
          <a:xfrm>
            <a:off x="278892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低</a:t>
            </a:r>
            <a:endParaRPr lang="en-US" sz="1100" dirty="0"/>
          </a:p>
        </p:txBody>
      </p:sp>
      <p:sp>
        <p:nvSpPr>
          <p:cNvPr id="59" name="shape:059"/>
          <p:cNvSpPr/>
          <p:nvPr/>
        </p:nvSpPr>
        <p:spPr>
          <a:xfrm>
            <a:off x="4416552" y="5577840"/>
            <a:ext cx="201168" cy="201168"/>
          </a:xfrm>
          <a:prstGeom prst="rect">
            <a:avLst/>
          </a:prstGeom>
          <a:solidFill>
            <a:srgbClr val="C5A681"/>
          </a:solidFill>
          <a:ln/>
        </p:spPr>
        <p:txBody>
          <a:bodyPr>
            <a:noAutofit/>
          </a:bodyPr>
          <a:p/>
        </p:txBody>
      </p:sp>
      <p:sp>
        <p:nvSpPr>
          <p:cNvPr id="60" name="static:legend_60"/>
          <p:cNvSpPr/>
          <p:nvPr/>
        </p:nvSpPr>
        <p:spPr>
          <a:xfrm>
            <a:off x="470916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中</a:t>
            </a:r>
            <a:endParaRPr lang="en-US" sz="1100" dirty="0"/>
          </a:p>
        </p:txBody>
      </p:sp>
      <p:sp>
        <p:nvSpPr>
          <p:cNvPr id="61" name="shape:061"/>
          <p:cNvSpPr/>
          <p:nvPr/>
        </p:nvSpPr>
        <p:spPr>
          <a:xfrm>
            <a:off x="6336792" y="5577840"/>
            <a:ext cx="201168" cy="201168"/>
          </a:xfrm>
          <a:prstGeom prst="rect">
            <a:avLst/>
          </a:prstGeom>
          <a:solidFill>
            <a:srgbClr val="5A3921"/>
          </a:solidFill>
          <a:ln/>
        </p:spPr>
        <p:txBody>
          <a:bodyPr>
            <a:noAutofit/>
          </a:bodyPr>
          <a:p/>
        </p:txBody>
      </p:sp>
      <p:sp>
        <p:nvSpPr>
          <p:cNvPr id="62" name="static:legend_62"/>
          <p:cNvSpPr/>
          <p:nvPr/>
        </p:nvSpPr>
        <p:spPr>
          <a:xfrm>
            <a:off x="662940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高</a:t>
            </a:r>
            <a:endParaRPr lang="en-US" sz="1100" dirty="0"/>
          </a:p>
        </p:txBody>
      </p:sp>
      <p:sp>
        <p:nvSpPr>
          <p:cNvPr id="6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ヒートマップ表</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