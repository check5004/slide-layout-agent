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"horizontal_axis_table", "upstream_commit": "e5dd04dc6f1acf010046d2fc7319bcf5242a849a", "source_pptx_slide": 31,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13  HORIZONTAL_AXIS_TABLE</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横軸評価表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31</a:t>
            </a:r>
            <a:endParaRPr lang="en-US" sz="750" dirty="0"/>
          </a:p>
        </p:txBody>
      </p:sp>
      <p:sp>
        <p:nvSpPr>
          <p:cNvPr id="10" name="shape:010"/>
          <p:cNvSpPr/>
          <p:nvPr/>
        </p:nvSpPr>
        <p:spPr>
          <a:xfrm>
            <a:off x="576072" y="2075688"/>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  網掛けの行＝Text 1（この行だけ立てている理由を1行で）</a:t>
            </a:r>
            <a:endParaRPr lang="en-US" sz="1250" dirty="0"/>
          </a:p>
        </p:txBody>
      </p:sp>
      <p:sp>
        <p:nvSpPr>
          <p:cNvPr id="11" name="shape:011"/>
          <p:cNvSpPr/>
          <p:nvPr/>
        </p:nvSpPr>
        <p:spPr>
          <a:xfrm>
            <a:off x="576072" y="2404872"/>
            <a:ext cx="11039551" cy="0"/>
          </a:xfrm>
          <a:prstGeom prst="line">
            <a:avLst/>
          </a:prstGeom>
          <a:noFill/>
          <a:ln w="7620">
            <a:solidFill>
              <a:srgbClr val="8A7B6B"/>
            </a:solidFill>
            <a:prstDash val="sysDot"/>
          </a:ln>
        </p:spPr>
        <p:txBody>
          <a:bodyPr>
            <a:noAutofit/>
          </a:bodyPr>
          <a:p/>
        </p:txBody>
      </p:sp>
      <p:sp>
        <p:nvSpPr>
          <p:cNvPr id="12" name="shape:012"/>
          <p:cNvSpPr/>
          <p:nvPr/>
        </p:nvSpPr>
        <p:spPr>
          <a:xfrm>
            <a:off x="576072" y="2578608"/>
            <a:ext cx="1304814"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列見出し1</a:t>
            </a:r>
            <a:endParaRPr lang="en-US" sz="1200" dirty="0"/>
          </a:p>
        </p:txBody>
      </p:sp>
      <p:sp>
        <p:nvSpPr>
          <p:cNvPr id="13" name="shape:013"/>
          <p:cNvSpPr/>
          <p:nvPr/>
        </p:nvSpPr>
        <p:spPr>
          <a:xfrm>
            <a:off x="576072" y="2926080"/>
            <a:ext cx="1304814" cy="0"/>
          </a:xfrm>
          <a:prstGeom prst="line">
            <a:avLst/>
          </a:prstGeom>
          <a:noFill/>
          <a:ln w="20320">
            <a:solidFill>
              <a:srgbClr val="322014"/>
            </a:solidFill>
            <a:prstDash val="solid"/>
          </a:ln>
        </p:spPr>
        <p:txBody>
          <a:bodyPr>
            <a:noAutofit/>
          </a:bodyPr>
          <a:p/>
        </p:txBody>
      </p:sp>
      <p:sp>
        <p:nvSpPr>
          <p:cNvPr id="14" name="shape:014"/>
          <p:cNvSpPr/>
          <p:nvPr/>
        </p:nvSpPr>
        <p:spPr>
          <a:xfrm>
            <a:off x="2063766" y="2578608"/>
            <a:ext cx="274011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列見出し2</a:t>
            </a:r>
            <a:endParaRPr lang="en-US" sz="1200" dirty="0"/>
          </a:p>
        </p:txBody>
      </p:sp>
      <p:sp>
        <p:nvSpPr>
          <p:cNvPr id="15" name="shape:015"/>
          <p:cNvSpPr/>
          <p:nvPr/>
        </p:nvSpPr>
        <p:spPr>
          <a:xfrm>
            <a:off x="2063766" y="2926080"/>
            <a:ext cx="2740110" cy="0"/>
          </a:xfrm>
          <a:prstGeom prst="line">
            <a:avLst/>
          </a:prstGeom>
          <a:noFill/>
          <a:ln w="20320">
            <a:solidFill>
              <a:srgbClr val="322014"/>
            </a:solidFill>
            <a:prstDash val="solid"/>
          </a:ln>
        </p:spPr>
        <p:txBody>
          <a:bodyPr>
            <a:noAutofit/>
          </a:bodyPr>
          <a:p/>
        </p:txBody>
      </p:sp>
      <p:sp>
        <p:nvSpPr>
          <p:cNvPr id="16" name="shape:016"/>
          <p:cNvSpPr/>
          <p:nvPr/>
        </p:nvSpPr>
        <p:spPr>
          <a:xfrm>
            <a:off x="4986756" y="2578608"/>
            <a:ext cx="3001072"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列見出し3</a:t>
            </a:r>
            <a:endParaRPr lang="en-US" sz="1200" dirty="0"/>
          </a:p>
        </p:txBody>
      </p:sp>
      <p:sp>
        <p:nvSpPr>
          <p:cNvPr id="17" name="shape:017"/>
          <p:cNvSpPr/>
          <p:nvPr/>
        </p:nvSpPr>
        <p:spPr>
          <a:xfrm>
            <a:off x="4986756" y="2926080"/>
            <a:ext cx="3001072" cy="0"/>
          </a:xfrm>
          <a:prstGeom prst="line">
            <a:avLst/>
          </a:prstGeom>
          <a:noFill/>
          <a:ln w="20320">
            <a:solidFill>
              <a:srgbClr val="322014"/>
            </a:solidFill>
            <a:prstDash val="solid"/>
          </a:ln>
        </p:spPr>
        <p:txBody>
          <a:bodyPr>
            <a:noAutofit/>
          </a:bodyPr>
          <a:p/>
        </p:txBody>
      </p:sp>
      <p:sp>
        <p:nvSpPr>
          <p:cNvPr id="18" name="shape:018"/>
          <p:cNvSpPr/>
          <p:nvPr/>
        </p:nvSpPr>
        <p:spPr>
          <a:xfrm>
            <a:off x="8170708" y="2578608"/>
            <a:ext cx="1565777"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列見出し4</a:t>
            </a:r>
            <a:endParaRPr lang="en-US" sz="1200" dirty="0"/>
          </a:p>
        </p:txBody>
      </p:sp>
      <p:sp>
        <p:nvSpPr>
          <p:cNvPr id="19" name="shape:019"/>
          <p:cNvSpPr/>
          <p:nvPr/>
        </p:nvSpPr>
        <p:spPr>
          <a:xfrm>
            <a:off x="8170708" y="2926080"/>
            <a:ext cx="1565777" cy="0"/>
          </a:xfrm>
          <a:prstGeom prst="line">
            <a:avLst/>
          </a:prstGeom>
          <a:noFill/>
          <a:ln w="20320">
            <a:solidFill>
              <a:srgbClr val="322014"/>
            </a:solidFill>
            <a:prstDash val="solid"/>
          </a:ln>
        </p:spPr>
        <p:txBody>
          <a:bodyPr>
            <a:noAutofit/>
          </a:bodyPr>
          <a:p/>
        </p:txBody>
      </p:sp>
      <p:sp>
        <p:nvSpPr>
          <p:cNvPr id="20" name="shape:020"/>
          <p:cNvSpPr/>
          <p:nvPr/>
        </p:nvSpPr>
        <p:spPr>
          <a:xfrm>
            <a:off x="9919365" y="2578608"/>
            <a:ext cx="1696258"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列見出し5</a:t>
            </a:r>
            <a:endParaRPr lang="en-US" sz="1200" dirty="0"/>
          </a:p>
        </p:txBody>
      </p:sp>
      <p:sp>
        <p:nvSpPr>
          <p:cNvPr id="21" name="shape:021"/>
          <p:cNvSpPr/>
          <p:nvPr/>
        </p:nvSpPr>
        <p:spPr>
          <a:xfrm>
            <a:off x="9919365" y="2926080"/>
            <a:ext cx="1696258" cy="0"/>
          </a:xfrm>
          <a:prstGeom prst="line">
            <a:avLst/>
          </a:prstGeom>
          <a:noFill/>
          <a:ln w="20320">
            <a:solidFill>
              <a:srgbClr val="322014"/>
            </a:solidFill>
            <a:prstDash val="solid"/>
          </a:ln>
        </p:spPr>
        <p:txBody>
          <a:bodyPr>
            <a:noAutofit/>
          </a:bodyPr>
          <a:p/>
        </p:txBody>
      </p:sp>
      <p:sp>
        <p:nvSpPr>
          <p:cNvPr id="22" name="shape:022"/>
          <p:cNvSpPr/>
          <p:nvPr/>
        </p:nvSpPr>
        <p:spPr>
          <a:xfrm>
            <a:off x="530352" y="3044952"/>
            <a:ext cx="11130991" cy="832104"/>
          </a:xfrm>
          <a:prstGeom prst="rect">
            <a:avLst/>
          </a:prstGeom>
          <a:solidFill>
            <a:srgbClr val="EFEEE8"/>
          </a:solidFill>
          <a:ln/>
        </p:spPr>
        <p:txBody>
          <a:bodyPr>
            <a:noAutofit/>
          </a:bodyPr>
          <a:p/>
        </p:txBody>
      </p:sp>
      <p:sp>
        <p:nvSpPr>
          <p:cNvPr id="23" name="shape:023"/>
          <p:cNvSpPr/>
          <p:nvPr/>
        </p:nvSpPr>
        <p:spPr>
          <a:xfrm>
            <a:off x="576072" y="3118104"/>
            <a:ext cx="1304814" cy="758952"/>
          </a:xfrm>
          <a:prstGeom prst="rect">
            <a:avLst/>
          </a:prstGeom>
          <a:noFill/>
          <a:ln/>
        </p:spPr>
        <p:txBody>
          <a:bodyPr wrap="square" lIns="381" tIns="381" rIns="381" bIns="381"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値</a:t>
            </a:r>
            <a:endParaRPr lang="en-US" sz="1050" dirty="0"/>
          </a:p>
        </p:txBody>
      </p:sp>
      <p:sp>
        <p:nvSpPr>
          <p:cNvPr id="24" name="shape:024"/>
          <p:cNvSpPr/>
          <p:nvPr/>
        </p:nvSpPr>
        <p:spPr>
          <a:xfrm>
            <a:off x="2063766" y="3118104"/>
            <a:ext cx="2740110"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25" name="shape:025"/>
          <p:cNvSpPr/>
          <p:nvPr/>
        </p:nvSpPr>
        <p:spPr>
          <a:xfrm>
            <a:off x="4986756" y="3118104"/>
            <a:ext cx="3001072"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26" name="shape:026"/>
          <p:cNvSpPr/>
          <p:nvPr/>
        </p:nvSpPr>
        <p:spPr>
          <a:xfrm>
            <a:off x="8170708" y="3118104"/>
            <a:ext cx="1565777"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27" name="shape:027"/>
          <p:cNvSpPr/>
          <p:nvPr/>
        </p:nvSpPr>
        <p:spPr>
          <a:xfrm>
            <a:off x="9919365" y="3118104"/>
            <a:ext cx="1696258"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28" name="shape:028"/>
          <p:cNvSpPr/>
          <p:nvPr/>
        </p:nvSpPr>
        <p:spPr>
          <a:xfrm>
            <a:off x="576072" y="3913632"/>
            <a:ext cx="11039551" cy="0"/>
          </a:xfrm>
          <a:prstGeom prst="line">
            <a:avLst/>
          </a:prstGeom>
          <a:noFill/>
          <a:ln w="6350">
            <a:solidFill>
              <a:srgbClr val="E2DCD2"/>
            </a:solidFill>
            <a:prstDash val="dash"/>
          </a:ln>
        </p:spPr>
        <p:txBody>
          <a:bodyPr>
            <a:noAutofit/>
          </a:bodyPr>
          <a:p/>
        </p:txBody>
      </p:sp>
      <p:sp>
        <p:nvSpPr>
          <p:cNvPr id="29" name="shape:029"/>
          <p:cNvSpPr/>
          <p:nvPr/>
        </p:nvSpPr>
        <p:spPr>
          <a:xfrm>
            <a:off x="576072" y="3986784"/>
            <a:ext cx="1304814" cy="758952"/>
          </a:xfrm>
          <a:prstGeom prst="rect">
            <a:avLst/>
          </a:prstGeom>
          <a:noFill/>
          <a:ln/>
        </p:spPr>
        <p:txBody>
          <a:bodyPr wrap="square" lIns="381" tIns="381" rIns="381" bIns="381"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値</a:t>
            </a:r>
            <a:endParaRPr lang="en-US" sz="1050" dirty="0"/>
          </a:p>
        </p:txBody>
      </p:sp>
      <p:sp>
        <p:nvSpPr>
          <p:cNvPr id="30" name="shape:030"/>
          <p:cNvSpPr/>
          <p:nvPr/>
        </p:nvSpPr>
        <p:spPr>
          <a:xfrm>
            <a:off x="2063766" y="3986784"/>
            <a:ext cx="2740110"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1" name="shape:031"/>
          <p:cNvSpPr/>
          <p:nvPr/>
        </p:nvSpPr>
        <p:spPr>
          <a:xfrm>
            <a:off x="4986756" y="3986784"/>
            <a:ext cx="3001072"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2" name="shape:032"/>
          <p:cNvSpPr/>
          <p:nvPr/>
        </p:nvSpPr>
        <p:spPr>
          <a:xfrm>
            <a:off x="8170708" y="3986784"/>
            <a:ext cx="1565777"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3" name="shape:033"/>
          <p:cNvSpPr/>
          <p:nvPr/>
        </p:nvSpPr>
        <p:spPr>
          <a:xfrm>
            <a:off x="9919365" y="3986784"/>
            <a:ext cx="1696258"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4" name="shape:034"/>
          <p:cNvSpPr/>
          <p:nvPr/>
        </p:nvSpPr>
        <p:spPr>
          <a:xfrm>
            <a:off x="576072" y="4782312"/>
            <a:ext cx="11039551" cy="0"/>
          </a:xfrm>
          <a:prstGeom prst="line">
            <a:avLst/>
          </a:prstGeom>
          <a:noFill/>
          <a:ln w="6350">
            <a:solidFill>
              <a:srgbClr val="E2DCD2"/>
            </a:solidFill>
            <a:prstDash val="dash"/>
          </a:ln>
        </p:spPr>
        <p:txBody>
          <a:bodyPr>
            <a:noAutofit/>
          </a:bodyPr>
          <a:p/>
        </p:txBody>
      </p:sp>
      <p:sp>
        <p:nvSpPr>
          <p:cNvPr id="35" name="shape:035"/>
          <p:cNvSpPr/>
          <p:nvPr/>
        </p:nvSpPr>
        <p:spPr>
          <a:xfrm>
            <a:off x="576072" y="4855464"/>
            <a:ext cx="1304814" cy="758952"/>
          </a:xfrm>
          <a:prstGeom prst="rect">
            <a:avLst/>
          </a:prstGeom>
          <a:noFill/>
          <a:ln/>
        </p:spPr>
        <p:txBody>
          <a:bodyPr wrap="square" lIns="381" tIns="381" rIns="381" bIns="381"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値</a:t>
            </a:r>
            <a:endParaRPr lang="en-US" sz="1050" dirty="0"/>
          </a:p>
        </p:txBody>
      </p:sp>
      <p:sp>
        <p:nvSpPr>
          <p:cNvPr id="36" name="shape:036"/>
          <p:cNvSpPr/>
          <p:nvPr/>
        </p:nvSpPr>
        <p:spPr>
          <a:xfrm>
            <a:off x="2063766" y="4855464"/>
            <a:ext cx="2740110"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7" name="shape:037"/>
          <p:cNvSpPr/>
          <p:nvPr/>
        </p:nvSpPr>
        <p:spPr>
          <a:xfrm>
            <a:off x="4986756" y="4855464"/>
            <a:ext cx="3001072"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8" name="shape:038"/>
          <p:cNvSpPr/>
          <p:nvPr/>
        </p:nvSpPr>
        <p:spPr>
          <a:xfrm>
            <a:off x="8170708" y="4855464"/>
            <a:ext cx="1565777"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9" name="shape:039"/>
          <p:cNvSpPr/>
          <p:nvPr/>
        </p:nvSpPr>
        <p:spPr>
          <a:xfrm>
            <a:off x="9919365" y="4855464"/>
            <a:ext cx="1696258"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40" name="shape:040"/>
          <p:cNvSpPr/>
          <p:nvPr/>
        </p:nvSpPr>
        <p:spPr>
          <a:xfrm>
            <a:off x="576072" y="5650992"/>
            <a:ext cx="11039551" cy="0"/>
          </a:xfrm>
          <a:prstGeom prst="line">
            <a:avLst/>
          </a:prstGeom>
          <a:noFill/>
          <a:ln w="6350">
            <a:solidFill>
              <a:srgbClr val="E2DCD2"/>
            </a:solidFill>
            <a:prstDash val="dash"/>
          </a:ln>
        </p:spPr>
        <p:txBody>
          <a:bodyPr>
            <a:noAutofit/>
          </a:bodyPr>
          <a:p/>
        </p:txBody>
      </p:sp>
      <p:sp>
        <p:nvSpPr>
          <p:cNvPr id="4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横軸評価表</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