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"issue_to_solution_map", "upstream_commit": "e5dd04dc6f1acf010046d2fc7319bcf5242a849a", "source_pptx_slide": 47,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23  ISSUE_TO_SOLUTION_MAP</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課題と打ち手の対応</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47</a:t>
            </a:r>
            <a:endParaRPr lang="en-US" sz="750" dirty="0"/>
          </a:p>
        </p:txBody>
      </p:sp>
      <p:sp>
        <p:nvSpPr>
          <p:cNvPr id="10" name="shape:010"/>
          <p:cNvSpPr/>
          <p:nvPr/>
        </p:nvSpPr>
        <p:spPr>
          <a:xfrm>
            <a:off x="576072"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課題</a:t>
            </a:r>
            <a:endParaRPr lang="en-US" sz="1400" dirty="0"/>
          </a:p>
        </p:txBody>
      </p:sp>
      <p:sp>
        <p:nvSpPr>
          <p:cNvPr id="11" name="shape:011"/>
          <p:cNvSpPr/>
          <p:nvPr/>
        </p:nvSpPr>
        <p:spPr>
          <a:xfrm>
            <a:off x="576072" y="2525173"/>
            <a:ext cx="5108296" cy="0"/>
          </a:xfrm>
          <a:prstGeom prst="line">
            <a:avLst/>
          </a:prstGeom>
          <a:noFill/>
          <a:ln w="25400">
            <a:solidFill>
              <a:srgbClr val="322014"/>
            </a:solidFill>
            <a:prstDash val="solid"/>
          </a:ln>
        </p:spPr>
        <p:txBody>
          <a:bodyPr>
            <a:noAutofit/>
          </a:bodyPr>
          <a:p/>
        </p:txBody>
      </p:sp>
      <p:sp>
        <p:nvSpPr>
          <p:cNvPr id="12" name="shape:012"/>
          <p:cNvSpPr/>
          <p:nvPr/>
        </p:nvSpPr>
        <p:spPr>
          <a:xfrm>
            <a:off x="6507328"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打ち手</a:t>
            </a:r>
            <a:endParaRPr lang="en-US" sz="1400" dirty="0"/>
          </a:p>
        </p:txBody>
      </p:sp>
      <p:sp>
        <p:nvSpPr>
          <p:cNvPr id="13" name="shape:013"/>
          <p:cNvSpPr/>
          <p:nvPr/>
        </p:nvSpPr>
        <p:spPr>
          <a:xfrm>
            <a:off x="6507328" y="2525173"/>
            <a:ext cx="5108296" cy="0"/>
          </a:xfrm>
          <a:prstGeom prst="line">
            <a:avLst/>
          </a:prstGeom>
          <a:noFill/>
          <a:ln w="25400">
            <a:solidFill>
              <a:srgbClr val="322014"/>
            </a:solidFill>
            <a:prstDash val="solid"/>
          </a:ln>
        </p:spPr>
        <p:txBody>
          <a:bodyPr>
            <a:noAutofit/>
          </a:bodyPr>
          <a:p/>
        </p:txBody>
      </p:sp>
      <p:sp>
        <p:nvSpPr>
          <p:cNvPr id="14" name="shape:014"/>
          <p:cNvSpPr/>
          <p:nvPr/>
        </p:nvSpPr>
        <p:spPr>
          <a:xfrm>
            <a:off x="576072" y="280863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1</a:t>
            </a:r>
            <a:endParaRPr lang="en-US" sz="1250" dirty="0"/>
          </a:p>
        </p:txBody>
      </p:sp>
      <p:sp>
        <p:nvSpPr>
          <p:cNvPr id="15" name="shape:015"/>
          <p:cNvSpPr/>
          <p:nvPr/>
        </p:nvSpPr>
        <p:spPr>
          <a:xfrm>
            <a:off x="6507328" y="280863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Text 2</a:t>
            </a:r>
            <a:endParaRPr lang="en-US" sz="1250" dirty="0"/>
          </a:p>
        </p:txBody>
      </p:sp>
      <p:sp>
        <p:nvSpPr>
          <p:cNvPr id="16" name="shape:016"/>
          <p:cNvSpPr/>
          <p:nvPr/>
        </p:nvSpPr>
        <p:spPr>
          <a:xfrm>
            <a:off x="6507328" y="321097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Text 3</a:t>
            </a:r>
            <a:endParaRPr lang="en-US" sz="1050" dirty="0"/>
          </a:p>
        </p:txBody>
      </p:sp>
      <p:sp>
        <p:nvSpPr>
          <p:cNvPr id="17" name="shape:017"/>
          <p:cNvSpPr/>
          <p:nvPr/>
        </p:nvSpPr>
        <p:spPr>
          <a:xfrm>
            <a:off x="576072" y="3750469"/>
            <a:ext cx="5108296" cy="0"/>
          </a:xfrm>
          <a:prstGeom prst="line">
            <a:avLst/>
          </a:prstGeom>
          <a:noFill/>
          <a:ln w="6350">
            <a:solidFill>
              <a:srgbClr val="E2DCD2"/>
            </a:solidFill>
            <a:prstDash val="dash"/>
          </a:ln>
        </p:spPr>
        <p:txBody>
          <a:bodyPr>
            <a:noAutofit/>
          </a:bodyPr>
          <a:p/>
        </p:txBody>
      </p:sp>
      <p:sp>
        <p:nvSpPr>
          <p:cNvPr id="18" name="shape:018"/>
          <p:cNvSpPr/>
          <p:nvPr/>
        </p:nvSpPr>
        <p:spPr>
          <a:xfrm>
            <a:off x="6507328" y="3750469"/>
            <a:ext cx="5108296" cy="0"/>
          </a:xfrm>
          <a:prstGeom prst="line">
            <a:avLst/>
          </a:prstGeom>
          <a:noFill/>
          <a:ln w="6350">
            <a:solidFill>
              <a:srgbClr val="E2DCD2"/>
            </a:solidFill>
            <a:prstDash val="dash"/>
          </a:ln>
        </p:spPr>
        <p:txBody>
          <a:bodyPr>
            <a:noAutofit/>
          </a:bodyPr>
          <a:p/>
        </p:txBody>
      </p:sp>
      <p:sp>
        <p:nvSpPr>
          <p:cNvPr id="19" name="shape:019"/>
          <p:cNvSpPr/>
          <p:nvPr/>
        </p:nvSpPr>
        <p:spPr>
          <a:xfrm>
            <a:off x="576072" y="386019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4</a:t>
            </a:r>
            <a:endParaRPr lang="en-US" sz="1250" dirty="0"/>
          </a:p>
        </p:txBody>
      </p:sp>
      <p:sp>
        <p:nvSpPr>
          <p:cNvPr id="20" name="shape:020"/>
          <p:cNvSpPr/>
          <p:nvPr/>
        </p:nvSpPr>
        <p:spPr>
          <a:xfrm>
            <a:off x="6507328" y="386019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Text 5</a:t>
            </a:r>
            <a:endParaRPr lang="en-US" sz="1250" dirty="0"/>
          </a:p>
        </p:txBody>
      </p:sp>
      <p:sp>
        <p:nvSpPr>
          <p:cNvPr id="21" name="shape:021"/>
          <p:cNvSpPr/>
          <p:nvPr/>
        </p:nvSpPr>
        <p:spPr>
          <a:xfrm>
            <a:off x="6507328" y="426253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Text 6</a:t>
            </a:r>
            <a:endParaRPr lang="en-US" sz="1050" dirty="0"/>
          </a:p>
        </p:txBody>
      </p:sp>
      <p:sp>
        <p:nvSpPr>
          <p:cNvPr id="22" name="shape:022"/>
          <p:cNvSpPr/>
          <p:nvPr/>
        </p:nvSpPr>
        <p:spPr>
          <a:xfrm>
            <a:off x="576072" y="4802029"/>
            <a:ext cx="5108296" cy="0"/>
          </a:xfrm>
          <a:prstGeom prst="line">
            <a:avLst/>
          </a:prstGeom>
          <a:noFill/>
          <a:ln w="6350">
            <a:solidFill>
              <a:srgbClr val="E2DCD2"/>
            </a:solidFill>
            <a:prstDash val="dash"/>
          </a:ln>
        </p:spPr>
        <p:txBody>
          <a:bodyPr>
            <a:noAutofit/>
          </a:bodyPr>
          <a:p/>
        </p:txBody>
      </p:sp>
      <p:sp>
        <p:nvSpPr>
          <p:cNvPr id="23" name="shape:023"/>
          <p:cNvSpPr/>
          <p:nvPr/>
        </p:nvSpPr>
        <p:spPr>
          <a:xfrm>
            <a:off x="6507328" y="4802029"/>
            <a:ext cx="5108296" cy="0"/>
          </a:xfrm>
          <a:prstGeom prst="line">
            <a:avLst/>
          </a:prstGeom>
          <a:noFill/>
          <a:ln w="6350">
            <a:solidFill>
              <a:srgbClr val="E2DCD2"/>
            </a:solidFill>
            <a:prstDash val="dash"/>
          </a:ln>
        </p:spPr>
        <p:txBody>
          <a:bodyPr>
            <a:noAutofit/>
          </a:bodyPr>
          <a:p/>
        </p:txBody>
      </p:sp>
      <p:sp>
        <p:nvSpPr>
          <p:cNvPr id="24" name="shape:024"/>
          <p:cNvSpPr/>
          <p:nvPr/>
        </p:nvSpPr>
        <p:spPr>
          <a:xfrm>
            <a:off x="576072" y="491175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7</a:t>
            </a:r>
            <a:endParaRPr lang="en-US" sz="1250" dirty="0"/>
          </a:p>
        </p:txBody>
      </p:sp>
      <p:sp>
        <p:nvSpPr>
          <p:cNvPr id="25" name="shape:025"/>
          <p:cNvSpPr/>
          <p:nvPr/>
        </p:nvSpPr>
        <p:spPr>
          <a:xfrm>
            <a:off x="6507328" y="491175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Text 8</a:t>
            </a:r>
            <a:endParaRPr lang="en-US" sz="1250" dirty="0"/>
          </a:p>
        </p:txBody>
      </p:sp>
      <p:sp>
        <p:nvSpPr>
          <p:cNvPr id="26" name="shape:026"/>
          <p:cNvSpPr/>
          <p:nvPr/>
        </p:nvSpPr>
        <p:spPr>
          <a:xfrm>
            <a:off x="6507328" y="531409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Text 9</a:t>
            </a:r>
            <a:endParaRPr lang="en-US" sz="1050" dirty="0"/>
          </a:p>
        </p:txBody>
      </p:sp>
      <p:sp>
        <p:nvSpPr>
          <p:cNvPr id="27" name="shape:027"/>
          <p:cNvSpPr/>
          <p:nvPr/>
        </p:nvSpPr>
        <p:spPr>
          <a:xfrm rot="5400000">
            <a:off x="5986120" y="4230529"/>
            <a:ext cx="219456" cy="201168"/>
          </a:xfrm>
          <a:prstGeom prst="triangle">
            <a:avLst/>
          </a:prstGeom>
          <a:solidFill>
            <a:srgbClr val="322014"/>
          </a:solidFill>
          <a:ln/>
        </p:spPr>
        <p:txBody>
          <a:bodyPr>
            <a:noAutofit/>
          </a:bodyPr>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課題と打ち手の対応</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