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"issue_tree", "upstream_commit": "e5dd04dc6f1acf010046d2fc7319bcf5242a849a", "source_pptx_slide": 45,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25  ISSUE_TREE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イシューツリー</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45</a:t>
            </a:r>
            <a:endParaRPr lang="en-US" sz="750" dirty="0"/>
          </a:p>
        </p:txBody>
      </p:sp>
      <p:sp>
        <p:nvSpPr>
          <p:cNvPr id="10" name="shape:010"/>
          <p:cNvSpPr/>
          <p:nvPr/>
        </p:nvSpPr>
        <p:spPr>
          <a:xfrm>
            <a:off x="576072" y="3584448"/>
            <a:ext cx="2286000" cy="1005840"/>
          </a:xfrm>
          <a:prstGeom prst="rect">
            <a:avLst/>
          </a:prstGeom>
          <a:solidFill>
            <a:srgbClr val="322014"/>
          </a:solidFill>
          <a:ln/>
        </p:spPr>
        <p:txBody>
          <a:bodyPr>
            <a:noAutofit/>
          </a:bodyPr>
          <a:p/>
        </p:txBody>
      </p:sp>
      <p:sp>
        <p:nvSpPr>
          <p:cNvPr id="11" name="shape:011"/>
          <p:cNvSpPr/>
          <p:nvPr/>
        </p:nvSpPr>
        <p:spPr>
          <a:xfrm>
            <a:off x="758952" y="3675888"/>
            <a:ext cx="1920240" cy="822960"/>
          </a:xfrm>
          <a:prstGeom prst="rect">
            <a:avLst/>
          </a:prstGeom>
          <a:noFill/>
          <a:ln/>
        </p:spPr>
        <p:txBody>
          <a:bodyPr wrap="square" lIns="381" tIns="381" rIns="381" bIns="381" rtlCol="0" anchor="ctr">
            <a:noAutofit/>
          </a:bodyPr>
          <a:lstStyle/>
          <a:p>
            <a:pPr algn="l" indent="0" marL="0">
              <a:buNone/>
            </a:pPr>
            <a:r>
              <a:rPr lang="en-US" sz="1300" b="1" dirty="0">
                <a:solidFill>
                  <a:srgbClr val="FFFFFF"/>
                </a:solidFill>
                <a:latin typeface="Yu Gothic" pitchFamily="34" charset="0"/>
                <a:ea typeface="Yu Gothic" pitchFamily="34" charset="-122"/>
                <a:cs typeface="Yu Gothic" pitchFamily="34" charset="-120"/>
              </a:rPr>
              <a:t>分解したいイシュー</a:t>
            </a:r>
            <a:endParaRPr lang="en-US" sz="1300" dirty="0"/>
          </a:p>
        </p:txBody>
      </p:sp>
      <p:sp>
        <p:nvSpPr>
          <p:cNvPr id="12" name="shape:012"/>
          <p:cNvSpPr/>
          <p:nvPr/>
        </p:nvSpPr>
        <p:spPr>
          <a:xfrm>
            <a:off x="2862072" y="4087368"/>
            <a:ext cx="320040" cy="0"/>
          </a:xfrm>
          <a:prstGeom prst="line">
            <a:avLst/>
          </a:prstGeom>
          <a:noFill/>
          <a:ln w="12700">
            <a:solidFill>
              <a:srgbClr val="E2DCD2"/>
            </a:solidFill>
            <a:prstDash val="solid"/>
          </a:ln>
        </p:spPr>
        <p:txBody>
          <a:bodyPr>
            <a:noAutofit/>
          </a:bodyPr>
          <a:p/>
        </p:txBody>
      </p:sp>
      <p:sp>
        <p:nvSpPr>
          <p:cNvPr id="13" name="shape:013"/>
          <p:cNvSpPr/>
          <p:nvPr/>
        </p:nvSpPr>
        <p:spPr>
          <a:xfrm>
            <a:off x="3182112" y="2703576"/>
            <a:ext cx="0" cy="2767584"/>
          </a:xfrm>
          <a:prstGeom prst="line">
            <a:avLst/>
          </a:prstGeom>
          <a:noFill/>
          <a:ln w="12700">
            <a:solidFill>
              <a:srgbClr val="E2DCD2"/>
            </a:solidFill>
            <a:prstDash val="solid"/>
          </a:ln>
        </p:spPr>
        <p:txBody>
          <a:bodyPr>
            <a:noAutofit/>
          </a:bodyPr>
          <a:p/>
        </p:txBody>
      </p:sp>
      <p:sp>
        <p:nvSpPr>
          <p:cNvPr id="14" name="shape:014"/>
          <p:cNvSpPr/>
          <p:nvPr/>
        </p:nvSpPr>
        <p:spPr>
          <a:xfrm>
            <a:off x="3182112" y="2703576"/>
            <a:ext cx="320040" cy="0"/>
          </a:xfrm>
          <a:prstGeom prst="line">
            <a:avLst/>
          </a:prstGeom>
          <a:noFill/>
          <a:ln w="12700">
            <a:solidFill>
              <a:srgbClr val="E2DCD2"/>
            </a:solidFill>
            <a:prstDash val="solid"/>
          </a:ln>
        </p:spPr>
        <p:txBody>
          <a:bodyPr>
            <a:noAutofit/>
          </a:bodyPr>
          <a:p/>
        </p:txBody>
      </p:sp>
      <p:sp>
        <p:nvSpPr>
          <p:cNvPr id="15" name="shape:015"/>
          <p:cNvSpPr/>
          <p:nvPr/>
        </p:nvSpPr>
        <p:spPr>
          <a:xfrm>
            <a:off x="3502152" y="2429256"/>
            <a:ext cx="2743200" cy="548640"/>
          </a:xfrm>
          <a:prstGeom prst="rect">
            <a:avLst/>
          </a:prstGeom>
          <a:solidFill>
            <a:srgbClr val="EFEEE8"/>
          </a:solidFill>
          <a:ln/>
        </p:spPr>
        <p:txBody>
          <a:bodyPr>
            <a:noAutofit/>
          </a:bodyPr>
          <a:p/>
        </p:txBody>
      </p:sp>
      <p:sp>
        <p:nvSpPr>
          <p:cNvPr id="16" name="shape:016"/>
          <p:cNvSpPr/>
          <p:nvPr/>
        </p:nvSpPr>
        <p:spPr>
          <a:xfrm>
            <a:off x="3639312" y="2484120"/>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サブイシュー1</a:t>
            </a:r>
            <a:endParaRPr lang="en-US" sz="1200" dirty="0"/>
          </a:p>
        </p:txBody>
      </p:sp>
      <p:sp>
        <p:nvSpPr>
          <p:cNvPr id="17" name="shape:017"/>
          <p:cNvSpPr/>
          <p:nvPr/>
        </p:nvSpPr>
        <p:spPr>
          <a:xfrm>
            <a:off x="6245352" y="2703576"/>
            <a:ext cx="320040" cy="0"/>
          </a:xfrm>
          <a:prstGeom prst="line">
            <a:avLst/>
          </a:prstGeom>
          <a:noFill/>
          <a:ln w="12700">
            <a:solidFill>
              <a:srgbClr val="E2DCD2"/>
            </a:solidFill>
            <a:prstDash val="solid"/>
          </a:ln>
        </p:spPr>
        <p:txBody>
          <a:bodyPr>
            <a:noAutofit/>
          </a:bodyPr>
          <a:p/>
        </p:txBody>
      </p:sp>
      <p:sp>
        <p:nvSpPr>
          <p:cNvPr id="18" name="shape:018"/>
          <p:cNvSpPr/>
          <p:nvPr/>
        </p:nvSpPr>
        <p:spPr>
          <a:xfrm>
            <a:off x="6565392" y="2415540"/>
            <a:ext cx="0" cy="576072"/>
          </a:xfrm>
          <a:prstGeom prst="line">
            <a:avLst/>
          </a:prstGeom>
          <a:noFill/>
          <a:ln w="12700">
            <a:solidFill>
              <a:srgbClr val="E2DCD2"/>
            </a:solidFill>
            <a:prstDash val="solid"/>
          </a:ln>
        </p:spPr>
        <p:txBody>
          <a:bodyPr>
            <a:noAutofit/>
          </a:bodyPr>
          <a:p/>
        </p:txBody>
      </p:sp>
      <p:sp>
        <p:nvSpPr>
          <p:cNvPr id="19" name="shape:019"/>
          <p:cNvSpPr/>
          <p:nvPr/>
        </p:nvSpPr>
        <p:spPr>
          <a:xfrm>
            <a:off x="6565392" y="2415540"/>
            <a:ext cx="320040" cy="0"/>
          </a:xfrm>
          <a:prstGeom prst="line">
            <a:avLst/>
          </a:prstGeom>
          <a:noFill/>
          <a:ln w="12700">
            <a:solidFill>
              <a:srgbClr val="E2DCD2"/>
            </a:solidFill>
            <a:prstDash val="solid"/>
          </a:ln>
        </p:spPr>
        <p:txBody>
          <a:bodyPr>
            <a:noAutofit/>
          </a:bodyPr>
          <a:p/>
        </p:txBody>
      </p:sp>
      <p:sp>
        <p:nvSpPr>
          <p:cNvPr id="20" name="shape:020"/>
          <p:cNvSpPr/>
          <p:nvPr/>
        </p:nvSpPr>
        <p:spPr>
          <a:xfrm>
            <a:off x="6931152" y="2246376"/>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論点1-1</a:t>
            </a:r>
            <a:endParaRPr lang="en-US" sz="1150" dirty="0"/>
          </a:p>
        </p:txBody>
      </p:sp>
      <p:sp>
        <p:nvSpPr>
          <p:cNvPr id="21" name="shape:021"/>
          <p:cNvSpPr/>
          <p:nvPr/>
        </p:nvSpPr>
        <p:spPr>
          <a:xfrm>
            <a:off x="6565392" y="2991612"/>
            <a:ext cx="320040" cy="0"/>
          </a:xfrm>
          <a:prstGeom prst="line">
            <a:avLst/>
          </a:prstGeom>
          <a:noFill/>
          <a:ln w="12700">
            <a:solidFill>
              <a:srgbClr val="E2DCD2"/>
            </a:solidFill>
            <a:prstDash val="solid"/>
          </a:ln>
        </p:spPr>
        <p:txBody>
          <a:bodyPr>
            <a:noAutofit/>
          </a:bodyPr>
          <a:p/>
        </p:txBody>
      </p:sp>
      <p:sp>
        <p:nvSpPr>
          <p:cNvPr id="22" name="shape:022"/>
          <p:cNvSpPr/>
          <p:nvPr/>
        </p:nvSpPr>
        <p:spPr>
          <a:xfrm>
            <a:off x="6931152" y="2822448"/>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論点1-2</a:t>
            </a:r>
            <a:endParaRPr lang="en-US" sz="1150" dirty="0"/>
          </a:p>
        </p:txBody>
      </p:sp>
      <p:sp>
        <p:nvSpPr>
          <p:cNvPr id="23" name="shape:023"/>
          <p:cNvSpPr/>
          <p:nvPr/>
        </p:nvSpPr>
        <p:spPr>
          <a:xfrm>
            <a:off x="3182112" y="4087368"/>
            <a:ext cx="320040" cy="0"/>
          </a:xfrm>
          <a:prstGeom prst="line">
            <a:avLst/>
          </a:prstGeom>
          <a:noFill/>
          <a:ln w="12700">
            <a:solidFill>
              <a:srgbClr val="E2DCD2"/>
            </a:solidFill>
            <a:prstDash val="solid"/>
          </a:ln>
        </p:spPr>
        <p:txBody>
          <a:bodyPr>
            <a:noAutofit/>
          </a:bodyPr>
          <a:p/>
        </p:txBody>
      </p:sp>
      <p:sp>
        <p:nvSpPr>
          <p:cNvPr id="24" name="shape:024"/>
          <p:cNvSpPr/>
          <p:nvPr/>
        </p:nvSpPr>
        <p:spPr>
          <a:xfrm>
            <a:off x="3502152" y="3813048"/>
            <a:ext cx="2743200" cy="548640"/>
          </a:xfrm>
          <a:prstGeom prst="rect">
            <a:avLst/>
          </a:prstGeom>
          <a:solidFill>
            <a:srgbClr val="EFEEE8"/>
          </a:solidFill>
          <a:ln/>
        </p:spPr>
        <p:txBody>
          <a:bodyPr>
            <a:noAutofit/>
          </a:bodyPr>
          <a:p/>
        </p:txBody>
      </p:sp>
      <p:sp>
        <p:nvSpPr>
          <p:cNvPr id="25" name="shape:025"/>
          <p:cNvSpPr/>
          <p:nvPr/>
        </p:nvSpPr>
        <p:spPr>
          <a:xfrm>
            <a:off x="3639312" y="3867912"/>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サブイシュー2</a:t>
            </a:r>
            <a:endParaRPr lang="en-US" sz="1200" dirty="0"/>
          </a:p>
        </p:txBody>
      </p:sp>
      <p:sp>
        <p:nvSpPr>
          <p:cNvPr id="26" name="shape:026"/>
          <p:cNvSpPr/>
          <p:nvPr/>
        </p:nvSpPr>
        <p:spPr>
          <a:xfrm>
            <a:off x="6245352" y="4087368"/>
            <a:ext cx="320040" cy="0"/>
          </a:xfrm>
          <a:prstGeom prst="line">
            <a:avLst/>
          </a:prstGeom>
          <a:noFill/>
          <a:ln w="12700">
            <a:solidFill>
              <a:srgbClr val="E2DCD2"/>
            </a:solidFill>
            <a:prstDash val="solid"/>
          </a:ln>
        </p:spPr>
        <p:txBody>
          <a:bodyPr>
            <a:noAutofit/>
          </a:bodyPr>
          <a:p/>
        </p:txBody>
      </p:sp>
      <p:sp>
        <p:nvSpPr>
          <p:cNvPr id="27" name="shape:027"/>
          <p:cNvSpPr/>
          <p:nvPr/>
        </p:nvSpPr>
        <p:spPr>
          <a:xfrm>
            <a:off x="6565392" y="3799332"/>
            <a:ext cx="0" cy="576072"/>
          </a:xfrm>
          <a:prstGeom prst="line">
            <a:avLst/>
          </a:prstGeom>
          <a:noFill/>
          <a:ln w="12700">
            <a:solidFill>
              <a:srgbClr val="E2DCD2"/>
            </a:solidFill>
            <a:prstDash val="solid"/>
          </a:ln>
        </p:spPr>
        <p:txBody>
          <a:bodyPr>
            <a:noAutofit/>
          </a:bodyPr>
          <a:p/>
        </p:txBody>
      </p:sp>
      <p:sp>
        <p:nvSpPr>
          <p:cNvPr id="28" name="shape:028"/>
          <p:cNvSpPr/>
          <p:nvPr/>
        </p:nvSpPr>
        <p:spPr>
          <a:xfrm>
            <a:off x="6565392" y="3799332"/>
            <a:ext cx="320040" cy="0"/>
          </a:xfrm>
          <a:prstGeom prst="line">
            <a:avLst/>
          </a:prstGeom>
          <a:noFill/>
          <a:ln w="12700">
            <a:solidFill>
              <a:srgbClr val="E2DCD2"/>
            </a:solidFill>
            <a:prstDash val="solid"/>
          </a:ln>
        </p:spPr>
        <p:txBody>
          <a:bodyPr>
            <a:noAutofit/>
          </a:bodyPr>
          <a:p/>
        </p:txBody>
      </p:sp>
      <p:sp>
        <p:nvSpPr>
          <p:cNvPr id="29" name="shape:029"/>
          <p:cNvSpPr/>
          <p:nvPr/>
        </p:nvSpPr>
        <p:spPr>
          <a:xfrm>
            <a:off x="6931152" y="3630168"/>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論点2-1</a:t>
            </a:r>
            <a:endParaRPr lang="en-US" sz="1150" dirty="0"/>
          </a:p>
        </p:txBody>
      </p:sp>
      <p:sp>
        <p:nvSpPr>
          <p:cNvPr id="30" name="shape:030"/>
          <p:cNvSpPr/>
          <p:nvPr/>
        </p:nvSpPr>
        <p:spPr>
          <a:xfrm>
            <a:off x="6565392" y="4375404"/>
            <a:ext cx="320040" cy="0"/>
          </a:xfrm>
          <a:prstGeom prst="line">
            <a:avLst/>
          </a:prstGeom>
          <a:noFill/>
          <a:ln w="12700">
            <a:solidFill>
              <a:srgbClr val="E2DCD2"/>
            </a:solidFill>
            <a:prstDash val="solid"/>
          </a:ln>
        </p:spPr>
        <p:txBody>
          <a:bodyPr>
            <a:noAutofit/>
          </a:bodyPr>
          <a:p/>
        </p:txBody>
      </p:sp>
      <p:sp>
        <p:nvSpPr>
          <p:cNvPr id="31" name="shape:031"/>
          <p:cNvSpPr/>
          <p:nvPr/>
        </p:nvSpPr>
        <p:spPr>
          <a:xfrm>
            <a:off x="6931152" y="4206240"/>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論点2-2</a:t>
            </a:r>
            <a:endParaRPr lang="en-US" sz="1150" dirty="0"/>
          </a:p>
        </p:txBody>
      </p:sp>
      <p:sp>
        <p:nvSpPr>
          <p:cNvPr id="32" name="shape:032"/>
          <p:cNvSpPr/>
          <p:nvPr/>
        </p:nvSpPr>
        <p:spPr>
          <a:xfrm>
            <a:off x="3182112" y="5471160"/>
            <a:ext cx="320040" cy="0"/>
          </a:xfrm>
          <a:prstGeom prst="line">
            <a:avLst/>
          </a:prstGeom>
          <a:noFill/>
          <a:ln w="12700">
            <a:solidFill>
              <a:srgbClr val="E2DCD2"/>
            </a:solidFill>
            <a:prstDash val="solid"/>
          </a:ln>
        </p:spPr>
        <p:txBody>
          <a:bodyPr>
            <a:noAutofit/>
          </a:bodyPr>
          <a:p/>
        </p:txBody>
      </p:sp>
      <p:sp>
        <p:nvSpPr>
          <p:cNvPr id="33" name="shape:033"/>
          <p:cNvSpPr/>
          <p:nvPr/>
        </p:nvSpPr>
        <p:spPr>
          <a:xfrm>
            <a:off x="3502152" y="5196840"/>
            <a:ext cx="2743200" cy="548640"/>
          </a:xfrm>
          <a:prstGeom prst="rect">
            <a:avLst/>
          </a:prstGeom>
          <a:solidFill>
            <a:srgbClr val="EFEEE8"/>
          </a:solidFill>
          <a:ln/>
        </p:spPr>
        <p:txBody>
          <a:bodyPr>
            <a:noAutofit/>
          </a:bodyPr>
          <a:p/>
        </p:txBody>
      </p:sp>
      <p:sp>
        <p:nvSpPr>
          <p:cNvPr id="34" name="shape:034"/>
          <p:cNvSpPr/>
          <p:nvPr/>
        </p:nvSpPr>
        <p:spPr>
          <a:xfrm>
            <a:off x="3639312" y="5251704"/>
            <a:ext cx="2468880" cy="438912"/>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サブイシュー3</a:t>
            </a:r>
            <a:endParaRPr lang="en-US" sz="1200" dirty="0"/>
          </a:p>
        </p:txBody>
      </p:sp>
      <p:sp>
        <p:nvSpPr>
          <p:cNvPr id="35" name="shape:035"/>
          <p:cNvSpPr/>
          <p:nvPr/>
        </p:nvSpPr>
        <p:spPr>
          <a:xfrm>
            <a:off x="6245352" y="5471160"/>
            <a:ext cx="320040" cy="0"/>
          </a:xfrm>
          <a:prstGeom prst="line">
            <a:avLst/>
          </a:prstGeom>
          <a:noFill/>
          <a:ln w="12700">
            <a:solidFill>
              <a:srgbClr val="E2DCD2"/>
            </a:solidFill>
            <a:prstDash val="solid"/>
          </a:ln>
        </p:spPr>
        <p:txBody>
          <a:bodyPr>
            <a:noAutofit/>
          </a:bodyPr>
          <a:p/>
        </p:txBody>
      </p:sp>
      <p:sp>
        <p:nvSpPr>
          <p:cNvPr id="36" name="shape:036"/>
          <p:cNvSpPr/>
          <p:nvPr/>
        </p:nvSpPr>
        <p:spPr>
          <a:xfrm>
            <a:off x="6565392" y="5183124"/>
            <a:ext cx="0" cy="576072"/>
          </a:xfrm>
          <a:prstGeom prst="line">
            <a:avLst/>
          </a:prstGeom>
          <a:noFill/>
          <a:ln w="12700">
            <a:solidFill>
              <a:srgbClr val="E2DCD2"/>
            </a:solidFill>
            <a:prstDash val="solid"/>
          </a:ln>
        </p:spPr>
        <p:txBody>
          <a:bodyPr>
            <a:noAutofit/>
          </a:bodyPr>
          <a:p/>
        </p:txBody>
      </p:sp>
      <p:sp>
        <p:nvSpPr>
          <p:cNvPr id="37" name="shape:037"/>
          <p:cNvSpPr/>
          <p:nvPr/>
        </p:nvSpPr>
        <p:spPr>
          <a:xfrm>
            <a:off x="6565392" y="5183124"/>
            <a:ext cx="320040" cy="0"/>
          </a:xfrm>
          <a:prstGeom prst="line">
            <a:avLst/>
          </a:prstGeom>
          <a:noFill/>
          <a:ln w="12700">
            <a:solidFill>
              <a:srgbClr val="E2DCD2"/>
            </a:solidFill>
            <a:prstDash val="solid"/>
          </a:ln>
        </p:spPr>
        <p:txBody>
          <a:bodyPr>
            <a:noAutofit/>
          </a:bodyPr>
          <a:p/>
        </p:txBody>
      </p:sp>
      <p:sp>
        <p:nvSpPr>
          <p:cNvPr id="38" name="shape:038"/>
          <p:cNvSpPr/>
          <p:nvPr/>
        </p:nvSpPr>
        <p:spPr>
          <a:xfrm>
            <a:off x="6931152" y="5013960"/>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論点3-1</a:t>
            </a:r>
            <a:endParaRPr lang="en-US" sz="1150" dirty="0"/>
          </a:p>
        </p:txBody>
      </p:sp>
      <p:sp>
        <p:nvSpPr>
          <p:cNvPr id="39" name="shape:039"/>
          <p:cNvSpPr/>
          <p:nvPr/>
        </p:nvSpPr>
        <p:spPr>
          <a:xfrm>
            <a:off x="6565392" y="5759196"/>
            <a:ext cx="320040" cy="0"/>
          </a:xfrm>
          <a:prstGeom prst="line">
            <a:avLst/>
          </a:prstGeom>
          <a:noFill/>
          <a:ln w="12700">
            <a:solidFill>
              <a:srgbClr val="E2DCD2"/>
            </a:solidFill>
            <a:prstDash val="solid"/>
          </a:ln>
        </p:spPr>
        <p:txBody>
          <a:bodyPr>
            <a:noAutofit/>
          </a:bodyPr>
          <a:p/>
        </p:txBody>
      </p:sp>
      <p:sp>
        <p:nvSpPr>
          <p:cNvPr id="40" name="shape:040"/>
          <p:cNvSpPr/>
          <p:nvPr/>
        </p:nvSpPr>
        <p:spPr>
          <a:xfrm>
            <a:off x="6931152" y="5590032"/>
            <a:ext cx="4638751" cy="338328"/>
          </a:xfrm>
          <a:prstGeom prst="rect">
            <a:avLst/>
          </a:prstGeom>
          <a:noFill/>
          <a:ln/>
        </p:spPr>
        <p:txBody>
          <a:bodyPr wrap="square" lIns="381" tIns="381" rIns="381" bIns="381" rtlCol="0" anchor="ctr">
            <a:noAutofit/>
          </a:bodyPr>
          <a:lstStyle/>
          <a:p>
            <a:pPr algn="l" indent="0" marL="0">
              <a:buNone/>
            </a:pPr>
            <a:r>
              <a:rPr lang="en-US" sz="1150" dirty="0">
                <a:solidFill>
                  <a:srgbClr val="322014"/>
                </a:solidFill>
                <a:latin typeface="Yu Gothic" pitchFamily="34" charset="0"/>
                <a:ea typeface="Yu Gothic" pitchFamily="34" charset="-122"/>
                <a:cs typeface="Yu Gothic" pitchFamily="34" charset="-120"/>
              </a:rPr>
              <a:t>論点3-2</a:t>
            </a:r>
            <a:endParaRPr lang="en-US" sz="1150" dirty="0"/>
          </a:p>
        </p:txBody>
      </p:sp>
      <p:sp>
        <p:nvSpPr>
          <p:cNvPr id="4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イシューツリー</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