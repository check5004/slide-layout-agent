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{"layout_id": "kpi_dashboard", "upstream_commit": "e5dd04dc6f1acf010046d2fc7319bcf5242a849a", "source_pptx_slide": 25, "license": "MIT License\n\nCopyright (c) 2026 Carnot AI Inc.\n\nPermission is hereby granted, free of charge, to any person obtaining a copy\nof this software and associated documentation files (the \"Software\"), to deal\nin the Software without restriction, including without limitation the rights\nto use, copy, modify, merge, publish, distribute, sublicense, and/or sell\ncopies of the Software, and to permit persons to whom the Software is\nfurnished to do so, subject to the following conditions:\n\nThe above copyright notice and this permission notice shall be included in all\ncopies or substantial portions of the Software.\n\nTHE SOFTWARE IS PROVIDED \"AS IS\", WITHOUT WARRANTY OF ANY KIND, EXPRESS OR\nIMPLIED, INCLUDING BUT NOT LIMITED TO THE WARRANTIES OF MERCHANTABILITY,\nFITNESS FOR A PARTICULAR PURPOSE AND NONINFRINGEMENT. IN NO EVENT SHALL THE\nAUTHORS OR COPYRIGHT HOLDERS BE LIABLE FOR ANY CLAIM, DAMAGES OR OTHER\nLIABILITY, WHETHER IN AN ACTION OF CONTRACT, TORT OR OTHERWISE, ARISING FROM,\nOUT OF OR IN CONNECTION WITH THE SOFTWARE OR THE USE OR OTHER DEALINGS IN THE\nSOFTWARE.\n"}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meta:header"/>
          <p:cNvSpPr/>
          <p:nvPr/>
        </p:nvSpPr>
        <p:spPr>
          <a:xfrm>
            <a:off x="576072" y="320040"/>
            <a:ext cx="6400800" cy="274320"/>
          </a:xfrm>
          <a:prstGeom prst="rect">
            <a:avLst/>
          </a:prstGeom>
          <a:noFill/>
          <a:ln/>
        </p:spPr>
        <p:txBody>
          <a:bodyPr wrap="square" lIns="0" tIns="0" rIns="0" bIns="0" rtlCol="0" anchor="b">
            <a:noAutofit/>
          </a:bodyPr>
          <a:lstStyle/>
          <a:p>
            <a:pPr indent="0" marL="0">
              <a:buNone/>
            </a:pPr>
            <a:r>
              <a:rPr lang="en-US" sz="1400" dirty="0">
                <a:solidFill>
                  <a:srgbClr val="322014"/>
                </a:solidFill>
                <a:latin typeface="Yu Mincho Demibold" pitchFamily="34" charset="0"/>
                <a:ea typeface="Yu Mincho Demibold" pitchFamily="34" charset="-122"/>
                <a:cs typeface="Yu Mincho Demibold" pitchFamily="34" charset="-120"/>
              </a:rPr>
              <a:t>スライド型カタログ</a:t>
            </a:r>
            <a:endParaRPr lang="en-US" sz="1400" dirty="0"/>
          </a:p>
        </p:txBody>
      </p:sp>
      <p:sp>
        <p:nvSpPr>
          <p:cNvPr id="3" name="meta:layout"/>
          <p:cNvSpPr/>
          <p:nvPr/>
        </p:nvSpPr>
        <p:spPr>
          <a:xfrm>
            <a:off x="7043623" y="411480"/>
            <a:ext cx="4572000" cy="182880"/>
          </a:xfrm>
          <a:prstGeom prst="rect">
            <a:avLst/>
          </a:prstGeom>
          <a:noFill/>
          <a:ln/>
        </p:spPr>
        <p:txBody>
          <a:bodyPr wrap="square" lIns="0" tIns="0" rIns="0" bIns="0" rtlCol="0" anchor="ctr">
            <a:noAutofit/>
          </a:bodyPr>
          <a:lstStyle/>
          <a:p>
            <a:pPr algn="r" indent="0" marL="0">
              <a:buNone/>
            </a:pPr>
            <a:r>
              <a:rPr lang="en-US" sz="800" dirty="0">
                <a:solidFill>
                  <a:srgbClr val="8A7B6B"/>
                </a:solidFill>
                <a:latin typeface="Yu Gothic" pitchFamily="34" charset="0"/>
                <a:ea typeface="Yu Gothic" pitchFamily="34" charset="-122"/>
                <a:cs typeface="Yu Gothic" pitchFamily="34" charset="-120"/>
              </a:rPr>
              <a:t>04  KPI_DASHBOARD</a:t>
            </a:r>
            <a:endParaRPr lang="en-US" sz="800" dirty="0"/>
          </a:p>
        </p:txBody>
      </p:sp>
      <p:sp>
        <p:nvSpPr>
          <p:cNvPr id="4" name="shape:004"/>
          <p:cNvSpPr/>
          <p:nvPr/>
        </p:nvSpPr>
        <p:spPr>
          <a:xfrm>
            <a:off x="576072" y="784555"/>
            <a:ext cx="11039551" cy="0"/>
          </a:xfrm>
          <a:prstGeom prst="line">
            <a:avLst/>
          </a:prstGeom>
          <a:noFill/>
          <a:ln w="13970">
            <a:solidFill>
              <a:srgbClr val="322014"/>
            </a:solidFill>
            <a:prstDash val="solid"/>
          </a:ln>
        </p:spPr>
        <p:txBody>
          <a:bodyPr>
            <a:noAutofit/>
          </a:bodyPr>
          <a:p/>
        </p:txBody>
      </p:sp>
      <p:sp>
        <p:nvSpPr>
          <p:cNvPr id="5" name="slot:title"/>
          <p:cNvSpPr/>
          <p:nvPr/>
        </p:nvSpPr>
        <p:spPr>
          <a:xfrm>
            <a:off x="576072" y="914400"/>
            <a:ext cx="11039551" cy="502920"/>
          </a:xfrm>
          <a:prstGeom prst="rect">
            <a:avLst/>
          </a:prstGeom>
          <a:noFill/>
          <a:ln/>
        </p:spPr>
        <p:txBody>
          <a:bodyPr wrap="square" lIns="0" tIns="0" rIns="0" bIns="0" rtlCol="0" anchor="t">
            <a:noAutofit/>
          </a:bodyPr>
          <a:lstStyle/>
          <a:p>
            <a:pPr indent="0" marL="0">
              <a:buNone/>
            </a:pPr>
            <a:r>
              <a:rPr lang="en-US" sz="2200" dirty="0">
                <a:solidFill>
                  <a:srgbClr val="322014"/>
                </a:solidFill>
                <a:latin typeface="Yu Mincho Demibold" pitchFamily="34" charset="0"/>
                <a:ea typeface="Yu Mincho Demibold" pitchFamily="34" charset="-122"/>
                <a:cs typeface="Yu Mincho Demibold" pitchFamily="34" charset="-120"/>
              </a:rPr>
              <a:t>KPI一覧</a:t>
            </a:r>
            <a:endParaRPr lang="en-US" sz="2200" dirty="0"/>
          </a:p>
        </p:txBody>
      </p:sp>
      <p:sp>
        <p:nvSpPr>
          <p:cNvPr id="6" name="shape:006"/>
          <p:cNvSpPr/>
          <p:nvPr/>
        </p:nvSpPr>
        <p:spPr>
          <a:xfrm>
            <a:off x="576072" y="6245352"/>
            <a:ext cx="8961120" cy="182880"/>
          </a:xfrm>
          <a:prstGeom prst="rect">
            <a:avLst/>
          </a:prstGeom>
          <a:noFill/>
          <a:ln/>
        </p:spPr>
        <p:txBody>
          <a:bodyPr wrap="square" lIns="0" tIns="0" rIns="0" bIns="0" rtlCol="0" anchor="ctr">
            <a:noAutofit/>
          </a:bodyPr>
          <a:lstStyle/>
          <a:p>
            <a:pPr indent="0" marL="0">
              <a:buNone/>
            </a:pPr>
            <a:r>
              <a:rPr lang="en-US" sz="750" dirty="0">
                <a:solidFill>
                  <a:srgbClr val="8A7B6B"/>
                </a:solidFill>
                <a:latin typeface="Yu Gothic" pitchFamily="34" charset="0"/>
                <a:ea typeface="Yu Gothic" pitchFamily="34" charset="-122"/>
                <a:cs typeface="Yu Gothic" pitchFamily="34" charset="-120"/>
              </a:rPr>
              <a:t>出典：Source 1</a:t>
            </a:r>
            <a:endParaRPr lang="en-US" sz="750" dirty="0"/>
          </a:p>
        </p:txBody>
      </p:sp>
      <p:sp>
        <p:nvSpPr>
          <p:cNvPr id="7" name="shape:007"/>
          <p:cNvSpPr/>
          <p:nvPr/>
        </p:nvSpPr>
        <p:spPr>
          <a:xfrm>
            <a:off x="576072" y="6483096"/>
            <a:ext cx="11039551" cy="0"/>
          </a:xfrm>
          <a:prstGeom prst="line">
            <a:avLst/>
          </a:prstGeom>
          <a:noFill/>
          <a:ln w="8890">
            <a:solidFill>
              <a:srgbClr val="E2DCD2"/>
            </a:solidFill>
            <a:prstDash val="solid"/>
          </a:ln>
        </p:spPr>
        <p:txBody>
          <a:bodyPr>
            <a:noAutofit/>
          </a:bodyPr>
          <a:p/>
        </p:txBody>
      </p:sp>
      <p:sp>
        <p:nvSpPr>
          <p:cNvPr id="8" name="meta:footer"/>
          <p:cNvSpPr/>
          <p:nvPr/>
        </p:nvSpPr>
        <p:spPr>
          <a:xfrm>
            <a:off x="576072" y="6565392"/>
            <a:ext cx="5486400" cy="182880"/>
          </a:xfrm>
          <a:prstGeom prst="rect">
            <a:avLst/>
          </a:prstGeom>
          <a:noFill/>
          <a:ln/>
        </p:spPr>
        <p:txBody>
          <a:bodyPr wrap="square" lIns="0" tIns="0" rIns="0" bIns="0" rtlCol="0" anchor="ctr">
            <a:noAutofit/>
          </a:bodyPr>
          <a:lstStyle/>
          <a:p>
            <a:pPr indent="0" marL="0">
              <a:buNone/>
            </a:pPr>
            <a:r>
              <a:rPr lang="en-US" sz="850" b="1" dirty="0">
                <a:solidFill>
                  <a:srgbClr val="322014"/>
                </a:solidFill>
                <a:latin typeface="Yu Gothic" pitchFamily="34" charset="0"/>
                <a:ea typeface="Yu Gothic" pitchFamily="34" charset="-122"/>
                <a:cs typeface="Yu Gothic" pitchFamily="34" charset="-120"/>
              </a:rPr>
              <a:t>スライド型カタログ</a:t>
            </a:r>
            <a:endParaRPr lang="en-US" sz="850" dirty="0"/>
          </a:p>
        </p:txBody>
      </p:sp>
      <p:sp>
        <p:nvSpPr>
          <p:cNvPr id="9" name="meta:page"/>
          <p:cNvSpPr/>
          <p:nvPr/>
        </p:nvSpPr>
        <p:spPr>
          <a:xfrm>
            <a:off x="11249863" y="6565392"/>
            <a:ext cx="365760" cy="182880"/>
          </a:xfrm>
          <a:prstGeom prst="rect">
            <a:avLst/>
          </a:prstGeom>
          <a:noFill/>
          <a:ln/>
        </p:spPr>
        <p:txBody>
          <a:bodyPr wrap="square" lIns="0" tIns="0" rIns="0" bIns="0" rtlCol="0" anchor="ctr">
            <a:noAutofit/>
          </a:bodyPr>
          <a:lstStyle/>
          <a:p>
            <a:pPr algn="r" indent="0" marL="0">
              <a:buNone/>
            </a:pPr>
            <a:r>
              <a:rPr lang="en-US" sz="750" dirty="0">
                <a:solidFill>
                  <a:srgbClr val="8A7B6B"/>
                </a:solidFill>
                <a:latin typeface="Yu Gothic" pitchFamily="34" charset="0"/>
                <a:ea typeface="Yu Gothic" pitchFamily="34" charset="-122"/>
                <a:cs typeface="Yu Gothic" pitchFamily="34" charset="-120"/>
              </a:rPr>
              <a:t>25</a:t>
            </a:r>
            <a:endParaRPr lang="en-US" sz="750" dirty="0"/>
          </a:p>
        </p:txBody>
      </p:sp>
      <p:sp>
        <p:nvSpPr>
          <p:cNvPr id="10" name="shape:010"/>
          <p:cNvSpPr/>
          <p:nvPr/>
        </p:nvSpPr>
        <p:spPr>
          <a:xfrm>
            <a:off x="576072" y="2978087"/>
            <a:ext cx="2485568" cy="0"/>
          </a:xfrm>
          <a:prstGeom prst="line">
            <a:avLst/>
          </a:prstGeom>
          <a:noFill/>
          <a:ln w="25400">
            <a:solidFill>
              <a:srgbClr val="322014"/>
            </a:solidFill>
            <a:prstDash val="solid"/>
          </a:ln>
        </p:spPr>
        <p:txBody>
          <a:bodyPr>
            <a:noAutofit/>
          </a:bodyPr>
          <a:p/>
        </p:txBody>
      </p:sp>
      <p:sp>
        <p:nvSpPr>
          <p:cNvPr id="11" name="shape:011"/>
          <p:cNvSpPr/>
          <p:nvPr/>
        </p:nvSpPr>
        <p:spPr>
          <a:xfrm>
            <a:off x="576072" y="3124391"/>
            <a:ext cx="2485568" cy="274320"/>
          </a:xfrm>
          <a:prstGeom prst="rect">
            <a:avLst/>
          </a:prstGeom>
          <a:noFill/>
          <a:ln/>
        </p:spPr>
        <p:txBody>
          <a:bodyPr wrap="square" lIns="381" tIns="381" rIns="381" bIns="381" rtlCol="0" anchor="t">
            <a:noAutofit/>
          </a:bodyPr>
          <a:lstStyle/>
          <a:p>
            <a:pPr algn="l" indent="0" marL="0">
              <a:buNone/>
            </a:pPr>
            <a:r>
              <a:rPr lang="en-US" sz="1200" b="1" dirty="0">
                <a:solidFill>
                  <a:srgbClr val="8A7B6B"/>
                </a:solidFill>
                <a:latin typeface="Yu Gothic" pitchFamily="34" charset="0"/>
                <a:ea typeface="Yu Gothic" pitchFamily="34" charset="-122"/>
                <a:cs typeface="Yu Gothic" pitchFamily="34" charset="-120"/>
              </a:rPr>
              <a:t>ラベル1</a:t>
            </a:r>
            <a:endParaRPr lang="en-US" sz="1200" dirty="0"/>
          </a:p>
        </p:txBody>
      </p:sp>
      <p:sp>
        <p:nvSpPr>
          <p:cNvPr id="12" name="shape:012"/>
          <p:cNvSpPr/>
          <p:nvPr/>
        </p:nvSpPr>
        <p:spPr>
          <a:xfrm>
            <a:off x="576072" y="3435287"/>
            <a:ext cx="2485568" cy="640080"/>
          </a:xfrm>
          <a:prstGeom prst="rect">
            <a:avLst/>
          </a:prstGeom>
          <a:noFill/>
          <a:ln/>
        </p:spPr>
        <p:txBody>
          <a:bodyPr wrap="square" lIns="381" tIns="381" rIns="381" bIns="381" rtlCol="0" anchor="t">
            <a:noAutofit/>
          </a:bodyPr>
          <a:lstStyle/>
          <a:p>
            <a:pPr algn="l" indent="0" marL="0">
              <a:buNone/>
            </a:pPr>
            <a:r>
              <a:rPr lang="en-US" sz="3400" b="1" dirty="0">
                <a:solidFill>
                  <a:srgbClr val="5A3921"/>
                </a:solidFill>
                <a:latin typeface="Yu Gothic" pitchFamily="34" charset="0"/>
                <a:ea typeface="Yu Gothic" pitchFamily="34" charset="-122"/>
                <a:cs typeface="Yu Gothic" pitchFamily="34" charset="-120"/>
              </a:rPr>
              <a:t>-18%</a:t>
            </a:r>
            <a:endParaRPr lang="en-US" sz="3400" dirty="0"/>
          </a:p>
        </p:txBody>
      </p:sp>
      <p:sp>
        <p:nvSpPr>
          <p:cNvPr id="13" name="shape:013"/>
          <p:cNvSpPr/>
          <p:nvPr/>
        </p:nvSpPr>
        <p:spPr>
          <a:xfrm>
            <a:off x="576072" y="4166807"/>
            <a:ext cx="2485568" cy="274320"/>
          </a:xfrm>
          <a:prstGeom prst="rect">
            <a:avLst/>
          </a:prstGeom>
          <a:noFill/>
          <a:ln/>
        </p:spPr>
        <p:txBody>
          <a:bodyPr wrap="square" lIns="381" tIns="381" rIns="381" bIns="381" rtlCol="0" anchor="t">
            <a:noAutofit/>
          </a:bodyPr>
          <a:lstStyle/>
          <a:p>
            <a:pPr algn="l" indent="0" marL="0">
              <a:buNone/>
            </a:pPr>
            <a:r>
              <a:rPr lang="en-US" sz="1300" b="1" dirty="0">
                <a:solidFill>
                  <a:srgbClr val="5A3921"/>
                </a:solidFill>
                <a:latin typeface="Yu Gothic" pitchFamily="34" charset="0"/>
                <a:ea typeface="Yu Gothic" pitchFamily="34" charset="-122"/>
                <a:cs typeface="Yu Gothic" pitchFamily="34" charset="-120"/>
              </a:rPr>
              <a:t>Text 1</a:t>
            </a:r>
            <a:endParaRPr lang="en-US" sz="1300" dirty="0"/>
          </a:p>
        </p:txBody>
      </p:sp>
      <p:sp>
        <p:nvSpPr>
          <p:cNvPr id="14" name="shape:014"/>
          <p:cNvSpPr/>
          <p:nvPr/>
        </p:nvSpPr>
        <p:spPr>
          <a:xfrm>
            <a:off x="576072" y="4486846"/>
            <a:ext cx="2485568" cy="457200"/>
          </a:xfrm>
          <a:prstGeom prst="rect">
            <a:avLst/>
          </a:prstGeom>
          <a:noFill/>
          <a:ln/>
        </p:spPr>
        <p:txBody>
          <a:bodyPr wrap="square" lIns="381" tIns="381" rIns="381" bIns="381" rtlCol="0" anchor="t">
            <a:noAutofit/>
          </a:bodyPr>
          <a:lstStyle/>
          <a:p>
            <a:pPr algn="l" indent="0" marL="0">
              <a:buNone/>
            </a:pPr>
            <a:r>
              <a:rPr lang="en-US" sz="1100" dirty="0">
                <a:solidFill>
                  <a:srgbClr val="8A7B6B"/>
                </a:solidFill>
                <a:latin typeface="Yu Gothic" pitchFamily="34" charset="0"/>
                <a:ea typeface="Yu Gothic" pitchFamily="34" charset="-122"/>
                <a:cs typeface="Yu Gothic" pitchFamily="34" charset="-120"/>
              </a:rPr>
              <a:t>注：前提や注記を記載</a:t>
            </a:r>
            <a:endParaRPr lang="en-US" sz="1100" dirty="0"/>
          </a:p>
        </p:txBody>
      </p:sp>
      <p:sp>
        <p:nvSpPr>
          <p:cNvPr id="15" name="shape:015"/>
          <p:cNvSpPr/>
          <p:nvPr/>
        </p:nvSpPr>
        <p:spPr>
          <a:xfrm>
            <a:off x="3427400" y="2978087"/>
            <a:ext cx="2485568" cy="0"/>
          </a:xfrm>
          <a:prstGeom prst="line">
            <a:avLst/>
          </a:prstGeom>
          <a:noFill/>
          <a:ln w="25400">
            <a:solidFill>
              <a:srgbClr val="322014"/>
            </a:solidFill>
            <a:prstDash val="solid"/>
          </a:ln>
        </p:spPr>
        <p:txBody>
          <a:bodyPr>
            <a:noAutofit/>
          </a:bodyPr>
          <a:p/>
        </p:txBody>
      </p:sp>
      <p:sp>
        <p:nvSpPr>
          <p:cNvPr id="16" name="shape:016"/>
          <p:cNvSpPr/>
          <p:nvPr/>
        </p:nvSpPr>
        <p:spPr>
          <a:xfrm>
            <a:off x="3427400" y="3124391"/>
            <a:ext cx="2485568" cy="274320"/>
          </a:xfrm>
          <a:prstGeom prst="rect">
            <a:avLst/>
          </a:prstGeom>
          <a:noFill/>
          <a:ln/>
        </p:spPr>
        <p:txBody>
          <a:bodyPr wrap="square" lIns="381" tIns="381" rIns="381" bIns="381" rtlCol="0" anchor="t">
            <a:noAutofit/>
          </a:bodyPr>
          <a:lstStyle/>
          <a:p>
            <a:pPr algn="l" indent="0" marL="0">
              <a:buNone/>
            </a:pPr>
            <a:r>
              <a:rPr lang="en-US" sz="1200" b="1" dirty="0">
                <a:solidFill>
                  <a:srgbClr val="8A7B6B"/>
                </a:solidFill>
                <a:latin typeface="Yu Gothic" pitchFamily="34" charset="0"/>
                <a:ea typeface="Yu Gothic" pitchFamily="34" charset="-122"/>
                <a:cs typeface="Yu Gothic" pitchFamily="34" charset="-120"/>
              </a:rPr>
              <a:t>ラベル2</a:t>
            </a:r>
            <a:endParaRPr lang="en-US" sz="1200" dirty="0"/>
          </a:p>
        </p:txBody>
      </p:sp>
      <p:sp>
        <p:nvSpPr>
          <p:cNvPr id="17" name="shape:017"/>
          <p:cNvSpPr/>
          <p:nvPr/>
        </p:nvSpPr>
        <p:spPr>
          <a:xfrm>
            <a:off x="3427400" y="3435287"/>
            <a:ext cx="2485568" cy="640080"/>
          </a:xfrm>
          <a:prstGeom prst="rect">
            <a:avLst/>
          </a:prstGeom>
          <a:noFill/>
          <a:ln/>
        </p:spPr>
        <p:txBody>
          <a:bodyPr wrap="square" lIns="381" tIns="381" rIns="381" bIns="381" rtlCol="0" anchor="t">
            <a:noAutofit/>
          </a:bodyPr>
          <a:lstStyle/>
          <a:p>
            <a:pPr algn="l" indent="0" marL="0">
              <a:buNone/>
            </a:pPr>
            <a:r>
              <a:rPr lang="en-US" sz="3400" b="1" dirty="0">
                <a:solidFill>
                  <a:srgbClr val="5A3921"/>
                </a:solidFill>
                <a:latin typeface="Yu Gothic" pitchFamily="34" charset="0"/>
                <a:ea typeface="Yu Gothic" pitchFamily="34" charset="-122"/>
                <a:cs typeface="Yu Gothic" pitchFamily="34" charset="-120"/>
              </a:rPr>
              <a:t>0 days</a:t>
            </a:r>
            <a:endParaRPr lang="en-US" sz="3400" dirty="0"/>
          </a:p>
        </p:txBody>
      </p:sp>
      <p:sp>
        <p:nvSpPr>
          <p:cNvPr id="18" name="shape:018"/>
          <p:cNvSpPr/>
          <p:nvPr/>
        </p:nvSpPr>
        <p:spPr>
          <a:xfrm>
            <a:off x="3427400" y="4166807"/>
            <a:ext cx="2485568" cy="274320"/>
          </a:xfrm>
          <a:prstGeom prst="rect">
            <a:avLst/>
          </a:prstGeom>
          <a:noFill/>
          <a:ln/>
        </p:spPr>
        <p:txBody>
          <a:bodyPr wrap="square" lIns="381" tIns="381" rIns="381" bIns="381" rtlCol="0" anchor="t">
            <a:noAutofit/>
          </a:bodyPr>
          <a:lstStyle/>
          <a:p>
            <a:pPr algn="l" indent="0" marL="0">
              <a:buNone/>
            </a:pPr>
            <a:r>
              <a:rPr lang="en-US" sz="1300" b="1" dirty="0">
                <a:solidFill>
                  <a:srgbClr val="5A3921"/>
                </a:solidFill>
                <a:latin typeface="Yu Gothic" pitchFamily="34" charset="0"/>
                <a:ea typeface="Yu Gothic" pitchFamily="34" charset="-122"/>
                <a:cs typeface="Yu Gothic" pitchFamily="34" charset="-120"/>
              </a:rPr>
              <a:t>Text 2</a:t>
            </a:r>
            <a:endParaRPr lang="en-US" sz="1300" dirty="0"/>
          </a:p>
        </p:txBody>
      </p:sp>
      <p:sp>
        <p:nvSpPr>
          <p:cNvPr id="19" name="shape:019"/>
          <p:cNvSpPr/>
          <p:nvPr/>
        </p:nvSpPr>
        <p:spPr>
          <a:xfrm>
            <a:off x="3427400" y="4486846"/>
            <a:ext cx="2485568" cy="457200"/>
          </a:xfrm>
          <a:prstGeom prst="rect">
            <a:avLst/>
          </a:prstGeom>
          <a:noFill/>
          <a:ln/>
        </p:spPr>
        <p:txBody>
          <a:bodyPr wrap="square" lIns="381" tIns="381" rIns="381" bIns="381" rtlCol="0" anchor="t">
            <a:noAutofit/>
          </a:bodyPr>
          <a:lstStyle/>
          <a:p>
            <a:pPr algn="l" indent="0" marL="0">
              <a:buNone/>
            </a:pPr>
            <a:r>
              <a:rPr lang="en-US" sz="1100" dirty="0">
                <a:solidFill>
                  <a:srgbClr val="8A7B6B"/>
                </a:solidFill>
                <a:latin typeface="Yu Gothic" pitchFamily="34" charset="0"/>
                <a:ea typeface="Yu Gothic" pitchFamily="34" charset="-122"/>
                <a:cs typeface="Yu Gothic" pitchFamily="34" charset="-120"/>
              </a:rPr>
              <a:t>注：前提や注記を記載</a:t>
            </a:r>
            <a:endParaRPr lang="en-US" sz="1100" dirty="0"/>
          </a:p>
        </p:txBody>
      </p:sp>
      <p:sp>
        <p:nvSpPr>
          <p:cNvPr id="20" name="shape:020"/>
          <p:cNvSpPr/>
          <p:nvPr/>
        </p:nvSpPr>
        <p:spPr>
          <a:xfrm>
            <a:off x="6278728" y="2978087"/>
            <a:ext cx="2485568" cy="0"/>
          </a:xfrm>
          <a:prstGeom prst="line">
            <a:avLst/>
          </a:prstGeom>
          <a:noFill/>
          <a:ln w="25400">
            <a:solidFill>
              <a:srgbClr val="322014"/>
            </a:solidFill>
            <a:prstDash val="solid"/>
          </a:ln>
        </p:spPr>
        <p:txBody>
          <a:bodyPr>
            <a:noAutofit/>
          </a:bodyPr>
          <a:p/>
        </p:txBody>
      </p:sp>
      <p:sp>
        <p:nvSpPr>
          <p:cNvPr id="21" name="shape:021"/>
          <p:cNvSpPr/>
          <p:nvPr/>
        </p:nvSpPr>
        <p:spPr>
          <a:xfrm>
            <a:off x="6278728" y="3124391"/>
            <a:ext cx="2485568" cy="274320"/>
          </a:xfrm>
          <a:prstGeom prst="rect">
            <a:avLst/>
          </a:prstGeom>
          <a:noFill/>
          <a:ln/>
        </p:spPr>
        <p:txBody>
          <a:bodyPr wrap="square" lIns="381" tIns="381" rIns="381" bIns="381" rtlCol="0" anchor="t">
            <a:noAutofit/>
          </a:bodyPr>
          <a:lstStyle/>
          <a:p>
            <a:pPr algn="l" indent="0" marL="0">
              <a:buNone/>
            </a:pPr>
            <a:r>
              <a:rPr lang="en-US" sz="1200" b="1" dirty="0">
                <a:solidFill>
                  <a:srgbClr val="8A7B6B"/>
                </a:solidFill>
                <a:latin typeface="Yu Gothic" pitchFamily="34" charset="0"/>
                <a:ea typeface="Yu Gothic" pitchFamily="34" charset="-122"/>
                <a:cs typeface="Yu Gothic" pitchFamily="34" charset="-120"/>
              </a:rPr>
              <a:t>ラベル3</a:t>
            </a:r>
            <a:endParaRPr lang="en-US" sz="1200" dirty="0"/>
          </a:p>
        </p:txBody>
      </p:sp>
      <p:sp>
        <p:nvSpPr>
          <p:cNvPr id="22" name="shape:022"/>
          <p:cNvSpPr/>
          <p:nvPr/>
        </p:nvSpPr>
        <p:spPr>
          <a:xfrm>
            <a:off x="6278728" y="3435287"/>
            <a:ext cx="2485568" cy="640080"/>
          </a:xfrm>
          <a:prstGeom prst="rect">
            <a:avLst/>
          </a:prstGeom>
          <a:noFill/>
          <a:ln/>
        </p:spPr>
        <p:txBody>
          <a:bodyPr wrap="square" lIns="381" tIns="381" rIns="381" bIns="381" rtlCol="0" anchor="t">
            <a:noAutofit/>
          </a:bodyPr>
          <a:lstStyle/>
          <a:p>
            <a:pPr algn="l" indent="0" marL="0">
              <a:buNone/>
            </a:pPr>
            <a:r>
              <a:rPr lang="en-US" sz="3400" b="1" dirty="0">
                <a:solidFill>
                  <a:srgbClr val="5A3921"/>
                </a:solidFill>
                <a:latin typeface="Yu Gothic" pitchFamily="34" charset="0"/>
                <a:ea typeface="Yu Gothic" pitchFamily="34" charset="-122"/>
                <a:cs typeface="Yu Gothic" pitchFamily="34" charset="-120"/>
              </a:rPr>
              <a:t>2 / 4</a:t>
            </a:r>
            <a:endParaRPr lang="en-US" sz="3400" dirty="0"/>
          </a:p>
        </p:txBody>
      </p:sp>
      <p:sp>
        <p:nvSpPr>
          <p:cNvPr id="23" name="shape:023"/>
          <p:cNvSpPr/>
          <p:nvPr/>
        </p:nvSpPr>
        <p:spPr>
          <a:xfrm>
            <a:off x="6278728" y="4166807"/>
            <a:ext cx="2485568" cy="274320"/>
          </a:xfrm>
          <a:prstGeom prst="rect">
            <a:avLst/>
          </a:prstGeom>
          <a:noFill/>
          <a:ln/>
        </p:spPr>
        <p:txBody>
          <a:bodyPr wrap="square" lIns="381" tIns="381" rIns="381" bIns="381" rtlCol="0" anchor="t">
            <a:noAutofit/>
          </a:bodyPr>
          <a:lstStyle/>
          <a:p>
            <a:pPr algn="l" indent="0" marL="0">
              <a:buNone/>
            </a:pPr>
            <a:r>
              <a:rPr lang="en-US" sz="1300" b="1" dirty="0">
                <a:solidFill>
                  <a:srgbClr val="5A3921"/>
                </a:solidFill>
                <a:latin typeface="Yu Gothic" pitchFamily="34" charset="0"/>
                <a:ea typeface="Yu Gothic" pitchFamily="34" charset="-122"/>
                <a:cs typeface="Yu Gothic" pitchFamily="34" charset="-120"/>
              </a:rPr>
              <a:t>Text 3</a:t>
            </a:r>
            <a:endParaRPr lang="en-US" sz="1300" dirty="0"/>
          </a:p>
        </p:txBody>
      </p:sp>
      <p:sp>
        <p:nvSpPr>
          <p:cNvPr id="24" name="shape:024"/>
          <p:cNvSpPr/>
          <p:nvPr/>
        </p:nvSpPr>
        <p:spPr>
          <a:xfrm>
            <a:off x="6278728" y="4486846"/>
            <a:ext cx="2485568" cy="457200"/>
          </a:xfrm>
          <a:prstGeom prst="rect">
            <a:avLst/>
          </a:prstGeom>
          <a:noFill/>
          <a:ln/>
        </p:spPr>
        <p:txBody>
          <a:bodyPr wrap="square" lIns="381" tIns="381" rIns="381" bIns="381" rtlCol="0" anchor="t">
            <a:noAutofit/>
          </a:bodyPr>
          <a:lstStyle/>
          <a:p>
            <a:pPr algn="l" indent="0" marL="0">
              <a:buNone/>
            </a:pPr>
            <a:r>
              <a:rPr lang="en-US" sz="1100" dirty="0">
                <a:solidFill>
                  <a:srgbClr val="8A7B6B"/>
                </a:solidFill>
                <a:latin typeface="Yu Gothic" pitchFamily="34" charset="0"/>
                <a:ea typeface="Yu Gothic" pitchFamily="34" charset="-122"/>
                <a:cs typeface="Yu Gothic" pitchFamily="34" charset="-120"/>
              </a:rPr>
              <a:t>注：前提や注記を記載</a:t>
            </a:r>
            <a:endParaRPr lang="en-US" sz="1100" dirty="0"/>
          </a:p>
        </p:txBody>
      </p:sp>
      <p:sp>
        <p:nvSpPr>
          <p:cNvPr id="25" name="shape:025"/>
          <p:cNvSpPr/>
          <p:nvPr/>
        </p:nvSpPr>
        <p:spPr>
          <a:xfrm>
            <a:off x="9130055" y="2978087"/>
            <a:ext cx="2485568" cy="0"/>
          </a:xfrm>
          <a:prstGeom prst="line">
            <a:avLst/>
          </a:prstGeom>
          <a:noFill/>
          <a:ln w="25400">
            <a:solidFill>
              <a:srgbClr val="322014"/>
            </a:solidFill>
            <a:prstDash val="solid"/>
          </a:ln>
        </p:spPr>
        <p:txBody>
          <a:bodyPr>
            <a:noAutofit/>
          </a:bodyPr>
          <a:p/>
        </p:txBody>
      </p:sp>
      <p:sp>
        <p:nvSpPr>
          <p:cNvPr id="26" name="shape:026"/>
          <p:cNvSpPr/>
          <p:nvPr/>
        </p:nvSpPr>
        <p:spPr>
          <a:xfrm>
            <a:off x="9130055" y="3124391"/>
            <a:ext cx="2485568" cy="274320"/>
          </a:xfrm>
          <a:prstGeom prst="rect">
            <a:avLst/>
          </a:prstGeom>
          <a:noFill/>
          <a:ln/>
        </p:spPr>
        <p:txBody>
          <a:bodyPr wrap="square" lIns="381" tIns="381" rIns="381" bIns="381" rtlCol="0" anchor="t">
            <a:noAutofit/>
          </a:bodyPr>
          <a:lstStyle/>
          <a:p>
            <a:pPr algn="l" indent="0" marL="0">
              <a:buNone/>
            </a:pPr>
            <a:r>
              <a:rPr lang="en-US" sz="1200" b="1" dirty="0">
                <a:solidFill>
                  <a:srgbClr val="8A7B6B"/>
                </a:solidFill>
                <a:latin typeface="Yu Gothic" pitchFamily="34" charset="0"/>
                <a:ea typeface="Yu Gothic" pitchFamily="34" charset="-122"/>
                <a:cs typeface="Yu Gothic" pitchFamily="34" charset="-120"/>
              </a:rPr>
              <a:t>ラベル4</a:t>
            </a:r>
            <a:endParaRPr lang="en-US" sz="1200" dirty="0"/>
          </a:p>
        </p:txBody>
      </p:sp>
      <p:sp>
        <p:nvSpPr>
          <p:cNvPr id="27" name="shape:027"/>
          <p:cNvSpPr/>
          <p:nvPr/>
        </p:nvSpPr>
        <p:spPr>
          <a:xfrm>
            <a:off x="9130055" y="3435287"/>
            <a:ext cx="2485568" cy="640080"/>
          </a:xfrm>
          <a:prstGeom prst="rect">
            <a:avLst/>
          </a:prstGeom>
          <a:noFill/>
          <a:ln/>
        </p:spPr>
        <p:txBody>
          <a:bodyPr wrap="square" lIns="381" tIns="381" rIns="381" bIns="381" rtlCol="0" anchor="t">
            <a:noAutofit/>
          </a:bodyPr>
          <a:lstStyle/>
          <a:p>
            <a:pPr algn="l" indent="0" marL="0">
              <a:buNone/>
            </a:pPr>
            <a:r>
              <a:rPr lang="en-US" sz="3400" b="1" dirty="0">
                <a:solidFill>
                  <a:srgbClr val="5A3921"/>
                </a:solidFill>
                <a:latin typeface="Yu Gothic" pitchFamily="34" charset="0"/>
                <a:ea typeface="Yu Gothic" pitchFamily="34" charset="-122"/>
                <a:cs typeface="Yu Gothic" pitchFamily="34" charset="-120"/>
              </a:rPr>
              <a:t>$6M</a:t>
            </a:r>
            <a:endParaRPr lang="en-US" sz="3400" dirty="0"/>
          </a:p>
        </p:txBody>
      </p:sp>
      <p:sp>
        <p:nvSpPr>
          <p:cNvPr id="28" name="shape:028"/>
          <p:cNvSpPr/>
          <p:nvPr/>
        </p:nvSpPr>
        <p:spPr>
          <a:xfrm>
            <a:off x="9130055" y="4166807"/>
            <a:ext cx="2485568" cy="274320"/>
          </a:xfrm>
          <a:prstGeom prst="rect">
            <a:avLst/>
          </a:prstGeom>
          <a:noFill/>
          <a:ln/>
        </p:spPr>
        <p:txBody>
          <a:bodyPr wrap="square" lIns="381" tIns="381" rIns="381" bIns="381" rtlCol="0" anchor="t">
            <a:noAutofit/>
          </a:bodyPr>
          <a:lstStyle/>
          <a:p>
            <a:pPr algn="l" indent="0" marL="0">
              <a:buNone/>
            </a:pPr>
            <a:r>
              <a:rPr lang="en-US" sz="1300" b="1" dirty="0">
                <a:solidFill>
                  <a:srgbClr val="5A3921"/>
                </a:solidFill>
                <a:latin typeface="Yu Gothic" pitchFamily="34" charset="0"/>
                <a:ea typeface="Yu Gothic" pitchFamily="34" charset="-122"/>
                <a:cs typeface="Yu Gothic" pitchFamily="34" charset="-120"/>
              </a:rPr>
              <a:t>Text 4</a:t>
            </a:r>
            <a:endParaRPr lang="en-US" sz="1300" dirty="0"/>
          </a:p>
        </p:txBody>
      </p:sp>
      <p:sp>
        <p:nvSpPr>
          <p:cNvPr id="29" name="shape:029"/>
          <p:cNvSpPr/>
          <p:nvPr/>
        </p:nvSpPr>
        <p:spPr>
          <a:xfrm>
            <a:off x="9130055" y="4486846"/>
            <a:ext cx="2485568" cy="457200"/>
          </a:xfrm>
          <a:prstGeom prst="rect">
            <a:avLst/>
          </a:prstGeom>
          <a:noFill/>
          <a:ln/>
        </p:spPr>
        <p:txBody>
          <a:bodyPr wrap="square" lIns="381" tIns="381" rIns="381" bIns="381" rtlCol="0" anchor="t">
            <a:noAutofit/>
          </a:bodyPr>
          <a:lstStyle/>
          <a:p>
            <a:pPr algn="l" indent="0" marL="0">
              <a:buNone/>
            </a:pPr>
            <a:r>
              <a:rPr lang="en-US" sz="1100" dirty="0">
                <a:solidFill>
                  <a:srgbClr val="8A7B6B"/>
                </a:solidFill>
                <a:latin typeface="Yu Gothic" pitchFamily="34" charset="0"/>
                <a:ea typeface="Yu Gothic" pitchFamily="34" charset="-122"/>
                <a:cs typeface="Yu Gothic" pitchFamily="34" charset="-120"/>
              </a:rPr>
              <a:t>注：前提や注記を記載</a:t>
            </a:r>
            <a:endParaRPr lang="en-US" sz="1100" dirty="0"/>
          </a:p>
        </p:txBody>
      </p:sp>
      <p:sp>
        <p:nvSpPr>
          <p:cNvPr id="30" name="meta:format"/>
          <p:cNvSpPr txBox="1"/>
          <p:nvPr/>
        </p:nvSpPr>
        <p:spPr>
          <a:xfrm>
            <a:off x="10015423" y="6565392"/>
            <a:ext cx="1188720" cy="182880"/>
          </a:xfrm>
          <a:prstGeom prst="rect">
            <a:avLst/>
          </a:prstGeom>
          <a:noFill/>
        </p:spPr>
        <p:txBody>
          <a:bodyPr wrap="none" lIns="0" rIns="0" tIns="0" bIns="0">
            <a:noAutofit/>
          </a:bodyPr>
          <a:lstStyle/>
          <a:p>
            <a:pPr algn="r"/>
            <a:r>
              <a:rPr sz="750" b="0">
                <a:solidFill>
                  <a:srgbClr val="8A7B6B"/>
                </a:solidFill>
                <a:latin typeface="Yu Gothic"/>
              </a:rPr>
              <a:t>PPTX</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KPI一覧</dc:title>
  <dc:subject/>
  <dc:creator>slide-layout-agent / Carnot AI Inc.</dc:creator>
  <cp:keywords/>
  <dc:description>Derived from Carnot AI Inc. MIT-licensed SuperTemplate; see catalog/upstream/LICENSE.</dc:description>
  <cp:lastModifiedBy>Steve Canny</cp:lastModifiedBy>
  <cp:revision>1</cp:revision>
  <dcterms:created xsi:type="dcterms:W3CDTF">2013-01-27T09:14:16Z</dcterms:created>
  <dcterms:modified xsi:type="dcterms:W3CDTF">2013-01-27T09:15:58Z</dcterms:modified>
  <cp:category/>
</cp:coreProperties>
</file>