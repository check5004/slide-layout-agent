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"lever_effect_table", "upstream_commit": "e5dd04dc6f1acf010046d2fc7319bcf5242a849a", "source_pptx_slide": 37,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パーツ12｜打ち手の効果表</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打ち手の効果表</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37</a:t>
            </a:r>
            <a:endParaRPr lang="en-US" sz="750" dirty="0"/>
          </a:p>
        </p:txBody>
      </p:sp>
      <p:sp>
        <p:nvSpPr>
          <p:cNvPr id="10" name="shape:010"/>
          <p:cNvSpPr/>
          <p:nvPr/>
        </p:nvSpPr>
        <p:spPr>
          <a:xfrm>
            <a:off x="9851479" y="1628784"/>
            <a:ext cx="144000" cy="144000"/>
          </a:xfrm>
          <a:prstGeom prst="rect">
            <a:avLst/>
          </a:prstGeom>
          <a:solidFill>
            <a:srgbClr val="5A3921"/>
          </a:solidFill>
          <a:ln/>
        </p:spPr>
        <p:txBody>
          <a:bodyPr>
            <a:noAutofit/>
          </a:bodyPr>
          <a:p/>
        </p:txBody>
      </p:sp>
      <p:sp>
        <p:nvSpPr>
          <p:cNvPr id="11" name="shape:011"/>
          <p:cNvSpPr/>
          <p:nvPr/>
        </p:nvSpPr>
        <p:spPr>
          <a:xfrm>
            <a:off x="10049479"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増やす方向</a:t>
            </a:r>
            <a:endParaRPr lang="en-US" sz="800" dirty="0"/>
          </a:p>
        </p:txBody>
      </p:sp>
      <p:sp>
        <p:nvSpPr>
          <p:cNvPr id="12" name="shape:012"/>
          <p:cNvSpPr/>
          <p:nvPr/>
        </p:nvSpPr>
        <p:spPr>
          <a:xfrm>
            <a:off x="10841551" y="1628784"/>
            <a:ext cx="144000" cy="144000"/>
          </a:xfrm>
          <a:prstGeom prst="rect">
            <a:avLst/>
          </a:prstGeom>
          <a:solidFill>
            <a:srgbClr val="E2DCD2"/>
          </a:solidFill>
          <a:ln/>
        </p:spPr>
        <p:txBody>
          <a:bodyPr>
            <a:noAutofit/>
          </a:bodyPr>
          <a:p/>
        </p:txBody>
      </p:sp>
      <p:sp>
        <p:nvSpPr>
          <p:cNvPr id="13" name="shape:013"/>
          <p:cNvSpPr/>
          <p:nvPr/>
        </p:nvSpPr>
        <p:spPr>
          <a:xfrm>
            <a:off x="11039551" y="1609344"/>
            <a:ext cx="576072" cy="182880"/>
          </a:xfrm>
          <a:prstGeom prst="rect">
            <a:avLst/>
          </a:prstGeom>
          <a:noFill/>
          <a:ln/>
        </p:spPr>
        <p:txBody>
          <a:bodyPr wrap="square" lIns="0" tIns="0" rIns="0" bIns="0" rtlCol="0" anchor="ctr">
            <a:noAutofit/>
          </a:bodyPr>
          <a:lstStyle/>
          <a:p>
            <a:pPr algn="l" indent="0" marL="0">
              <a:buNone/>
            </a:pPr>
            <a:r>
              <a:rPr lang="en-US" sz="800" dirty="0">
                <a:solidFill>
                  <a:srgbClr val="322014"/>
                </a:solidFill>
                <a:latin typeface="Yu Gothic" pitchFamily="34" charset="0"/>
                <a:ea typeface="Yu Gothic" pitchFamily="34" charset="-122"/>
                <a:cs typeface="Yu Gothic" pitchFamily="34" charset="-120"/>
              </a:rPr>
              <a:t>減らす方向</a:t>
            </a:r>
            <a:endParaRPr lang="en-US" sz="800" dirty="0"/>
          </a:p>
        </p:txBody>
      </p:sp>
      <p:graphicFrame>
        <p:nvGraphicFramePr>
          <p:cNvPr id="38" name="shape:038"/>
          <p:cNvGraphicFramePr>
            <a:graphicFrameLocks noGrp="1"/>
          </p:cNvGraphicFramePr>
          <p:nvPr>
            <p:extLst>
              <p:ext uri="{D42A27DB-BD31-4B8C-83A1-F6EECF244321}">
                <p14:modId xmlns:p14="http://schemas.microsoft.com/office/powerpoint/2010/main" val="1579011935"/>
              </p:ext>
            </p:extLst>
          </p:nvPr>
        </p:nvGraphicFramePr>
        <p:xfrm>
          <a:off x="576072" y="1972224"/>
          <a:ext cx="11039551" cy="914400"/>
        </p:xfrm>
        <a:graphic>
          <a:graphicData uri="http://schemas.openxmlformats.org/drawingml/2006/table">
            <a:tbl>
              <a:tblPr/>
              <a:tblGrid>
                <a:gridCol w="2016000"/>
                <a:gridCol w="2016000"/>
                <a:gridCol w="7007551"/>
              </a:tblGrid>
              <a:tr h="365760">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打ち手</a:t>
                      </a:r>
                      <a:endParaRPr lang="en-US" sz="1150" dirty="0">
                        <a:latin typeface="Yu Gothic" charset="0"/>
                        <a:ea typeface="Yu Gothic" charset="0"/>
                        <a:cs typeface="Yu Gothic" charset="0"/>
                      </a:endParaRPr>
                    </a:p>
                  </a:txBody>
                  <a:tcPr marL="54864" marR="54864" marT="18288" marB="54864" anchor="b">
                    <a:lnL w="0" cap="flat" cmpd="sng" algn="ctr">
                      <a:noFill/>
                    </a:lnL>
                    <a:lnR w="17780" cap="flat" cmpd="sng" algn="ctr">
                      <a:solidFill>
                        <a:srgbClr val="322014"/>
                      </a:solidFill>
                      <a:prstDash val="solid"/>
                      <a:round/>
                      <a:headEnd type="none" w="med" len="med"/>
                      <a:tailEnd type="none" w="med" len="med"/>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効果の幅（単位）</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c>
                  <a:txBody>
                    <a:bodyPr/>
                    <a:lstStyle/>
                    <a:p>
                      <a:pPr algn="l" indent="0" marL="0">
                        <a:buNone/>
                      </a:pPr>
                      <a:r>
                        <a:rPr lang="en-US" sz="1150" b="1" dirty="0">
                          <a:solidFill>
                            <a:srgbClr val="322014"/>
                          </a:solidFill>
                          <a:latin typeface="Yu Gothic" pitchFamily="34" charset="0"/>
                          <a:ea typeface="Yu Gothic" pitchFamily="34" charset="-122"/>
                          <a:cs typeface="Yu Gothic" pitchFamily="34" charset="-120"/>
                        </a:rPr>
                        <a:t>前提・制約</a:t>
                      </a:r>
                      <a:endParaRPr lang="en-US" sz="1150" dirty="0">
                        <a:latin typeface="Yu Gothic" charset="0"/>
                        <a:ea typeface="Yu Gothic" charset="0"/>
                        <a:cs typeface="Yu Gothic" charset="0"/>
                      </a:endParaRPr>
                    </a:p>
                  </a:txBody>
                  <a:tcPr marL="54864" marR="54864" marT="18288" marB="54864" anchor="b">
                    <a:lnL w="0" cap="flat" cmpd="sng" algn="ctr">
                      <a:noFill/>
                    </a:lnL>
                    <a:lnR w="0" cap="flat" cmpd="sng" algn="ctr">
                      <a:noFill/>
                    </a:lnR>
                    <a:lnT w="0" cap="flat" cmpd="sng" algn="ctr">
                      <a:noFill/>
                    </a:lnT>
                    <a:lnB w="17780" cap="flat" cmpd="sng" algn="ctr">
                      <a:solidFill>
                        <a:srgbClr val="322014"/>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2</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1</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2</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5</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7620" cap="flat" cmpd="sng" algn="ctr">
                      <a:solidFill>
                        <a:srgbClr val="E2DCD2"/>
                      </a:solidFill>
                      <a:prstDash val="solid"/>
                      <a:round/>
                      <a:headEnd type="none" w="med" len="med"/>
                      <a:tailEnd type="none" w="med" len="med"/>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3</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4</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7620" cap="flat" cmpd="sng" algn="ctr">
                      <a:solidFill>
                        <a:srgbClr val="E2DCD2"/>
                      </a:solidFill>
                      <a:prstDash val="solid"/>
                      <a:round/>
                      <a:headEnd type="none" w="med" len="med"/>
                      <a:tailEnd type="none" w="med" len="med"/>
                    </a:lnB>
                  </a:tcPr>
                </a:tc>
              </a:tr>
              <a:tr h="1278072">
                <a:tc>
                  <a:txBody>
                    <a:bodyPr/>
                    <a:lstStyle/>
                    <a:p>
                      <a:pPr algn="l" indent="0" marL="0">
                        <a:buNone/>
                      </a:pPr>
                      <a:r>
                        <a:rPr lang="en-US" sz="1000" b="1" dirty="0">
                          <a:solidFill>
                            <a:srgbClr val="5A3921"/>
                          </a:solidFill>
                          <a:latin typeface="Yu Mincho Demibold" pitchFamily="34" charset="0"/>
                          <a:ea typeface="Yu Mincho Demibold" pitchFamily="34" charset="-122"/>
                          <a:cs typeface="Yu Mincho Demibold" pitchFamily="34" charset="-120"/>
                        </a:rPr>
                        <a:t>ラベル 8</a:t>
                      </a:r>
                      <a:endParaRPr lang="en-US" sz="1000" dirty="0">
                        <a:latin typeface="Yu Mincho Demibold" charset="0"/>
                        <a:ea typeface="Yu Mincho Demibold" charset="0"/>
                        <a:cs typeface="Yu Mincho Demibold" charset="0"/>
                      </a:endParaRPr>
                    </a:p>
                  </a:txBody>
                  <a:tcPr marL="54864" marR="54864" marT="54864" marB="54864" anchor="ctr">
                    <a:lnL w="0" cap="flat" cmpd="sng" algn="ctr">
                      <a:noFill/>
                    </a:lnL>
                    <a:lnR w="17780" cap="flat" cmpd="sng" algn="ctr">
                      <a:solidFill>
                        <a:srgbClr val="322014"/>
                      </a:solidFill>
                      <a:prstDash val="solid"/>
                      <a:round/>
                      <a:headEnd type="none" w="med" len="med"/>
                      <a:tailEnd type="none" w="med" len="med"/>
                    </a:lnR>
                    <a:lnT w="0" cap="flat" cmpd="sng" algn="ctr">
                      <a:noFill/>
                    </a:lnT>
                    <a:lnB w="0" cap="flat" cmpd="sng" algn="ctr">
                      <a:noFill/>
                    </a:lnB>
                  </a:tcPr>
                </a:tc>
                <a:tc>
                  <a:txBody>
                    <a:bodyPr/>
                    <a:lstStyle/>
                    <a:p>
                      <a:pPr algn="l" indent="0" marL="0">
                        <a:buNone/>
                      </a:pP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c>
                  <a:txBody>
                    <a:bodyPr/>
                    <a:lstStyle/>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5</a:t>
                      </a:r>
                      <a:endParaRPr lang="en-US" sz="1000" dirty="0">
                        <a:latin typeface="Yu Gothic" charset="0"/>
                        <a:ea typeface="Yu Gothic" charset="0"/>
                        <a:cs typeface="Yu Gothic" charset="0"/>
                      </a:endParaRPr>
                    </a:p>
                    <a:p>
                      <a:pPr algn="l" marL="127000" indent="-127000">
                        <a:buSzPct val="100000"/>
                        <a:buChar char="•"/>
                      </a:pPr>
                      <a:r>
                        <a:rPr lang="en-US" sz="1000" dirty="0">
                          <a:solidFill>
                            <a:srgbClr val="322014"/>
                          </a:solidFill>
                          <a:latin typeface="Yu Gothic" pitchFamily="34" charset="0"/>
                          <a:ea typeface="Yu Gothic" pitchFamily="34" charset="-122"/>
                          <a:cs typeface="Yu Gothic" pitchFamily="34" charset="-120"/>
                        </a:rPr>
                        <a:t>Text 6</a:t>
                      </a:r>
                      <a:endParaRPr lang="en-US" sz="1000" dirty="0">
                        <a:latin typeface="Yu Gothic" charset="0"/>
                        <a:ea typeface="Yu Gothic" charset="0"/>
                        <a:cs typeface="Yu Gothic" charset="0"/>
                      </a:endParaRPr>
                    </a:p>
                  </a:txBody>
                  <a:tcPr marL="54864" marR="54864" marT="54864" marB="54864" anchor="ctr">
                    <a:lnL w="0" cap="flat" cmpd="sng" algn="ctr">
                      <a:noFill/>
                    </a:lnL>
                    <a:lnR w="0" cap="flat" cmpd="sng" algn="ctr">
                      <a:noFill/>
                    </a:lnR>
                    <a:lnT w="0" cap="flat" cmpd="sng" algn="ctr">
                      <a:noFill/>
                    </a:lnT>
                    <a:lnB w="0" cap="flat" cmpd="sng" algn="ctr">
                      <a:noFill/>
                    </a:lnB>
                  </a:tcPr>
                </a:tc>
              </a:tr>
            </a:tbl>
          </a:graphicData>
        </a:graphic>
      </p:graphicFrame>
      <p:sp>
        <p:nvSpPr>
          <p:cNvPr id="15" name="shape:015"/>
          <p:cNvSpPr/>
          <p:nvPr/>
        </p:nvSpPr>
        <p:spPr>
          <a:xfrm>
            <a:off x="2646936" y="2878020"/>
            <a:ext cx="1525018" cy="198000"/>
          </a:xfrm>
          <a:prstGeom prst="homePlate">
            <a:avLst/>
          </a:prstGeom>
          <a:solidFill>
            <a:srgbClr val="5A3921"/>
          </a:solidFill>
          <a:ln/>
        </p:spPr>
        <p:txBody>
          <a:bodyPr wrap="square" lIns="108000" tIns="0" rIns="0" bIns="0" rtlCol="0" anchor="ctr">
            <a:noAutofit/>
          </a:bodyPr>
          <a:lstStyle/>
          <a:p>
            <a:pPr algn="l" indent="0" marL="0">
              <a:buNone/>
            </a:pPr>
            <a:r>
              <a:rPr lang="en-US" sz="900" b="1" dirty="0">
                <a:solidFill>
                  <a:srgbClr val="FFFFFF"/>
                </a:solidFill>
                <a:latin typeface="Yu Gothic" pitchFamily="34" charset="0"/>
                <a:ea typeface="Yu Gothic" pitchFamily="34" charset="-122"/>
                <a:cs typeface="Yu Gothic" pitchFamily="34" charset="-120"/>
              </a:rPr>
              <a:t>＋00〜00</a:t>
            </a:r>
            <a:endParaRPr lang="en-US" sz="900" dirty="0"/>
          </a:p>
        </p:txBody>
      </p:sp>
      <p:sp>
        <p:nvSpPr>
          <p:cNvPr id="16" name="shape:016"/>
          <p:cNvSpPr/>
          <p:nvPr/>
        </p:nvSpPr>
        <p:spPr>
          <a:xfrm>
            <a:off x="2646936" y="4156092"/>
            <a:ext cx="1048450" cy="198000"/>
          </a:xfrm>
          <a:prstGeom prst="homePlate">
            <a:avLst/>
          </a:prstGeom>
          <a:solidFill>
            <a:srgbClr val="5A3921"/>
          </a:solidFill>
          <a:ln/>
        </p:spPr>
        <p:txBody>
          <a:bodyPr wrap="square" lIns="108000" tIns="0" rIns="0" bIns="0" rtlCol="0" anchor="ctr">
            <a:noAutofit/>
          </a:bodyPr>
          <a:lstStyle/>
          <a:p>
            <a:pPr algn="l" indent="0" marL="0">
              <a:buNone/>
            </a:pPr>
            <a:r>
              <a:rPr lang="en-US" sz="900" b="1" dirty="0">
                <a:solidFill>
                  <a:srgbClr val="FFFFFF"/>
                </a:solidFill>
                <a:latin typeface="Yu Gothic" pitchFamily="34" charset="0"/>
                <a:ea typeface="Yu Gothic" pitchFamily="34" charset="-122"/>
                <a:cs typeface="Yu Gothic" pitchFamily="34" charset="-120"/>
              </a:rPr>
              <a:t>＋00〜00</a:t>
            </a:r>
            <a:endParaRPr lang="en-US" sz="900" dirty="0"/>
          </a:p>
        </p:txBody>
      </p:sp>
      <p:sp>
        <p:nvSpPr>
          <p:cNvPr id="17" name="shape:017"/>
          <p:cNvSpPr/>
          <p:nvPr/>
        </p:nvSpPr>
        <p:spPr>
          <a:xfrm>
            <a:off x="2646936" y="5434164"/>
            <a:ext cx="724383" cy="198000"/>
          </a:xfrm>
          <a:prstGeom prst="homePlate">
            <a:avLst/>
          </a:prstGeom>
          <a:solidFill>
            <a:srgbClr val="E2DCD2"/>
          </a:solidFill>
          <a:ln/>
        </p:spPr>
        <p:txBody>
          <a:bodyPr wrap="square" lIns="108000" tIns="0" rIns="0" bIns="0" rtlCol="0" anchor="ctr">
            <a:noAutofit/>
          </a:bodyPr>
          <a:lstStyle/>
          <a:p>
            <a:pPr algn="l" indent="0" marL="0">
              <a:buNone/>
            </a:pPr>
            <a:r>
              <a:rPr lang="en-US" sz="900" b="1" dirty="0">
                <a:solidFill>
                  <a:srgbClr val="322014"/>
                </a:solidFill>
                <a:latin typeface="Yu Gothic" pitchFamily="34" charset="0"/>
                <a:ea typeface="Yu Gothic" pitchFamily="34" charset="-122"/>
                <a:cs typeface="Yu Gothic" pitchFamily="34" charset="-120"/>
              </a:rPr>
              <a:t>−00</a:t>
            </a:r>
            <a:endParaRPr lang="en-US" sz="900" dirty="0"/>
          </a:p>
        </p:txBody>
      </p:sp>
      <p:sp>
        <p:nvSpPr>
          <p:cNvPr id="39"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打ち手の効果表</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