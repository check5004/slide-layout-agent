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"lever_effect_table", "upstream_commit": "e5dd04dc6f1acf010046d2fc7319bcf5242a849a", "source_pptx_slide": 37,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パーツ12｜打ち手の効果表</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打ち手の効果表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37</a:t>
            </a:r>
            <a:endParaRPr lang="en-US" sz="750" dirty="0"/>
          </a:p>
        </p:txBody>
      </p:sp>
      <p:sp>
        <p:nvSpPr>
          <p:cNvPr id="10" name="shape:010"/>
          <p:cNvSpPr/>
          <p:nvPr/>
        </p:nvSpPr>
        <p:spPr>
          <a:xfrm>
            <a:off x="9851479" y="1628784"/>
            <a:ext cx="144000" cy="144000"/>
          </a:xfrm>
          <a:prstGeom prst="rect">
            <a:avLst/>
          </a:prstGeom>
          <a:solidFill>
            <a:srgbClr val="5A3921"/>
          </a:solidFill>
          <a:ln/>
        </p:spPr>
        <p:txBody>
          <a:bodyPr>
            <a:noAutofit/>
          </a:bodyPr>
          <a:p/>
        </p:txBody>
      </p:sp>
      <p:sp>
        <p:nvSpPr>
          <p:cNvPr id="11" name="shape:011"/>
          <p:cNvSpPr/>
          <p:nvPr/>
        </p:nvSpPr>
        <p:spPr>
          <a:xfrm>
            <a:off x="1004947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増やす方向</a:t>
            </a:r>
            <a:endParaRPr lang="en-US" sz="800" dirty="0"/>
          </a:p>
        </p:txBody>
      </p:sp>
      <p:sp>
        <p:nvSpPr>
          <p:cNvPr id="12" name="shape:012"/>
          <p:cNvSpPr/>
          <p:nvPr/>
        </p:nvSpPr>
        <p:spPr>
          <a:xfrm>
            <a:off x="10841551" y="1628784"/>
            <a:ext cx="144000" cy="144000"/>
          </a:xfrm>
          <a:prstGeom prst="rect">
            <a:avLst/>
          </a:prstGeom>
          <a:solidFill>
            <a:srgbClr val="E2DCD2"/>
          </a:solidFill>
          <a:ln/>
        </p:spPr>
        <p:txBody>
          <a:bodyPr>
            <a:noAutofit/>
          </a:bodyPr>
          <a:p/>
        </p:txBody>
      </p:sp>
      <p:sp>
        <p:nvSpPr>
          <p:cNvPr id="13" name="shape:013"/>
          <p:cNvSpPr/>
          <p:nvPr/>
        </p:nvSpPr>
        <p:spPr>
          <a:xfrm>
            <a:off x="11039551"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減らす方向</a:t>
            </a:r>
            <a:endParaRPr lang="en-US" sz="800" dirty="0"/>
          </a:p>
        </p:txBody>
      </p:sp>
      <p:graphicFrame>
        <p:nvGraphicFramePr>
          <p:cNvPr id="38" name="shape:038"/>
          <p:cNvGraphicFramePr>
            <a:graphicFrameLocks noGrp="1"/>
          </p:cNvGraphicFramePr>
          <p:nvPr>
            <p:extLst>
              <p:ext uri="{D42A27DB-BD31-4B8C-83A1-F6EECF244321}">
                <p14:modId xmlns:p14="http://schemas.microsoft.com/office/powerpoint/2010/main" val="1579011935"/>
              </p:ext>
            </p:extLst>
          </p:nvPr>
        </p:nvGraphicFramePr>
        <p:xfrm>
          <a:off x="576072" y="1972224"/>
          <a:ext cx="11039551" cy="914400"/>
        </p:xfrm>
        <a:graphic>
          <a:graphicData uri="http://schemas.openxmlformats.org/drawingml/2006/table">
            <a:tbl>
              <a:tblPr/>
              <a:tblGrid>
                <a:gridCol w="2016000"/>
                <a:gridCol w="2016000"/>
                <a:gridCol w="7007551"/>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打ち手</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効果の幅（単位）</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前提・制約</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2</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ラベル 8</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Text 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5" name="shape:015"/>
          <p:cNvSpPr/>
          <p:nvPr/>
        </p:nvSpPr>
        <p:spPr>
          <a:xfrm>
            <a:off x="2646936" y="2878020"/>
            <a:ext cx="1525018" cy="198000"/>
          </a:xfrm>
          <a:prstGeom prst="homePlate">
            <a:avLst/>
          </a:prstGeom>
          <a:solidFill>
            <a:srgbClr val="5A3921"/>
          </a:solidFill>
          <a:ln/>
        </p:spPr>
        <p:txBody>
          <a:bodyPr wrap="square" lIns="108000" tIns="0" rIns="0" bIns="0" rtlCol="0" anchor="ctr">
            <a:noAutofit/>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＋00〜00</a:t>
            </a:r>
            <a:endParaRPr lang="en-US" sz="900" dirty="0"/>
          </a:p>
        </p:txBody>
      </p:sp>
      <p:sp>
        <p:nvSpPr>
          <p:cNvPr id="16" name="shape:016"/>
          <p:cNvSpPr/>
          <p:nvPr/>
        </p:nvSpPr>
        <p:spPr>
          <a:xfrm>
            <a:off x="2646936" y="4156092"/>
            <a:ext cx="1048450" cy="198000"/>
          </a:xfrm>
          <a:prstGeom prst="homePlate">
            <a:avLst/>
          </a:prstGeom>
          <a:solidFill>
            <a:srgbClr val="5A3921"/>
          </a:solidFill>
          <a:ln/>
        </p:spPr>
        <p:txBody>
          <a:bodyPr wrap="square" lIns="108000" tIns="0" rIns="0" bIns="0" rtlCol="0" anchor="ctr">
            <a:noAutofit/>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＋00〜00</a:t>
            </a:r>
            <a:endParaRPr lang="en-US" sz="900" dirty="0"/>
          </a:p>
        </p:txBody>
      </p:sp>
      <p:sp>
        <p:nvSpPr>
          <p:cNvPr id="17" name="shape:017"/>
          <p:cNvSpPr/>
          <p:nvPr/>
        </p:nvSpPr>
        <p:spPr>
          <a:xfrm>
            <a:off x="2646936" y="5434164"/>
            <a:ext cx="724383" cy="198000"/>
          </a:xfrm>
          <a:prstGeom prst="homePlate">
            <a:avLst/>
          </a:prstGeom>
          <a:solidFill>
            <a:srgbClr val="E2DCD2"/>
          </a:solidFill>
          <a:ln/>
        </p:spPr>
        <p:txBody>
          <a:bodyPr wrap="square" lIns="108000" tIns="0" rIns="0" bIns="0" rtlCol="0" anchor="ctr">
            <a:noAutofit/>
          </a:bodyPr>
          <a:lstStyle/>
          <a:p>
            <a:pPr algn="l" indent="0" marL="0">
              <a:buNone/>
            </a:pPr>
            <a:r>
              <a:rPr lang="en-US" sz="900" b="1" dirty="0">
                <a:solidFill>
                  <a:srgbClr val="322014"/>
                </a:solidFill>
                <a:latin typeface="Yu Gothic" pitchFamily="34" charset="0"/>
                <a:ea typeface="Yu Gothic" pitchFamily="34" charset="-122"/>
                <a:cs typeface="Yu Gothic" pitchFamily="34" charset="-120"/>
              </a:rPr>
              <a:t>−00</a:t>
            </a:r>
            <a:endParaRPr lang="en-US" sz="900" dirty="0"/>
          </a:p>
        </p:txBody>
      </p:sp>
      <p:sp>
        <p:nvSpPr>
          <p:cNvPr id="3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打ち手の効果表</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