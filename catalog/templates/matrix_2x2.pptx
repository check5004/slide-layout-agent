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"matrix_2x2", "upstream_commit": "e5dd04dc6f1acf010046d2fc7319bcf5242a849a", "source_pptx_slide": 33,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15  MATRIX_2X2</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2×2マトリクス</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33</a:t>
            </a:r>
            <a:endParaRPr lang="en-US" sz="750" dirty="0"/>
          </a:p>
        </p:txBody>
      </p:sp>
      <p:sp>
        <p:nvSpPr>
          <p:cNvPr id="10" name="shape:010"/>
          <p:cNvSpPr/>
          <p:nvPr/>
        </p:nvSpPr>
        <p:spPr>
          <a:xfrm>
            <a:off x="576072" y="5678424"/>
            <a:ext cx="6217920" cy="0"/>
          </a:xfrm>
          <a:prstGeom prst="line">
            <a:avLst/>
          </a:prstGeom>
          <a:noFill/>
          <a:ln w="13970">
            <a:solidFill>
              <a:srgbClr val="322014"/>
            </a:solidFill>
            <a:prstDash val="solid"/>
          </a:ln>
        </p:spPr>
        <p:txBody>
          <a:bodyPr>
            <a:noAutofit/>
          </a:bodyPr>
          <a:p/>
        </p:txBody>
      </p:sp>
      <p:sp>
        <p:nvSpPr>
          <p:cNvPr id="11" name="shape:011"/>
          <p:cNvSpPr/>
          <p:nvPr/>
        </p:nvSpPr>
        <p:spPr>
          <a:xfrm>
            <a:off x="576072" y="2066544"/>
            <a:ext cx="0" cy="3611880"/>
          </a:xfrm>
          <a:prstGeom prst="line">
            <a:avLst/>
          </a:prstGeom>
          <a:noFill/>
          <a:ln w="13970">
            <a:solidFill>
              <a:srgbClr val="322014"/>
            </a:solidFill>
            <a:prstDash val="solid"/>
          </a:ln>
        </p:spPr>
        <p:txBody>
          <a:bodyPr>
            <a:noAutofit/>
          </a:bodyPr>
          <a:p/>
        </p:txBody>
      </p:sp>
      <p:sp>
        <p:nvSpPr>
          <p:cNvPr id="12" name="shape:012"/>
          <p:cNvSpPr/>
          <p:nvPr/>
        </p:nvSpPr>
        <p:spPr>
          <a:xfrm>
            <a:off x="3685032" y="2066544"/>
            <a:ext cx="0" cy="3611880"/>
          </a:xfrm>
          <a:prstGeom prst="line">
            <a:avLst/>
          </a:prstGeom>
          <a:noFill/>
          <a:ln w="8890">
            <a:solidFill>
              <a:srgbClr val="E2DCD2"/>
            </a:solidFill>
            <a:prstDash val="solid"/>
          </a:ln>
        </p:spPr>
        <p:txBody>
          <a:bodyPr>
            <a:noAutofit/>
          </a:bodyPr>
          <a:p/>
        </p:txBody>
      </p:sp>
      <p:sp>
        <p:nvSpPr>
          <p:cNvPr id="13" name="shape:013"/>
          <p:cNvSpPr/>
          <p:nvPr/>
        </p:nvSpPr>
        <p:spPr>
          <a:xfrm>
            <a:off x="576072" y="3872484"/>
            <a:ext cx="6217920" cy="0"/>
          </a:xfrm>
          <a:prstGeom prst="line">
            <a:avLst/>
          </a:prstGeom>
          <a:noFill/>
          <a:ln w="8890">
            <a:solidFill>
              <a:srgbClr val="E2DCD2"/>
            </a:solidFill>
            <a:prstDash val="solid"/>
          </a:ln>
        </p:spPr>
        <p:txBody>
          <a:bodyPr>
            <a:noAutofit/>
          </a:bodyPr>
          <a:p/>
        </p:txBody>
      </p:sp>
      <p:sp>
        <p:nvSpPr>
          <p:cNvPr id="14" name="shape:014"/>
          <p:cNvSpPr/>
          <p:nvPr/>
        </p:nvSpPr>
        <p:spPr>
          <a:xfrm>
            <a:off x="576072" y="1792224"/>
            <a:ext cx="2926080" cy="201168"/>
          </a:xfrm>
          <a:prstGeom prst="rect">
            <a:avLst/>
          </a:prstGeom>
          <a:noFill/>
          <a:ln/>
        </p:spPr>
        <p:txBody>
          <a:bodyPr wrap="square" lIns="381" tIns="381" rIns="381" bIns="381" rtlCol="0" anchor="t">
            <a:noAutofit/>
          </a:bodyPr>
          <a:lstStyle/>
          <a:p>
            <a:pPr algn="l" indent="0" marL="0">
              <a:buNone/>
            </a:pPr>
            <a:r>
              <a:rPr lang="en-US" sz="1050" b="1" dirty="0">
                <a:solidFill>
                  <a:srgbClr val="8A7B6B"/>
                </a:solidFill>
                <a:latin typeface="Yu Gothic" pitchFamily="34" charset="0"/>
                <a:ea typeface="Yu Gothic" pitchFamily="34" charset="-122"/>
                <a:cs typeface="Yu Gothic" pitchFamily="34" charset="-120"/>
              </a:rPr>
              <a:t>縦軸名（上ほど高い）</a:t>
            </a:r>
            <a:endParaRPr lang="en-US" sz="1050" dirty="0"/>
          </a:p>
        </p:txBody>
      </p:sp>
      <p:sp>
        <p:nvSpPr>
          <p:cNvPr id="15" name="shape:015"/>
          <p:cNvSpPr/>
          <p:nvPr/>
        </p:nvSpPr>
        <p:spPr>
          <a:xfrm>
            <a:off x="3867912" y="5733288"/>
            <a:ext cx="2926080" cy="201168"/>
          </a:xfrm>
          <a:prstGeom prst="rect">
            <a:avLst/>
          </a:prstGeom>
          <a:noFill/>
          <a:ln/>
        </p:spPr>
        <p:txBody>
          <a:bodyPr wrap="square" lIns="381" tIns="381" rIns="381" bIns="381" rtlCol="0" anchor="t">
            <a:noAutofit/>
          </a:bodyPr>
          <a:lstStyle/>
          <a:p>
            <a:pPr algn="r" indent="0" marL="0">
              <a:buNone/>
            </a:pPr>
            <a:r>
              <a:rPr lang="en-US" sz="1050" b="1" dirty="0">
                <a:solidFill>
                  <a:srgbClr val="8A7B6B"/>
                </a:solidFill>
                <a:latin typeface="Yu Gothic" pitchFamily="34" charset="0"/>
                <a:ea typeface="Yu Gothic" pitchFamily="34" charset="-122"/>
                <a:cs typeface="Yu Gothic" pitchFamily="34" charset="-120"/>
              </a:rPr>
              <a:t>横軸名（右ほど高い）</a:t>
            </a:r>
            <a:endParaRPr lang="en-US" sz="1050" dirty="0"/>
          </a:p>
        </p:txBody>
      </p:sp>
      <p:sp>
        <p:nvSpPr>
          <p:cNvPr id="16" name="shape:016"/>
          <p:cNvSpPr/>
          <p:nvPr/>
        </p:nvSpPr>
        <p:spPr>
          <a:xfrm>
            <a:off x="4522622" y="2768803"/>
            <a:ext cx="1060704" cy="329184"/>
          </a:xfrm>
          <a:prstGeom prst="rect">
            <a:avLst/>
          </a:prstGeom>
          <a:solidFill>
            <a:srgbClr val="5A3921"/>
          </a:solidFill>
          <a:ln/>
        </p:spPr>
        <p:txBody>
          <a:bodyPr>
            <a:noAutofit/>
          </a:bodyPr>
          <a:p/>
        </p:txBody>
      </p:sp>
      <p:sp>
        <p:nvSpPr>
          <p:cNvPr id="17" name="shape:017"/>
          <p:cNvSpPr/>
          <p:nvPr/>
        </p:nvSpPr>
        <p:spPr>
          <a:xfrm>
            <a:off x="4568342" y="2814523"/>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FFFFFF"/>
                </a:solidFill>
                <a:latin typeface="Yu Gothic" pitchFamily="34" charset="0"/>
                <a:ea typeface="Yu Gothic" pitchFamily="34" charset="-122"/>
                <a:cs typeface="Yu Gothic" pitchFamily="34" charset="-120"/>
              </a:rPr>
              <a:t>施策1</a:t>
            </a:r>
            <a:endParaRPr lang="en-US" sz="770" dirty="0"/>
          </a:p>
        </p:txBody>
      </p:sp>
      <p:sp>
        <p:nvSpPr>
          <p:cNvPr id="18" name="shape:018"/>
          <p:cNvSpPr/>
          <p:nvPr/>
        </p:nvSpPr>
        <p:spPr>
          <a:xfrm>
            <a:off x="4273906" y="3418942"/>
            <a:ext cx="1060704" cy="329184"/>
          </a:xfrm>
          <a:prstGeom prst="rect">
            <a:avLst/>
          </a:prstGeom>
          <a:solidFill>
            <a:srgbClr val="5A3921"/>
          </a:solidFill>
          <a:ln/>
        </p:spPr>
        <p:txBody>
          <a:bodyPr>
            <a:noAutofit/>
          </a:bodyPr>
          <a:p/>
        </p:txBody>
      </p:sp>
      <p:sp>
        <p:nvSpPr>
          <p:cNvPr id="19" name="shape:019"/>
          <p:cNvSpPr/>
          <p:nvPr/>
        </p:nvSpPr>
        <p:spPr>
          <a:xfrm>
            <a:off x="4319626" y="3464662"/>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FFFFFF"/>
                </a:solidFill>
                <a:latin typeface="Yu Gothic" pitchFamily="34" charset="0"/>
                <a:ea typeface="Yu Gothic" pitchFamily="34" charset="-122"/>
                <a:cs typeface="Yu Gothic" pitchFamily="34" charset="-120"/>
              </a:rPr>
              <a:t>施策2</a:t>
            </a:r>
            <a:endParaRPr lang="en-US" sz="770" dirty="0"/>
          </a:p>
        </p:txBody>
      </p:sp>
      <p:sp>
        <p:nvSpPr>
          <p:cNvPr id="20" name="shape:020"/>
          <p:cNvSpPr/>
          <p:nvPr/>
        </p:nvSpPr>
        <p:spPr>
          <a:xfrm>
            <a:off x="2221992" y="3021635"/>
            <a:ext cx="1060704" cy="329184"/>
          </a:xfrm>
          <a:prstGeom prst="rect">
            <a:avLst/>
          </a:prstGeom>
          <a:ln w="7620">
            <a:solidFill>
              <a:srgbClr val="5A3921"/>
            </a:solidFill>
            <a:prstDash val="solid"/>
          </a:ln>
        </p:spPr>
        <p:txBody>
          <a:bodyPr>
            <a:noAutofit/>
          </a:bodyPr>
          <a:p/>
        </p:txBody>
      </p:sp>
      <p:sp>
        <p:nvSpPr>
          <p:cNvPr id="21" name="shape:021"/>
          <p:cNvSpPr/>
          <p:nvPr/>
        </p:nvSpPr>
        <p:spPr>
          <a:xfrm>
            <a:off x="2267712" y="3067355"/>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322014"/>
                </a:solidFill>
                <a:latin typeface="Yu Gothic" pitchFamily="34" charset="0"/>
                <a:ea typeface="Yu Gothic" pitchFamily="34" charset="-122"/>
                <a:cs typeface="Yu Gothic" pitchFamily="34" charset="-120"/>
              </a:rPr>
              <a:t>施策3</a:t>
            </a:r>
            <a:endParaRPr lang="en-US" sz="770" dirty="0"/>
          </a:p>
        </p:txBody>
      </p:sp>
      <p:sp>
        <p:nvSpPr>
          <p:cNvPr id="22" name="shape:022"/>
          <p:cNvSpPr/>
          <p:nvPr/>
        </p:nvSpPr>
        <p:spPr>
          <a:xfrm>
            <a:off x="2905963" y="4141318"/>
            <a:ext cx="1060704" cy="329184"/>
          </a:xfrm>
          <a:prstGeom prst="rect">
            <a:avLst/>
          </a:prstGeom>
          <a:ln w="7620">
            <a:solidFill>
              <a:srgbClr val="5A3921"/>
            </a:solidFill>
            <a:prstDash val="solid"/>
          </a:ln>
        </p:spPr>
        <p:txBody>
          <a:bodyPr>
            <a:noAutofit/>
          </a:bodyPr>
          <a:p/>
        </p:txBody>
      </p:sp>
      <p:sp>
        <p:nvSpPr>
          <p:cNvPr id="23" name="shape:023"/>
          <p:cNvSpPr/>
          <p:nvPr/>
        </p:nvSpPr>
        <p:spPr>
          <a:xfrm>
            <a:off x="2951683" y="4187038"/>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322014"/>
                </a:solidFill>
                <a:latin typeface="Yu Gothic" pitchFamily="34" charset="0"/>
                <a:ea typeface="Yu Gothic" pitchFamily="34" charset="-122"/>
                <a:cs typeface="Yu Gothic" pitchFamily="34" charset="-120"/>
              </a:rPr>
              <a:t>施策4</a:t>
            </a:r>
            <a:endParaRPr lang="en-US" sz="770" dirty="0"/>
          </a:p>
        </p:txBody>
      </p:sp>
      <p:sp>
        <p:nvSpPr>
          <p:cNvPr id="24" name="shape:024"/>
          <p:cNvSpPr/>
          <p:nvPr/>
        </p:nvSpPr>
        <p:spPr>
          <a:xfrm>
            <a:off x="1475842" y="4574743"/>
            <a:ext cx="1060704" cy="329184"/>
          </a:xfrm>
          <a:prstGeom prst="rect">
            <a:avLst/>
          </a:prstGeom>
          <a:ln w="7620">
            <a:solidFill>
              <a:srgbClr val="5A3921"/>
            </a:solidFill>
            <a:prstDash val="solid"/>
          </a:ln>
        </p:spPr>
        <p:txBody>
          <a:bodyPr>
            <a:noAutofit/>
          </a:bodyPr>
          <a:p/>
        </p:txBody>
      </p:sp>
      <p:sp>
        <p:nvSpPr>
          <p:cNvPr id="25" name="shape:025"/>
          <p:cNvSpPr/>
          <p:nvPr/>
        </p:nvSpPr>
        <p:spPr>
          <a:xfrm>
            <a:off x="1521562" y="4620463"/>
            <a:ext cx="969264" cy="219456"/>
          </a:xfrm>
          <a:prstGeom prst="rect">
            <a:avLst/>
          </a:prstGeom>
          <a:noFill/>
          <a:ln/>
        </p:spPr>
        <p:txBody>
          <a:bodyPr wrap="square" lIns="381" tIns="381" rIns="381" bIns="381" rtlCol="0" anchor="t">
            <a:noAutofit/>
          </a:bodyPr>
          <a:lstStyle/>
          <a:p>
            <a:pPr algn="l" indent="0" marL="0">
              <a:buNone/>
            </a:pPr>
            <a:r>
              <a:rPr lang="en-US" sz="770" b="1" dirty="0">
                <a:solidFill>
                  <a:srgbClr val="322014"/>
                </a:solidFill>
                <a:latin typeface="Yu Gothic" pitchFamily="34" charset="0"/>
                <a:ea typeface="Yu Gothic" pitchFamily="34" charset="-122"/>
                <a:cs typeface="Yu Gothic" pitchFamily="34" charset="-120"/>
              </a:rPr>
              <a:t>施策5</a:t>
            </a:r>
            <a:endParaRPr lang="en-US" sz="770" dirty="0"/>
          </a:p>
        </p:txBody>
      </p:sp>
      <p:sp>
        <p:nvSpPr>
          <p:cNvPr id="26" name="shape:026"/>
          <p:cNvSpPr/>
          <p:nvPr/>
        </p:nvSpPr>
        <p:spPr>
          <a:xfrm>
            <a:off x="7315200" y="2130552"/>
            <a:ext cx="4023360" cy="64008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タイトル 2</a:t>
            </a:r>
            <a:endParaRPr lang="en-US" sz="1400" dirty="0"/>
          </a:p>
        </p:txBody>
      </p:sp>
      <p:sp>
        <p:nvSpPr>
          <p:cNvPr id="27" name="shape:027"/>
          <p:cNvSpPr/>
          <p:nvPr/>
        </p:nvSpPr>
        <p:spPr>
          <a:xfrm>
            <a:off x="7452360" y="2907792"/>
            <a:ext cx="3657600" cy="347472"/>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Text 1</a:t>
            </a:r>
            <a:endParaRPr lang="en-US" sz="1250" dirty="0"/>
          </a:p>
        </p:txBody>
      </p:sp>
      <p:sp>
        <p:nvSpPr>
          <p:cNvPr id="28" name="shape:028"/>
          <p:cNvSpPr/>
          <p:nvPr/>
        </p:nvSpPr>
        <p:spPr>
          <a:xfrm>
            <a:off x="7452360" y="3410712"/>
            <a:ext cx="3657600" cy="347472"/>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Text 2</a:t>
            </a:r>
            <a:endParaRPr lang="en-US" sz="1250" dirty="0"/>
          </a:p>
        </p:txBody>
      </p:sp>
      <p:sp>
        <p:nvSpPr>
          <p:cNvPr id="2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2×2マトリクス</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