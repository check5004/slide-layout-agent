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"nested_row_matrix", "upstream_commit": "e5dd04dc6f1acf010046d2fc7319bcf5242a849a", "source_pptx_slide": 43,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17  NESTED_ROW_MATRIX</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入れ子行の行列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43</a:t>
            </a:r>
            <a:endParaRPr lang="en-US" sz="750" dirty="0"/>
          </a:p>
        </p:txBody>
      </p:sp>
      <p:sp>
        <p:nvSpPr>
          <p:cNvPr id="10" name="shape:010"/>
          <p:cNvSpPr/>
          <p:nvPr/>
        </p:nvSpPr>
        <p:spPr>
          <a:xfrm>
            <a:off x="576072" y="1847088"/>
            <a:ext cx="210312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大分類</a:t>
            </a:r>
            <a:endParaRPr lang="en-US" sz="1250" dirty="0"/>
          </a:p>
        </p:txBody>
      </p:sp>
      <p:sp>
        <p:nvSpPr>
          <p:cNvPr id="11" name="shape:011"/>
          <p:cNvSpPr/>
          <p:nvPr/>
        </p:nvSpPr>
        <p:spPr>
          <a:xfrm>
            <a:off x="2679192" y="1847088"/>
            <a:ext cx="2377440"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小分類</a:t>
            </a:r>
            <a:endParaRPr lang="en-US" sz="1250" dirty="0"/>
          </a:p>
        </p:txBody>
      </p:sp>
      <p:sp>
        <p:nvSpPr>
          <p:cNvPr id="12" name="shape:012"/>
          <p:cNvSpPr/>
          <p:nvPr/>
        </p:nvSpPr>
        <p:spPr>
          <a:xfrm>
            <a:off x="5239512" y="1847088"/>
            <a:ext cx="6376111" cy="274320"/>
          </a:xfrm>
          <a:prstGeom prst="rect">
            <a:avLst/>
          </a:prstGeom>
          <a:noFill/>
          <a:ln/>
        </p:spPr>
        <p:txBody>
          <a:bodyPr wrap="square" lIns="381" tIns="381" rIns="381" bIns="381" rtlCol="0" anchor="t">
            <a:noAutofit/>
          </a:bodyPr>
          <a:lstStyle/>
          <a:p>
            <a:pPr algn="l" indent="0" marL="0">
              <a:buNone/>
            </a:pPr>
            <a:r>
              <a:rPr lang="en-US" sz="1250" b="1" dirty="0">
                <a:solidFill>
                  <a:srgbClr val="322014"/>
                </a:solidFill>
                <a:latin typeface="Yu Gothic" pitchFamily="34" charset="0"/>
                <a:ea typeface="Yu Gothic" pitchFamily="34" charset="-122"/>
                <a:cs typeface="Yu Gothic" pitchFamily="34" charset="-120"/>
              </a:rPr>
              <a:t>内容</a:t>
            </a:r>
            <a:endParaRPr lang="en-US" sz="1250" dirty="0"/>
          </a:p>
        </p:txBody>
      </p:sp>
      <p:sp>
        <p:nvSpPr>
          <p:cNvPr id="13" name="shape:013"/>
          <p:cNvSpPr/>
          <p:nvPr/>
        </p:nvSpPr>
        <p:spPr>
          <a:xfrm>
            <a:off x="576072" y="2176272"/>
            <a:ext cx="11039551" cy="0"/>
          </a:xfrm>
          <a:prstGeom prst="line">
            <a:avLst/>
          </a:prstGeom>
          <a:noFill/>
          <a:ln w="15240">
            <a:solidFill>
              <a:srgbClr val="322014"/>
            </a:solidFill>
            <a:prstDash val="solid"/>
          </a:ln>
        </p:spPr>
        <p:txBody>
          <a:bodyPr>
            <a:noAutofit/>
          </a:bodyPr>
          <a:p/>
        </p:txBody>
      </p:sp>
      <p:sp>
        <p:nvSpPr>
          <p:cNvPr id="14" name="shape:014"/>
          <p:cNvSpPr/>
          <p:nvPr/>
        </p:nvSpPr>
        <p:spPr>
          <a:xfrm>
            <a:off x="576072" y="2286000"/>
            <a:ext cx="0" cy="2236622"/>
          </a:xfrm>
          <a:prstGeom prst="line">
            <a:avLst/>
          </a:prstGeom>
          <a:noFill/>
          <a:ln w="25400">
            <a:solidFill>
              <a:srgbClr val="322014"/>
            </a:solidFill>
            <a:prstDash val="solid"/>
          </a:ln>
        </p:spPr>
        <p:txBody>
          <a:bodyPr>
            <a:noAutofit/>
          </a:bodyPr>
          <a:p/>
        </p:txBody>
      </p:sp>
      <p:sp>
        <p:nvSpPr>
          <p:cNvPr id="15" name="shape:015"/>
          <p:cNvSpPr/>
          <p:nvPr/>
        </p:nvSpPr>
        <p:spPr>
          <a:xfrm>
            <a:off x="704088" y="2286000"/>
            <a:ext cx="1883664" cy="2236622"/>
          </a:xfrm>
          <a:prstGeom prst="rect">
            <a:avLst/>
          </a:prstGeom>
          <a:noFill/>
          <a:ln/>
        </p:spPr>
        <p:txBody>
          <a:bodyPr wrap="square" lIns="381" tIns="381" rIns="381" bIns="381" rtlCol="0" anchor="ctr">
            <a:noAutofit/>
          </a:bodyPr>
          <a:lstStyle/>
          <a:p>
            <a:pPr algn="l" indent="0" marL="0">
              <a:buNone/>
            </a:pPr>
            <a:r>
              <a:rPr lang="en-US" sz="1350" b="1" dirty="0">
                <a:solidFill>
                  <a:srgbClr val="322014"/>
                </a:solidFill>
                <a:latin typeface="Yu Gothic" pitchFamily="34" charset="0"/>
                <a:ea typeface="Yu Gothic" pitchFamily="34" charset="-122"/>
                <a:cs typeface="Yu Gothic" pitchFamily="34" charset="-120"/>
              </a:rPr>
              <a:t>ラベル1</a:t>
            </a:r>
            <a:endParaRPr lang="en-US" sz="1350" dirty="0"/>
          </a:p>
        </p:txBody>
      </p:sp>
      <p:sp>
        <p:nvSpPr>
          <p:cNvPr id="16" name="shape:016"/>
          <p:cNvSpPr/>
          <p:nvPr/>
        </p:nvSpPr>
        <p:spPr>
          <a:xfrm>
            <a:off x="2679192" y="2304288"/>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ラベル2</a:t>
            </a:r>
            <a:endParaRPr lang="en-US" sz="1200" dirty="0"/>
          </a:p>
        </p:txBody>
      </p:sp>
      <p:sp>
        <p:nvSpPr>
          <p:cNvPr id="17" name="shape:017"/>
          <p:cNvSpPr/>
          <p:nvPr/>
        </p:nvSpPr>
        <p:spPr>
          <a:xfrm>
            <a:off x="5239512" y="2322576"/>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1</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2</a:t>
            </a:r>
            <a:endParaRPr lang="en-US" sz="1150" dirty="0"/>
          </a:p>
        </p:txBody>
      </p:sp>
      <p:sp>
        <p:nvSpPr>
          <p:cNvPr id="18" name="shape:018"/>
          <p:cNvSpPr/>
          <p:nvPr/>
        </p:nvSpPr>
        <p:spPr>
          <a:xfrm>
            <a:off x="2679192" y="3019349"/>
            <a:ext cx="8936431" cy="0"/>
          </a:xfrm>
          <a:prstGeom prst="line">
            <a:avLst/>
          </a:prstGeom>
          <a:noFill/>
          <a:ln w="7620">
            <a:solidFill>
              <a:srgbClr val="E2DCD2"/>
            </a:solidFill>
            <a:prstDash val="solid"/>
          </a:ln>
        </p:spPr>
        <p:txBody>
          <a:bodyPr>
            <a:noAutofit/>
          </a:bodyPr>
          <a:p/>
        </p:txBody>
      </p:sp>
      <p:sp>
        <p:nvSpPr>
          <p:cNvPr id="19" name="shape:019"/>
          <p:cNvSpPr/>
          <p:nvPr/>
        </p:nvSpPr>
        <p:spPr>
          <a:xfrm>
            <a:off x="2679192" y="3092501"/>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ラベル3</a:t>
            </a:r>
            <a:endParaRPr lang="en-US" sz="1200" dirty="0"/>
          </a:p>
        </p:txBody>
      </p:sp>
      <p:sp>
        <p:nvSpPr>
          <p:cNvPr id="20" name="shape:020"/>
          <p:cNvSpPr/>
          <p:nvPr/>
        </p:nvSpPr>
        <p:spPr>
          <a:xfrm>
            <a:off x="5239512" y="3110789"/>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3</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4</a:t>
            </a:r>
            <a:endParaRPr lang="en-US" sz="1150" dirty="0"/>
          </a:p>
        </p:txBody>
      </p:sp>
      <p:sp>
        <p:nvSpPr>
          <p:cNvPr id="21" name="shape:021"/>
          <p:cNvSpPr/>
          <p:nvPr/>
        </p:nvSpPr>
        <p:spPr>
          <a:xfrm>
            <a:off x="2679192" y="3807562"/>
            <a:ext cx="8936431" cy="0"/>
          </a:xfrm>
          <a:prstGeom prst="line">
            <a:avLst/>
          </a:prstGeom>
          <a:noFill/>
          <a:ln w="7620">
            <a:solidFill>
              <a:srgbClr val="E2DCD2"/>
            </a:solidFill>
            <a:prstDash val="solid"/>
          </a:ln>
        </p:spPr>
        <p:txBody>
          <a:bodyPr>
            <a:noAutofit/>
          </a:bodyPr>
          <a:p/>
        </p:txBody>
      </p:sp>
      <p:sp>
        <p:nvSpPr>
          <p:cNvPr id="22" name="shape:022"/>
          <p:cNvSpPr/>
          <p:nvPr/>
        </p:nvSpPr>
        <p:spPr>
          <a:xfrm>
            <a:off x="2679192" y="3880714"/>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ラベル4</a:t>
            </a:r>
            <a:endParaRPr lang="en-US" sz="1200" dirty="0"/>
          </a:p>
        </p:txBody>
      </p:sp>
      <p:sp>
        <p:nvSpPr>
          <p:cNvPr id="23" name="shape:023"/>
          <p:cNvSpPr/>
          <p:nvPr/>
        </p:nvSpPr>
        <p:spPr>
          <a:xfrm>
            <a:off x="5239512" y="3899002"/>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5</a:t>
            </a:r>
            <a:endParaRPr lang="en-US" sz="1150" dirty="0"/>
          </a:p>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6</a:t>
            </a:r>
            <a:endParaRPr lang="en-US" sz="1150" dirty="0"/>
          </a:p>
        </p:txBody>
      </p:sp>
      <p:sp>
        <p:nvSpPr>
          <p:cNvPr id="24" name="shape:024"/>
          <p:cNvSpPr/>
          <p:nvPr/>
        </p:nvSpPr>
        <p:spPr>
          <a:xfrm>
            <a:off x="576072" y="4650638"/>
            <a:ext cx="0" cy="1448410"/>
          </a:xfrm>
          <a:prstGeom prst="line">
            <a:avLst/>
          </a:prstGeom>
          <a:noFill/>
          <a:ln w="25400">
            <a:solidFill>
              <a:srgbClr val="322014"/>
            </a:solidFill>
            <a:prstDash val="solid"/>
          </a:ln>
        </p:spPr>
        <p:txBody>
          <a:bodyPr>
            <a:noAutofit/>
          </a:bodyPr>
          <a:p/>
        </p:txBody>
      </p:sp>
      <p:sp>
        <p:nvSpPr>
          <p:cNvPr id="25" name="shape:025"/>
          <p:cNvSpPr/>
          <p:nvPr/>
        </p:nvSpPr>
        <p:spPr>
          <a:xfrm>
            <a:off x="704088" y="4650638"/>
            <a:ext cx="1883664" cy="1448410"/>
          </a:xfrm>
          <a:prstGeom prst="rect">
            <a:avLst/>
          </a:prstGeom>
          <a:noFill/>
          <a:ln/>
        </p:spPr>
        <p:txBody>
          <a:bodyPr wrap="square" lIns="381" tIns="381" rIns="381" bIns="381" rtlCol="0" anchor="ctr">
            <a:noAutofit/>
          </a:bodyPr>
          <a:lstStyle/>
          <a:p>
            <a:pPr algn="l" indent="0" marL="0">
              <a:buNone/>
            </a:pPr>
            <a:r>
              <a:rPr lang="en-US" sz="1350" b="1" dirty="0">
                <a:solidFill>
                  <a:srgbClr val="322014"/>
                </a:solidFill>
                <a:latin typeface="Yu Gothic" pitchFamily="34" charset="0"/>
                <a:ea typeface="Yu Gothic" pitchFamily="34" charset="-122"/>
                <a:cs typeface="Yu Gothic" pitchFamily="34" charset="-120"/>
              </a:rPr>
              <a:t>ラベル5</a:t>
            </a:r>
            <a:endParaRPr lang="en-US" sz="1350" dirty="0"/>
          </a:p>
        </p:txBody>
      </p:sp>
      <p:sp>
        <p:nvSpPr>
          <p:cNvPr id="26" name="shape:026"/>
          <p:cNvSpPr/>
          <p:nvPr/>
        </p:nvSpPr>
        <p:spPr>
          <a:xfrm>
            <a:off x="576072" y="4595774"/>
            <a:ext cx="11039551" cy="0"/>
          </a:xfrm>
          <a:prstGeom prst="line">
            <a:avLst/>
          </a:prstGeom>
          <a:noFill/>
          <a:ln w="11430">
            <a:solidFill>
              <a:srgbClr val="8A7B6B"/>
            </a:solidFill>
            <a:prstDash val="solid"/>
          </a:ln>
        </p:spPr>
        <p:txBody>
          <a:bodyPr>
            <a:noAutofit/>
          </a:bodyPr>
          <a:p/>
        </p:txBody>
      </p:sp>
      <p:sp>
        <p:nvSpPr>
          <p:cNvPr id="27" name="shape:027"/>
          <p:cNvSpPr/>
          <p:nvPr/>
        </p:nvSpPr>
        <p:spPr>
          <a:xfrm>
            <a:off x="2679192" y="4668926"/>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ラベル6</a:t>
            </a:r>
            <a:endParaRPr lang="en-US" sz="1200" dirty="0"/>
          </a:p>
        </p:txBody>
      </p:sp>
      <p:sp>
        <p:nvSpPr>
          <p:cNvPr id="28" name="shape:028"/>
          <p:cNvSpPr/>
          <p:nvPr/>
        </p:nvSpPr>
        <p:spPr>
          <a:xfrm>
            <a:off x="5239512" y="4687214"/>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7</a:t>
            </a:r>
            <a:endParaRPr lang="en-US" sz="1150" dirty="0"/>
          </a:p>
        </p:txBody>
      </p:sp>
      <p:sp>
        <p:nvSpPr>
          <p:cNvPr id="29" name="shape:029"/>
          <p:cNvSpPr/>
          <p:nvPr/>
        </p:nvSpPr>
        <p:spPr>
          <a:xfrm>
            <a:off x="2679192" y="5383987"/>
            <a:ext cx="8936431" cy="0"/>
          </a:xfrm>
          <a:prstGeom prst="line">
            <a:avLst/>
          </a:prstGeom>
          <a:noFill/>
          <a:ln w="7620">
            <a:solidFill>
              <a:srgbClr val="E2DCD2"/>
            </a:solidFill>
            <a:prstDash val="solid"/>
          </a:ln>
        </p:spPr>
        <p:txBody>
          <a:bodyPr>
            <a:noAutofit/>
          </a:bodyPr>
          <a:p/>
        </p:txBody>
      </p:sp>
      <p:sp>
        <p:nvSpPr>
          <p:cNvPr id="30" name="shape:030"/>
          <p:cNvSpPr/>
          <p:nvPr/>
        </p:nvSpPr>
        <p:spPr>
          <a:xfrm>
            <a:off x="2679192" y="5457139"/>
            <a:ext cx="2194560" cy="641909"/>
          </a:xfrm>
          <a:prstGeom prst="rect">
            <a:avLst/>
          </a:prstGeom>
          <a:noFill/>
          <a:ln/>
        </p:spPr>
        <p:txBody>
          <a:bodyPr wrap="square" lIns="381" tIns="381" rIns="381" bIns="381" rtlCol="0" anchor="ctr">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ラベル7</a:t>
            </a:r>
            <a:endParaRPr lang="en-US" sz="1200" dirty="0"/>
          </a:p>
        </p:txBody>
      </p:sp>
      <p:sp>
        <p:nvSpPr>
          <p:cNvPr id="31" name="shape:031"/>
          <p:cNvSpPr/>
          <p:nvPr/>
        </p:nvSpPr>
        <p:spPr>
          <a:xfrm>
            <a:off x="5239512" y="5475427"/>
            <a:ext cx="6376111" cy="568757"/>
          </a:xfrm>
          <a:prstGeom prst="rect">
            <a:avLst/>
          </a:prstGeom>
          <a:noFill/>
          <a:ln/>
        </p:spPr>
        <p:txBody>
          <a:bodyPr wrap="square" lIns="381" tIns="381" rIns="381" bIns="381" rtlCol="0" anchor="t">
            <a:noAutofit/>
          </a:bodyPr>
          <a:lstStyle/>
          <a:p>
            <a:pPr algn="l" marL="152400" indent="-152400">
              <a:buSzPct val="100000"/>
              <a:buChar char="•"/>
            </a:pPr>
            <a:r>
              <a:rPr lang="en-US" sz="1150" dirty="0">
                <a:solidFill>
                  <a:srgbClr val="322014"/>
                </a:solidFill>
                <a:latin typeface="Yu Gothic" pitchFamily="34" charset="0"/>
                <a:ea typeface="Yu Gothic" pitchFamily="34" charset="-122"/>
                <a:cs typeface="Yu Gothic" pitchFamily="34" charset="-120"/>
              </a:rPr>
              <a:t>Text 8</a:t>
            </a:r>
            <a:endParaRPr lang="en-US" sz="1150" dirty="0"/>
          </a:p>
        </p:txBody>
      </p:sp>
      <p:sp>
        <p:nvSpPr>
          <p:cNvPr id="32"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入れ子行の行列</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