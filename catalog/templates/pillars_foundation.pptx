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"pillars_foundation", "upstream_commit": "e5dd04dc6f1acf010046d2fc7319bcf5242a849a", "source_pptx_slide": 52,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パーツ19｜柱＋土台</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柱＋土台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52</a:t>
            </a:r>
            <a:endParaRPr lang="en-US" sz="750" dirty="0"/>
          </a:p>
        </p:txBody>
      </p:sp>
      <p:sp>
        <p:nvSpPr>
          <p:cNvPr id="10" name="shape:010"/>
          <p:cNvSpPr/>
          <p:nvPr/>
        </p:nvSpPr>
        <p:spPr>
          <a:xfrm>
            <a:off x="576072" y="2009484"/>
            <a:ext cx="2651888" cy="2232000"/>
          </a:xfrm>
          <a:prstGeom prst="rect">
            <a:avLst/>
          </a:prstGeom>
          <a:solidFill>
            <a:srgbClr val="EFEEE8"/>
          </a:solidFill>
          <a:ln/>
        </p:spPr>
        <p:txBody>
          <a:bodyPr>
            <a:noAutofit/>
          </a:bodyPr>
          <a:p/>
        </p:txBody>
      </p:sp>
      <p:sp>
        <p:nvSpPr>
          <p:cNvPr id="11" name="shape:011"/>
          <p:cNvSpPr/>
          <p:nvPr/>
        </p:nvSpPr>
        <p:spPr>
          <a:xfrm>
            <a:off x="738072"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ラベル 1</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Text 1</a:t>
            </a:r>
            <a:endParaRPr lang="en-US" sz="1100" dirty="0"/>
          </a:p>
        </p:txBody>
      </p:sp>
      <p:sp>
        <p:nvSpPr>
          <p:cNvPr id="12" name="shape:012"/>
          <p:cNvSpPr/>
          <p:nvPr/>
        </p:nvSpPr>
        <p:spPr>
          <a:xfrm>
            <a:off x="3371960" y="2009484"/>
            <a:ext cx="2651888" cy="2232000"/>
          </a:xfrm>
          <a:prstGeom prst="rect">
            <a:avLst/>
          </a:prstGeom>
          <a:solidFill>
            <a:srgbClr val="EFEEE8"/>
          </a:solidFill>
          <a:ln/>
        </p:spPr>
        <p:txBody>
          <a:bodyPr>
            <a:noAutofit/>
          </a:bodyPr>
          <a:p/>
        </p:txBody>
      </p:sp>
      <p:sp>
        <p:nvSpPr>
          <p:cNvPr id="13" name="shape:013"/>
          <p:cNvSpPr/>
          <p:nvPr/>
        </p:nvSpPr>
        <p:spPr>
          <a:xfrm>
            <a:off x="3533960"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ラベル 2</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Text 2</a:t>
            </a:r>
            <a:endParaRPr lang="en-US" sz="1100" dirty="0"/>
          </a:p>
        </p:txBody>
      </p:sp>
      <p:sp>
        <p:nvSpPr>
          <p:cNvPr id="14" name="shape:014"/>
          <p:cNvSpPr/>
          <p:nvPr/>
        </p:nvSpPr>
        <p:spPr>
          <a:xfrm>
            <a:off x="6167848" y="2009484"/>
            <a:ext cx="2651888" cy="2232000"/>
          </a:xfrm>
          <a:prstGeom prst="rect">
            <a:avLst/>
          </a:prstGeom>
          <a:solidFill>
            <a:srgbClr val="EFEEE8"/>
          </a:solidFill>
          <a:ln/>
        </p:spPr>
        <p:txBody>
          <a:bodyPr>
            <a:noAutofit/>
          </a:bodyPr>
          <a:p/>
        </p:txBody>
      </p:sp>
      <p:sp>
        <p:nvSpPr>
          <p:cNvPr id="15" name="shape:015"/>
          <p:cNvSpPr/>
          <p:nvPr/>
        </p:nvSpPr>
        <p:spPr>
          <a:xfrm>
            <a:off x="6329848"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ラベル 3</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Text 3</a:t>
            </a:r>
            <a:endParaRPr lang="en-US" sz="1100" dirty="0"/>
          </a:p>
        </p:txBody>
      </p:sp>
      <p:sp>
        <p:nvSpPr>
          <p:cNvPr id="16" name="shape:016"/>
          <p:cNvSpPr/>
          <p:nvPr/>
        </p:nvSpPr>
        <p:spPr>
          <a:xfrm>
            <a:off x="8963735" y="2009484"/>
            <a:ext cx="2651888" cy="2232000"/>
          </a:xfrm>
          <a:prstGeom prst="rect">
            <a:avLst/>
          </a:prstGeom>
          <a:solidFill>
            <a:srgbClr val="EFEEE8"/>
          </a:solidFill>
          <a:ln/>
        </p:spPr>
        <p:txBody>
          <a:bodyPr>
            <a:noAutofit/>
          </a:bodyPr>
          <a:p/>
        </p:txBody>
      </p:sp>
      <p:sp>
        <p:nvSpPr>
          <p:cNvPr id="17" name="shape:017"/>
          <p:cNvSpPr/>
          <p:nvPr/>
        </p:nvSpPr>
        <p:spPr>
          <a:xfrm>
            <a:off x="9125735"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ラベル 4</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Text 4</a:t>
            </a:r>
            <a:endParaRPr lang="en-US" sz="1100" dirty="0"/>
          </a:p>
        </p:txBody>
      </p:sp>
      <p:sp>
        <p:nvSpPr>
          <p:cNvPr id="18" name="shape:018"/>
          <p:cNvSpPr/>
          <p:nvPr/>
        </p:nvSpPr>
        <p:spPr>
          <a:xfrm>
            <a:off x="576072" y="4565484"/>
            <a:ext cx="11039551" cy="450000"/>
          </a:xfrm>
          <a:prstGeom prst="rect">
            <a:avLst/>
          </a:prstGeom>
          <a:solidFill>
            <a:srgbClr val="322014"/>
          </a:solidFill>
          <a:ln/>
        </p:spPr>
        <p:txBody>
          <a:bodyPr>
            <a:noAutofit/>
          </a:bodyPr>
          <a:p/>
        </p:txBody>
      </p:sp>
      <p:sp>
        <p:nvSpPr>
          <p:cNvPr id="19" name="shape:019"/>
          <p:cNvSpPr/>
          <p:nvPr/>
        </p:nvSpPr>
        <p:spPr>
          <a:xfrm>
            <a:off x="756072" y="456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C5A681"/>
                </a:solidFill>
                <a:latin typeface="Yu Gothic" pitchFamily="34" charset="0"/>
                <a:ea typeface="Yu Gothic" pitchFamily="34" charset="-122"/>
                <a:cs typeface="Yu Gothic" pitchFamily="34" charset="-120"/>
              </a:rPr>
              <a:t>共通条件1</a:t>
            </a:r>
            <a:r>
              <a:rPr lang="en-US" sz="1000" dirty="0">
                <a:solidFill>
                  <a:srgbClr val="FFFFFF"/>
                </a:solidFill>
                <a:latin typeface="Yu Gothic" pitchFamily="34" charset="0"/>
                <a:ea typeface="Yu Gothic" pitchFamily="34" charset="-122"/>
                <a:cs typeface="Yu Gothic" pitchFamily="34" charset="-120"/>
              </a:rPr>
              <a:t> </a:t>
            </a:r>
            <a:r>
              <a:rPr lang="en-US" sz="1000" dirty="0">
                <a:solidFill>
                  <a:srgbClr val="FFFFFF"/>
                </a:solidFill>
                <a:latin typeface="Yu Gothic" pitchFamily="34" charset="0"/>
                <a:ea typeface="Yu Gothic" pitchFamily="34" charset="-122"/>
                <a:cs typeface="Yu Gothic" pitchFamily="34" charset="-120"/>
              </a:rPr>
              <a:t>Text 5を全社で整えること</a:t>
            </a:r>
            <a:endParaRPr lang="en-US" sz="1050" dirty="0"/>
          </a:p>
        </p:txBody>
      </p:sp>
      <p:sp>
        <p:nvSpPr>
          <p:cNvPr id="20" name="shape:020"/>
          <p:cNvSpPr/>
          <p:nvPr/>
        </p:nvSpPr>
        <p:spPr>
          <a:xfrm>
            <a:off x="576072" y="5285484"/>
            <a:ext cx="11039551" cy="450000"/>
          </a:xfrm>
          <a:prstGeom prst="rect">
            <a:avLst/>
          </a:prstGeom>
          <a:solidFill>
            <a:srgbClr val="322014"/>
          </a:solidFill>
          <a:ln/>
        </p:spPr>
        <p:txBody>
          <a:bodyPr>
            <a:noAutofit/>
          </a:bodyPr>
          <a:p/>
        </p:txBody>
      </p:sp>
      <p:sp>
        <p:nvSpPr>
          <p:cNvPr id="21" name="shape:021"/>
          <p:cNvSpPr/>
          <p:nvPr/>
        </p:nvSpPr>
        <p:spPr>
          <a:xfrm>
            <a:off x="756072" y="528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C5A681"/>
                </a:solidFill>
                <a:latin typeface="Yu Gothic" pitchFamily="34" charset="0"/>
                <a:ea typeface="Yu Gothic" pitchFamily="34" charset="-122"/>
                <a:cs typeface="Yu Gothic" pitchFamily="34" charset="-120"/>
              </a:rPr>
              <a:t>共通条件2</a:t>
            </a:r>
            <a:r>
              <a:rPr lang="en-US" sz="1000" dirty="0">
                <a:solidFill>
                  <a:srgbClr val="FFFFFF"/>
                </a:solidFill>
                <a:latin typeface="Yu Gothic" pitchFamily="34" charset="0"/>
                <a:ea typeface="Yu Gothic" pitchFamily="34" charset="-122"/>
                <a:cs typeface="Yu Gothic" pitchFamily="34" charset="-120"/>
              </a:rPr>
              <a:t> </a:t>
            </a:r>
            <a:r>
              <a:rPr lang="en-US" sz="1000" dirty="0">
                <a:solidFill>
                  <a:srgbClr val="FFFFFF"/>
                </a:solidFill>
                <a:latin typeface="Yu Gothic" pitchFamily="34" charset="0"/>
                <a:ea typeface="Yu Gothic" pitchFamily="34" charset="-122"/>
                <a:cs typeface="Yu Gothic" pitchFamily="34" charset="-120"/>
              </a:rPr>
              <a:t>Text 6を継続的に確保すること</a:t>
            </a:r>
            <a:endParaRPr lang="en-US" sz="105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柱＋土台</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