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"process_matrix", "upstream_commit": "e5dd04dc6f1acf010046d2fc7319bcf5242a849a", "source_pptx_slide": 42,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16  PROCESS_MATRIX</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プロセス×観点の行列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42</a:t>
            </a:r>
            <a:endParaRPr lang="en-US" sz="750" dirty="0"/>
          </a:p>
        </p:txBody>
      </p:sp>
      <p:sp>
        <p:nvSpPr>
          <p:cNvPr id="10" name="shape:010"/>
          <p:cNvSpPr/>
          <p:nvPr/>
        </p:nvSpPr>
        <p:spPr>
          <a:xfrm>
            <a:off x="576072" y="2116836"/>
            <a:ext cx="219456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行の軸名</a:t>
            </a:r>
            <a:endParaRPr lang="en-US" sz="1250" dirty="0"/>
          </a:p>
        </p:txBody>
      </p:sp>
      <p:sp>
        <p:nvSpPr>
          <p:cNvPr id="11" name="shape:011"/>
          <p:cNvSpPr/>
          <p:nvPr/>
        </p:nvSpPr>
        <p:spPr>
          <a:xfrm>
            <a:off x="2770632"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2" name="shape:012"/>
          <p:cNvSpPr/>
          <p:nvPr/>
        </p:nvSpPr>
        <p:spPr>
          <a:xfrm>
            <a:off x="2770632" y="2446020"/>
            <a:ext cx="2820314" cy="0"/>
          </a:xfrm>
          <a:prstGeom prst="line">
            <a:avLst/>
          </a:prstGeom>
          <a:noFill/>
          <a:ln w="17780">
            <a:solidFill>
              <a:srgbClr val="322014"/>
            </a:solidFill>
            <a:prstDash val="solid"/>
          </a:ln>
        </p:spPr>
        <p:txBody>
          <a:bodyPr>
            <a:noAutofit/>
          </a:bodyPr>
          <a:p/>
        </p:txBody>
      </p:sp>
      <p:sp>
        <p:nvSpPr>
          <p:cNvPr id="13" name="shape:013"/>
          <p:cNvSpPr/>
          <p:nvPr/>
        </p:nvSpPr>
        <p:spPr>
          <a:xfrm>
            <a:off x="5718962"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4" name="shape:014"/>
          <p:cNvSpPr/>
          <p:nvPr/>
        </p:nvSpPr>
        <p:spPr>
          <a:xfrm>
            <a:off x="5718962" y="2446020"/>
            <a:ext cx="2820314" cy="0"/>
          </a:xfrm>
          <a:prstGeom prst="line">
            <a:avLst/>
          </a:prstGeom>
          <a:noFill/>
          <a:ln w="17780">
            <a:solidFill>
              <a:srgbClr val="322014"/>
            </a:solidFill>
            <a:prstDash val="solid"/>
          </a:ln>
        </p:spPr>
        <p:txBody>
          <a:bodyPr>
            <a:noAutofit/>
          </a:bodyPr>
          <a:p/>
        </p:txBody>
      </p:sp>
      <p:sp>
        <p:nvSpPr>
          <p:cNvPr id="15" name="shape:015"/>
          <p:cNvSpPr/>
          <p:nvPr/>
        </p:nvSpPr>
        <p:spPr>
          <a:xfrm>
            <a:off x="8667293" y="2116836"/>
            <a:ext cx="2820314"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6" name="shape:016"/>
          <p:cNvSpPr/>
          <p:nvPr/>
        </p:nvSpPr>
        <p:spPr>
          <a:xfrm>
            <a:off x="8667293" y="2446020"/>
            <a:ext cx="2820314" cy="0"/>
          </a:xfrm>
          <a:prstGeom prst="line">
            <a:avLst/>
          </a:prstGeom>
          <a:noFill/>
          <a:ln w="17780">
            <a:solidFill>
              <a:srgbClr val="322014"/>
            </a:solidFill>
            <a:prstDash val="solid"/>
          </a:ln>
        </p:spPr>
        <p:txBody>
          <a:bodyPr>
            <a:noAutofit/>
          </a:bodyPr>
          <a:p/>
        </p:txBody>
      </p:sp>
      <p:sp>
        <p:nvSpPr>
          <p:cNvPr id="17" name="shape:017"/>
          <p:cNvSpPr/>
          <p:nvPr/>
        </p:nvSpPr>
        <p:spPr>
          <a:xfrm>
            <a:off x="576072" y="280263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行見出し1</a:t>
            </a:r>
            <a:endParaRPr lang="en-US" sz="1200" dirty="0"/>
          </a:p>
        </p:txBody>
      </p:sp>
      <p:sp>
        <p:nvSpPr>
          <p:cNvPr id="18" name="shape:018"/>
          <p:cNvSpPr/>
          <p:nvPr/>
        </p:nvSpPr>
        <p:spPr>
          <a:xfrm>
            <a:off x="2770632" y="2619756"/>
            <a:ext cx="2820314" cy="886968"/>
          </a:xfrm>
          <a:prstGeom prst="rect">
            <a:avLst/>
          </a:prstGeom>
          <a:solidFill>
            <a:srgbClr val="EFEEE8"/>
          </a:solidFill>
          <a:ln/>
        </p:spPr>
        <p:txBody>
          <a:bodyPr>
            <a:noAutofit/>
          </a:bodyPr>
          <a:p/>
        </p:txBody>
      </p:sp>
      <p:sp>
        <p:nvSpPr>
          <p:cNvPr id="19" name="shape:019"/>
          <p:cNvSpPr/>
          <p:nvPr/>
        </p:nvSpPr>
        <p:spPr>
          <a:xfrm>
            <a:off x="2935224" y="276606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0" name="shape:020"/>
          <p:cNvSpPr/>
          <p:nvPr/>
        </p:nvSpPr>
        <p:spPr>
          <a:xfrm>
            <a:off x="5718962" y="2619756"/>
            <a:ext cx="2820314" cy="886968"/>
          </a:xfrm>
          <a:prstGeom prst="rect">
            <a:avLst/>
          </a:prstGeom>
          <a:solidFill>
            <a:srgbClr val="EFEEE8"/>
          </a:solidFill>
          <a:ln/>
        </p:spPr>
        <p:txBody>
          <a:bodyPr>
            <a:noAutofit/>
          </a:bodyPr>
          <a:p/>
        </p:txBody>
      </p:sp>
      <p:sp>
        <p:nvSpPr>
          <p:cNvPr id="21" name="shape:021"/>
          <p:cNvSpPr/>
          <p:nvPr/>
        </p:nvSpPr>
        <p:spPr>
          <a:xfrm>
            <a:off x="5883554" y="276606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2" name="shape:022"/>
          <p:cNvSpPr/>
          <p:nvPr/>
        </p:nvSpPr>
        <p:spPr>
          <a:xfrm>
            <a:off x="576072" y="385419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行見出し2</a:t>
            </a:r>
            <a:endParaRPr lang="en-US" sz="1200" dirty="0"/>
          </a:p>
        </p:txBody>
      </p:sp>
      <p:sp>
        <p:nvSpPr>
          <p:cNvPr id="23" name="shape:023"/>
          <p:cNvSpPr/>
          <p:nvPr/>
        </p:nvSpPr>
        <p:spPr>
          <a:xfrm>
            <a:off x="2770632" y="3671316"/>
            <a:ext cx="2820314" cy="886968"/>
          </a:xfrm>
          <a:prstGeom prst="rect">
            <a:avLst/>
          </a:prstGeom>
          <a:solidFill>
            <a:srgbClr val="EFEEE8"/>
          </a:solidFill>
          <a:ln/>
        </p:spPr>
        <p:txBody>
          <a:bodyPr>
            <a:noAutofit/>
          </a:bodyPr>
          <a:p/>
        </p:txBody>
      </p:sp>
      <p:sp>
        <p:nvSpPr>
          <p:cNvPr id="24" name="shape:024"/>
          <p:cNvSpPr/>
          <p:nvPr/>
        </p:nvSpPr>
        <p:spPr>
          <a:xfrm>
            <a:off x="2935224" y="381762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5" name="shape:025"/>
          <p:cNvSpPr/>
          <p:nvPr/>
        </p:nvSpPr>
        <p:spPr>
          <a:xfrm>
            <a:off x="5718962" y="3671316"/>
            <a:ext cx="2820314" cy="886968"/>
          </a:xfrm>
          <a:prstGeom prst="rect">
            <a:avLst/>
          </a:prstGeom>
          <a:solidFill>
            <a:srgbClr val="EFEEE8"/>
          </a:solidFill>
          <a:ln/>
        </p:spPr>
        <p:txBody>
          <a:bodyPr>
            <a:noAutofit/>
          </a:bodyPr>
          <a:p/>
        </p:txBody>
      </p:sp>
      <p:sp>
        <p:nvSpPr>
          <p:cNvPr id="26" name="shape:026"/>
          <p:cNvSpPr/>
          <p:nvPr/>
        </p:nvSpPr>
        <p:spPr>
          <a:xfrm>
            <a:off x="5883554" y="381762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27" name="shape:027"/>
          <p:cNvSpPr/>
          <p:nvPr/>
        </p:nvSpPr>
        <p:spPr>
          <a:xfrm>
            <a:off x="576072" y="4905756"/>
            <a:ext cx="2103120" cy="77724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行見出し3</a:t>
            </a:r>
            <a:endParaRPr lang="en-US" sz="1200" dirty="0"/>
          </a:p>
        </p:txBody>
      </p:sp>
      <p:sp>
        <p:nvSpPr>
          <p:cNvPr id="28" name="shape:028"/>
          <p:cNvSpPr/>
          <p:nvPr/>
        </p:nvSpPr>
        <p:spPr>
          <a:xfrm>
            <a:off x="2770632" y="4722876"/>
            <a:ext cx="2820314" cy="886968"/>
          </a:xfrm>
          <a:prstGeom prst="rect">
            <a:avLst/>
          </a:prstGeom>
          <a:solidFill>
            <a:srgbClr val="EFEEE8"/>
          </a:solidFill>
          <a:ln/>
        </p:spPr>
        <p:txBody>
          <a:bodyPr>
            <a:noAutofit/>
          </a:bodyPr>
          <a:p/>
        </p:txBody>
      </p:sp>
      <p:sp>
        <p:nvSpPr>
          <p:cNvPr id="29" name="shape:029"/>
          <p:cNvSpPr/>
          <p:nvPr/>
        </p:nvSpPr>
        <p:spPr>
          <a:xfrm>
            <a:off x="2935224"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30" name="shape:030"/>
          <p:cNvSpPr/>
          <p:nvPr/>
        </p:nvSpPr>
        <p:spPr>
          <a:xfrm>
            <a:off x="5718962" y="4722876"/>
            <a:ext cx="2820314" cy="886968"/>
          </a:xfrm>
          <a:prstGeom prst="rect">
            <a:avLst/>
          </a:prstGeom>
          <a:solidFill>
            <a:srgbClr val="EFEEE8"/>
          </a:solidFill>
          <a:ln/>
        </p:spPr>
        <p:txBody>
          <a:bodyPr>
            <a:noAutofit/>
          </a:bodyPr>
          <a:p/>
        </p:txBody>
      </p:sp>
      <p:sp>
        <p:nvSpPr>
          <p:cNvPr id="31" name="shape:031"/>
          <p:cNvSpPr/>
          <p:nvPr/>
        </p:nvSpPr>
        <p:spPr>
          <a:xfrm>
            <a:off x="5883554"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32" name="shape:032"/>
          <p:cNvSpPr/>
          <p:nvPr/>
        </p:nvSpPr>
        <p:spPr>
          <a:xfrm>
            <a:off x="8667293" y="4722876"/>
            <a:ext cx="2820314" cy="886968"/>
          </a:xfrm>
          <a:prstGeom prst="rect">
            <a:avLst/>
          </a:prstGeom>
          <a:solidFill>
            <a:srgbClr val="EFEEE8"/>
          </a:solidFill>
          <a:ln/>
        </p:spPr>
        <p:txBody>
          <a:bodyPr>
            <a:noAutofit/>
          </a:bodyPr>
          <a:p/>
        </p:txBody>
      </p:sp>
      <p:sp>
        <p:nvSpPr>
          <p:cNvPr id="33" name="shape:033"/>
          <p:cNvSpPr/>
          <p:nvPr/>
        </p:nvSpPr>
        <p:spPr>
          <a:xfrm>
            <a:off x="8831885" y="4869180"/>
            <a:ext cx="2491130" cy="685800"/>
          </a:xfrm>
          <a:prstGeom prst="rect">
            <a:avLst/>
          </a:prstGeom>
          <a:noFill/>
          <a:ln/>
        </p:spPr>
        <p:txBody>
          <a:bodyPr wrap="square" lIns="381" tIns="381" rIns="381" bIns="381" rtlCol="0" anchor="t">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値</a:t>
            </a:r>
            <a:endParaRPr lang="en-US" sz="1150" dirty="0"/>
          </a:p>
        </p:txBody>
      </p:sp>
      <p:sp>
        <p:nvSpPr>
          <p:cNvPr id="3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プロセス×観点の行列</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