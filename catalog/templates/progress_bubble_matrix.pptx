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"progress_bubble_matrix", "upstream_commit": "e5dd04dc6f1acf010046d2fc7319bcf5242a849a", "source_pptx_slide": 38,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パーツ16｜進捗バブル行列</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進捗バブル行列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38</a:t>
            </a:r>
            <a:endParaRPr lang="en-US" sz="750" dirty="0"/>
          </a:p>
        </p:txBody>
      </p:sp>
      <p:sp>
        <p:nvSpPr>
          <p:cNvPr id="10" name="shape:010"/>
          <p:cNvSpPr/>
          <p:nvPr/>
        </p:nvSpPr>
        <p:spPr>
          <a:xfrm>
            <a:off x="576072" y="1572768"/>
            <a:ext cx="683331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取り組み段階別の件数</a:t>
            </a:r>
            <a:endParaRPr lang="en-US" sz="1150" dirty="0"/>
          </a:p>
        </p:txBody>
      </p:sp>
      <p:sp>
        <p:nvSpPr>
          <p:cNvPr id="11" name="shape:011"/>
          <p:cNvSpPr/>
          <p:nvPr/>
        </p:nvSpPr>
        <p:spPr>
          <a:xfrm>
            <a:off x="7409383" y="1618488"/>
            <a:ext cx="4206240" cy="246888"/>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件、n=ラベル 1</a:t>
            </a:r>
            <a:endParaRPr lang="en-US" sz="850" dirty="0"/>
          </a:p>
        </p:txBody>
      </p:sp>
      <p:sp>
        <p:nvSpPr>
          <p:cNvPr id="12" name="shape:012"/>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3" name="shape:013"/>
          <p:cNvSpPr/>
          <p:nvPr/>
        </p:nvSpPr>
        <p:spPr>
          <a:xfrm>
            <a:off x="2599990"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構想</a:t>
            </a:r>
            <a:endParaRPr lang="en-US" sz="1300" dirty="0"/>
          </a:p>
        </p:txBody>
      </p:sp>
      <p:sp>
        <p:nvSpPr>
          <p:cNvPr id="14" name="shape:014"/>
          <p:cNvSpPr/>
          <p:nvPr/>
        </p:nvSpPr>
        <p:spPr>
          <a:xfrm>
            <a:off x="4781898"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試行</a:t>
            </a:r>
            <a:endParaRPr lang="en-US" sz="1300" dirty="0"/>
          </a:p>
        </p:txBody>
      </p:sp>
      <p:sp>
        <p:nvSpPr>
          <p:cNvPr id="15" name="shape:015"/>
          <p:cNvSpPr/>
          <p:nvPr/>
        </p:nvSpPr>
        <p:spPr>
          <a:xfrm>
            <a:off x="6963806"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部分展開</a:t>
            </a:r>
            <a:endParaRPr lang="en-US" sz="1300" dirty="0"/>
          </a:p>
        </p:txBody>
      </p:sp>
      <p:sp>
        <p:nvSpPr>
          <p:cNvPr id="16" name="shape:016"/>
          <p:cNvSpPr/>
          <p:nvPr/>
        </p:nvSpPr>
        <p:spPr>
          <a:xfrm>
            <a:off x="9145715"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322014"/>
                </a:solidFill>
                <a:latin typeface="Yu Gothic" pitchFamily="34" charset="0"/>
                <a:ea typeface="Yu Gothic" pitchFamily="34" charset="-122"/>
                <a:cs typeface="Yu Gothic" pitchFamily="34" charset="-120"/>
              </a:rPr>
              <a:t>全面展開</a:t>
            </a:r>
            <a:endParaRPr lang="en-US" sz="1300" dirty="0"/>
          </a:p>
        </p:txBody>
      </p:sp>
      <p:sp>
        <p:nvSpPr>
          <p:cNvPr id="17" name="shape:017"/>
          <p:cNvSpPr/>
          <p:nvPr/>
        </p:nvSpPr>
        <p:spPr>
          <a:xfrm>
            <a:off x="576072" y="2636901"/>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ラベル 2層</a:t>
            </a:r>
            <a:endParaRPr lang="en-US" sz="1400" dirty="0"/>
          </a:p>
        </p:txBody>
      </p:sp>
      <p:sp>
        <p:nvSpPr>
          <p:cNvPr id="18" name="shape:018"/>
          <p:cNvSpPr/>
          <p:nvPr/>
        </p:nvSpPr>
        <p:spPr>
          <a:xfrm>
            <a:off x="3391094" y="2519932"/>
            <a:ext cx="599699" cy="599699"/>
          </a:xfrm>
          <a:prstGeom prst="ellipse">
            <a:avLst/>
          </a:prstGeom>
          <a:solidFill>
            <a:srgbClr val="322014"/>
          </a:solidFill>
          <a:ln/>
        </p:spPr>
        <p:txBody>
          <a:bodyPr>
            <a:noAutofit/>
          </a:bodyPr>
          <a:p/>
        </p:txBody>
      </p:sp>
      <p:sp>
        <p:nvSpPr>
          <p:cNvPr id="19" name="shape:019"/>
          <p:cNvSpPr/>
          <p:nvPr/>
        </p:nvSpPr>
        <p:spPr>
          <a:xfrm>
            <a:off x="3391094" y="2519932"/>
            <a:ext cx="599699" cy="599699"/>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30</a:t>
            </a:r>
            <a:endParaRPr lang="en-US" sz="1200" dirty="0"/>
          </a:p>
        </p:txBody>
      </p:sp>
      <p:sp>
        <p:nvSpPr>
          <p:cNvPr id="20" name="shape:020"/>
          <p:cNvSpPr/>
          <p:nvPr/>
        </p:nvSpPr>
        <p:spPr>
          <a:xfrm>
            <a:off x="5708618" y="2655547"/>
            <a:ext cx="328469" cy="328469"/>
          </a:xfrm>
          <a:prstGeom prst="ellipse">
            <a:avLst/>
          </a:prstGeom>
          <a:solidFill>
            <a:srgbClr val="322014"/>
          </a:solidFill>
          <a:ln/>
        </p:spPr>
        <p:txBody>
          <a:bodyPr>
            <a:noAutofit/>
          </a:bodyPr>
          <a:p/>
        </p:txBody>
      </p:sp>
      <p:sp>
        <p:nvSpPr>
          <p:cNvPr id="21" name="shape:021"/>
          <p:cNvSpPr/>
          <p:nvPr/>
        </p:nvSpPr>
        <p:spPr>
          <a:xfrm>
            <a:off x="5644252"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22" name="shape:022"/>
          <p:cNvSpPr/>
          <p:nvPr/>
        </p:nvSpPr>
        <p:spPr>
          <a:xfrm>
            <a:off x="7890526" y="2655547"/>
            <a:ext cx="328469" cy="328469"/>
          </a:xfrm>
          <a:prstGeom prst="ellipse">
            <a:avLst/>
          </a:prstGeom>
          <a:solidFill>
            <a:srgbClr val="322014"/>
          </a:solidFill>
          <a:ln/>
        </p:spPr>
        <p:txBody>
          <a:bodyPr>
            <a:noAutofit/>
          </a:bodyPr>
          <a:p/>
        </p:txBody>
      </p:sp>
      <p:sp>
        <p:nvSpPr>
          <p:cNvPr id="23" name="shape:023"/>
          <p:cNvSpPr/>
          <p:nvPr/>
        </p:nvSpPr>
        <p:spPr>
          <a:xfrm>
            <a:off x="7826161"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24" name="shape:024"/>
          <p:cNvSpPr/>
          <p:nvPr/>
        </p:nvSpPr>
        <p:spPr>
          <a:xfrm>
            <a:off x="10127179" y="2710291"/>
            <a:ext cx="218979" cy="218979"/>
          </a:xfrm>
          <a:prstGeom prst="ellipse">
            <a:avLst/>
          </a:prstGeom>
          <a:solidFill>
            <a:srgbClr val="322014"/>
          </a:solidFill>
          <a:ln/>
        </p:spPr>
        <p:txBody>
          <a:bodyPr>
            <a:noAutofit/>
          </a:bodyPr>
          <a:p/>
        </p:txBody>
      </p:sp>
      <p:sp>
        <p:nvSpPr>
          <p:cNvPr id="25" name="shape:025"/>
          <p:cNvSpPr/>
          <p:nvPr/>
        </p:nvSpPr>
        <p:spPr>
          <a:xfrm>
            <a:off x="10008069"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26" name="shape:026"/>
          <p:cNvSpPr/>
          <p:nvPr/>
        </p:nvSpPr>
        <p:spPr>
          <a:xfrm>
            <a:off x="576072" y="3594735"/>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ラベル 3層</a:t>
            </a:r>
            <a:endParaRPr lang="en-US" sz="1400" dirty="0"/>
          </a:p>
        </p:txBody>
      </p:sp>
      <p:sp>
        <p:nvSpPr>
          <p:cNvPr id="27" name="shape:027"/>
          <p:cNvSpPr/>
          <p:nvPr/>
        </p:nvSpPr>
        <p:spPr>
          <a:xfrm>
            <a:off x="3478918" y="3565589"/>
            <a:ext cx="424051" cy="424051"/>
          </a:xfrm>
          <a:prstGeom prst="ellipse">
            <a:avLst/>
          </a:prstGeom>
          <a:solidFill>
            <a:srgbClr val="322014"/>
          </a:solidFill>
          <a:ln/>
        </p:spPr>
        <p:txBody>
          <a:bodyPr>
            <a:noAutofit/>
          </a:bodyPr>
          <a:p/>
        </p:txBody>
      </p:sp>
      <p:sp>
        <p:nvSpPr>
          <p:cNvPr id="28" name="shape:028"/>
          <p:cNvSpPr/>
          <p:nvPr/>
        </p:nvSpPr>
        <p:spPr>
          <a:xfrm>
            <a:off x="3462344"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15</a:t>
            </a:r>
            <a:endParaRPr lang="en-US" sz="1200" dirty="0"/>
          </a:p>
        </p:txBody>
      </p:sp>
      <p:sp>
        <p:nvSpPr>
          <p:cNvPr id="29" name="shape:029"/>
          <p:cNvSpPr/>
          <p:nvPr/>
        </p:nvSpPr>
        <p:spPr>
          <a:xfrm>
            <a:off x="5683211" y="3587974"/>
            <a:ext cx="379283" cy="379283"/>
          </a:xfrm>
          <a:prstGeom prst="ellipse">
            <a:avLst/>
          </a:prstGeom>
          <a:solidFill>
            <a:srgbClr val="322014"/>
          </a:solidFill>
          <a:ln/>
        </p:spPr>
        <p:txBody>
          <a:bodyPr>
            <a:noAutofit/>
          </a:bodyPr>
          <a:p/>
        </p:txBody>
      </p:sp>
      <p:sp>
        <p:nvSpPr>
          <p:cNvPr id="30" name="shape:030"/>
          <p:cNvSpPr/>
          <p:nvPr/>
        </p:nvSpPr>
        <p:spPr>
          <a:xfrm>
            <a:off x="5644252"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12</a:t>
            </a:r>
            <a:endParaRPr lang="en-US" sz="1200" dirty="0"/>
          </a:p>
        </p:txBody>
      </p:sp>
      <p:sp>
        <p:nvSpPr>
          <p:cNvPr id="31" name="shape:031"/>
          <p:cNvSpPr/>
          <p:nvPr/>
        </p:nvSpPr>
        <p:spPr>
          <a:xfrm>
            <a:off x="7920664" y="3643518"/>
            <a:ext cx="268194" cy="268194"/>
          </a:xfrm>
          <a:prstGeom prst="ellipse">
            <a:avLst/>
          </a:prstGeom>
          <a:solidFill>
            <a:srgbClr val="322014"/>
          </a:solidFill>
          <a:ln/>
        </p:spPr>
        <p:txBody>
          <a:bodyPr>
            <a:noAutofit/>
          </a:bodyPr>
          <a:p/>
        </p:txBody>
      </p:sp>
      <p:sp>
        <p:nvSpPr>
          <p:cNvPr id="32" name="shape:032"/>
          <p:cNvSpPr/>
          <p:nvPr/>
        </p:nvSpPr>
        <p:spPr>
          <a:xfrm>
            <a:off x="7826161"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33" name="shape:033"/>
          <p:cNvSpPr/>
          <p:nvPr/>
        </p:nvSpPr>
        <p:spPr>
          <a:xfrm>
            <a:off x="10102572" y="3643518"/>
            <a:ext cx="268194" cy="268194"/>
          </a:xfrm>
          <a:prstGeom prst="ellipse">
            <a:avLst/>
          </a:prstGeom>
          <a:solidFill>
            <a:srgbClr val="322014"/>
          </a:solidFill>
          <a:ln/>
        </p:spPr>
        <p:txBody>
          <a:bodyPr>
            <a:noAutofit/>
          </a:bodyPr>
          <a:p/>
        </p:txBody>
      </p:sp>
      <p:sp>
        <p:nvSpPr>
          <p:cNvPr id="34" name="shape:034"/>
          <p:cNvSpPr/>
          <p:nvPr/>
        </p:nvSpPr>
        <p:spPr>
          <a:xfrm>
            <a:off x="10008069"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35" name="shape:035"/>
          <p:cNvSpPr/>
          <p:nvPr/>
        </p:nvSpPr>
        <p:spPr>
          <a:xfrm>
            <a:off x="576072" y="4552569"/>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ラベル 4層</a:t>
            </a:r>
            <a:endParaRPr lang="en-US" sz="1400" dirty="0"/>
          </a:p>
        </p:txBody>
      </p:sp>
      <p:sp>
        <p:nvSpPr>
          <p:cNvPr id="36" name="shape:036"/>
          <p:cNvSpPr/>
          <p:nvPr/>
        </p:nvSpPr>
        <p:spPr>
          <a:xfrm>
            <a:off x="3288654" y="4333159"/>
            <a:ext cx="804581" cy="804581"/>
          </a:xfrm>
          <a:prstGeom prst="ellipse">
            <a:avLst/>
          </a:prstGeom>
          <a:solidFill>
            <a:srgbClr val="322014"/>
          </a:solidFill>
          <a:ln/>
        </p:spPr>
        <p:txBody>
          <a:bodyPr>
            <a:noAutofit/>
          </a:bodyPr>
          <a:p/>
        </p:txBody>
      </p:sp>
      <p:sp>
        <p:nvSpPr>
          <p:cNvPr id="37" name="shape:037"/>
          <p:cNvSpPr/>
          <p:nvPr/>
        </p:nvSpPr>
        <p:spPr>
          <a:xfrm>
            <a:off x="3288654" y="4333159"/>
            <a:ext cx="804581" cy="804581"/>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54</a:t>
            </a:r>
            <a:endParaRPr lang="en-US" sz="1200" dirty="0"/>
          </a:p>
        </p:txBody>
      </p:sp>
      <p:sp>
        <p:nvSpPr>
          <p:cNvPr id="38" name="shape:038"/>
          <p:cNvSpPr/>
          <p:nvPr/>
        </p:nvSpPr>
        <p:spPr>
          <a:xfrm>
            <a:off x="5675467" y="4538064"/>
            <a:ext cx="394770" cy="394770"/>
          </a:xfrm>
          <a:prstGeom prst="ellipse">
            <a:avLst/>
          </a:prstGeom>
          <a:solidFill>
            <a:srgbClr val="322014"/>
          </a:solidFill>
          <a:ln/>
        </p:spPr>
        <p:txBody>
          <a:bodyPr>
            <a:noAutofit/>
          </a:bodyPr>
          <a:p/>
        </p:txBody>
      </p:sp>
      <p:sp>
        <p:nvSpPr>
          <p:cNvPr id="39" name="shape:039"/>
          <p:cNvSpPr/>
          <p:nvPr/>
        </p:nvSpPr>
        <p:spPr>
          <a:xfrm>
            <a:off x="5644252"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0" name="shape:040"/>
          <p:cNvSpPr/>
          <p:nvPr/>
        </p:nvSpPr>
        <p:spPr>
          <a:xfrm>
            <a:off x="7857376" y="4538064"/>
            <a:ext cx="394770" cy="394770"/>
          </a:xfrm>
          <a:prstGeom prst="ellipse">
            <a:avLst/>
          </a:prstGeom>
          <a:solidFill>
            <a:srgbClr val="322014"/>
          </a:solidFill>
          <a:ln/>
        </p:spPr>
        <p:txBody>
          <a:bodyPr>
            <a:noAutofit/>
          </a:bodyPr>
          <a:p/>
        </p:txBody>
      </p:sp>
      <p:sp>
        <p:nvSpPr>
          <p:cNvPr id="41" name="shape:041"/>
          <p:cNvSpPr/>
          <p:nvPr/>
        </p:nvSpPr>
        <p:spPr>
          <a:xfrm>
            <a:off x="7826161"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2" name="shape:042"/>
          <p:cNvSpPr/>
          <p:nvPr/>
        </p:nvSpPr>
        <p:spPr>
          <a:xfrm>
            <a:off x="10102572" y="4601352"/>
            <a:ext cx="268194" cy="268194"/>
          </a:xfrm>
          <a:prstGeom prst="ellipse">
            <a:avLst/>
          </a:prstGeom>
          <a:solidFill>
            <a:srgbClr val="322014"/>
          </a:solidFill>
          <a:ln/>
        </p:spPr>
        <p:txBody>
          <a:bodyPr>
            <a:noAutofit/>
          </a:bodyPr>
          <a:p/>
        </p:txBody>
      </p:sp>
      <p:sp>
        <p:nvSpPr>
          <p:cNvPr id="43" name="shape:043"/>
          <p:cNvSpPr/>
          <p:nvPr/>
        </p:nvSpPr>
        <p:spPr>
          <a:xfrm>
            <a:off x="10008069"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44" name="shape:044"/>
          <p:cNvSpPr/>
          <p:nvPr/>
        </p:nvSpPr>
        <p:spPr>
          <a:xfrm>
            <a:off x="576072" y="5510403"/>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ラベル 5層</a:t>
            </a:r>
            <a:endParaRPr lang="en-US" sz="1400" dirty="0"/>
          </a:p>
        </p:txBody>
      </p:sp>
      <p:sp>
        <p:nvSpPr>
          <p:cNvPr id="45" name="shape:045"/>
          <p:cNvSpPr/>
          <p:nvPr/>
        </p:nvSpPr>
        <p:spPr>
          <a:xfrm>
            <a:off x="3536102" y="5538441"/>
            <a:ext cx="309683" cy="309683"/>
          </a:xfrm>
          <a:prstGeom prst="ellipse">
            <a:avLst/>
          </a:prstGeom>
          <a:solidFill>
            <a:srgbClr val="322014"/>
          </a:solidFill>
          <a:ln/>
        </p:spPr>
        <p:txBody>
          <a:bodyPr>
            <a:noAutofit/>
          </a:bodyPr>
          <a:p/>
        </p:txBody>
      </p:sp>
      <p:sp>
        <p:nvSpPr>
          <p:cNvPr id="46" name="shape:046"/>
          <p:cNvSpPr/>
          <p:nvPr/>
        </p:nvSpPr>
        <p:spPr>
          <a:xfrm>
            <a:off x="3462344"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8</a:t>
            </a:r>
            <a:endParaRPr lang="en-US" sz="1200" dirty="0"/>
          </a:p>
        </p:txBody>
      </p:sp>
      <p:sp>
        <p:nvSpPr>
          <p:cNvPr id="47" name="shape:047"/>
          <p:cNvSpPr/>
          <p:nvPr/>
        </p:nvSpPr>
        <p:spPr>
          <a:xfrm>
            <a:off x="5708618" y="5529049"/>
            <a:ext cx="328469" cy="328469"/>
          </a:xfrm>
          <a:prstGeom prst="ellipse">
            <a:avLst/>
          </a:prstGeom>
          <a:solidFill>
            <a:srgbClr val="322014"/>
          </a:solidFill>
          <a:ln/>
        </p:spPr>
        <p:txBody>
          <a:bodyPr>
            <a:noAutofit/>
          </a:bodyPr>
          <a:p/>
        </p:txBody>
      </p:sp>
      <p:sp>
        <p:nvSpPr>
          <p:cNvPr id="48" name="shape:048"/>
          <p:cNvSpPr/>
          <p:nvPr/>
        </p:nvSpPr>
        <p:spPr>
          <a:xfrm>
            <a:off x="5644252"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49" name="shape:049"/>
          <p:cNvSpPr/>
          <p:nvPr/>
        </p:nvSpPr>
        <p:spPr>
          <a:xfrm>
            <a:off x="7920664" y="5559186"/>
            <a:ext cx="268194" cy="268194"/>
          </a:xfrm>
          <a:prstGeom prst="ellipse">
            <a:avLst/>
          </a:prstGeom>
          <a:solidFill>
            <a:srgbClr val="322014"/>
          </a:solidFill>
          <a:ln/>
        </p:spPr>
        <p:txBody>
          <a:bodyPr>
            <a:noAutofit/>
          </a:bodyPr>
          <a:p/>
        </p:txBody>
      </p:sp>
      <p:sp>
        <p:nvSpPr>
          <p:cNvPr id="50" name="shape:050"/>
          <p:cNvSpPr/>
          <p:nvPr/>
        </p:nvSpPr>
        <p:spPr>
          <a:xfrm>
            <a:off x="7826161"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51" name="shape:051"/>
          <p:cNvSpPr/>
          <p:nvPr/>
        </p:nvSpPr>
        <p:spPr>
          <a:xfrm>
            <a:off x="10127179" y="5583793"/>
            <a:ext cx="218979" cy="218979"/>
          </a:xfrm>
          <a:prstGeom prst="ellipse">
            <a:avLst/>
          </a:prstGeom>
          <a:solidFill>
            <a:srgbClr val="322014"/>
          </a:solidFill>
          <a:ln/>
        </p:spPr>
        <p:txBody>
          <a:bodyPr>
            <a:noAutofit/>
          </a:bodyPr>
          <a:p/>
        </p:txBody>
      </p:sp>
      <p:sp>
        <p:nvSpPr>
          <p:cNvPr id="52" name="shape:052"/>
          <p:cNvSpPr/>
          <p:nvPr/>
        </p:nvSpPr>
        <p:spPr>
          <a:xfrm>
            <a:off x="10008069"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5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進捗バブル行列</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