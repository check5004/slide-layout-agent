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"proportional_circles", "upstream_commit": "e5dd04dc6f1acf010046d2fc7319bcf5242a849a", "source_pptx_slide": 21,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パーツ22｜比例円の対比</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比例円の対比</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1。円の面積は割合に比例</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21</a:t>
            </a:r>
            <a:endParaRPr lang="en-US" sz="750" dirty="0"/>
          </a:p>
        </p:txBody>
      </p:sp>
      <p:sp>
        <p:nvSpPr>
          <p:cNvPr id="10" name="shape:010"/>
          <p:cNvSpPr/>
          <p:nvPr/>
        </p:nvSpPr>
        <p:spPr>
          <a:xfrm>
            <a:off x="576072" y="1572768"/>
            <a:ext cx="11039551" cy="292608"/>
          </a:xfrm>
          <a:prstGeom prst="rect">
            <a:avLst/>
          </a:prstGeom>
          <a:noFill/>
          <a:ln/>
        </p:spPr>
        <p:txBody>
          <a:bodyPr wrap="square" lIns="0" tIns="0" rIns="0" bIns="0" rtlCol="0" anchor="b">
            <a:noAutofit/>
          </a:bodyPr>
          <a:lstStyle/>
          <a:p>
            <a:pPr algn="l" indent="0" marL="0">
              <a:buNone/>
            </a:pPr>
            <a:r>
              <a:rPr lang="en-US" sz="1150" b="1" dirty="0">
                <a:solidFill>
                  <a:srgbClr val="322014"/>
                </a:solidFill>
                <a:latin typeface="Yu Mincho Demibold" pitchFamily="34" charset="0"/>
                <a:ea typeface="Yu Mincho Demibold" pitchFamily="34" charset="-122"/>
                <a:cs typeface="Yu Mincho Demibold" pitchFamily="34" charset="-120"/>
              </a:rPr>
              <a:t>Text 1に占める割合</a:t>
            </a:r>
            <a:endParaRPr lang="en-US" sz="1150" dirty="0"/>
          </a:p>
        </p:txBody>
      </p:sp>
      <p:sp>
        <p:nvSpPr>
          <p:cNvPr id="11" name="shape:011"/>
          <p:cNvSpPr/>
          <p:nvPr/>
        </p:nvSpPr>
        <p:spPr>
          <a:xfrm>
            <a:off x="576072" y="1901952"/>
            <a:ext cx="11039551" cy="0"/>
          </a:xfrm>
          <a:prstGeom prst="line">
            <a:avLst/>
          </a:prstGeom>
          <a:noFill/>
          <a:ln w="17780">
            <a:solidFill>
              <a:srgbClr val="322014"/>
            </a:solidFill>
            <a:prstDash val="solid"/>
          </a:ln>
        </p:spPr>
        <p:txBody>
          <a:bodyPr>
            <a:noAutofit/>
          </a:bodyPr>
          <a:p/>
        </p:txBody>
      </p:sp>
      <p:sp>
        <p:nvSpPr>
          <p:cNvPr id="12" name="shape:012"/>
          <p:cNvSpPr/>
          <p:nvPr/>
        </p:nvSpPr>
        <p:spPr>
          <a:xfrm>
            <a:off x="9421063" y="1627632"/>
            <a:ext cx="2194560" cy="237744"/>
          </a:xfrm>
          <a:prstGeom prst="rect">
            <a:avLst/>
          </a:prstGeom>
          <a:noFill/>
          <a:ln/>
        </p:spPr>
        <p:txBody>
          <a:bodyPr wrap="square" lIns="0" tIns="0" rIns="0" bIns="0" rtlCol="0" anchor="b">
            <a:noAutofit/>
          </a:bodyPr>
          <a:lstStyle/>
          <a:p>
            <a:pPr algn="r" indent="0" marL="0">
              <a:buNone/>
            </a:pPr>
            <a:r>
              <a:rPr lang="en-US" sz="850" dirty="0">
                <a:solidFill>
                  <a:srgbClr val="8A7B6B"/>
                </a:solidFill>
                <a:latin typeface="Yu Gothic" pitchFamily="34" charset="0"/>
                <a:ea typeface="Yu Gothic" pitchFamily="34" charset="-122"/>
                <a:cs typeface="Yu Gothic" pitchFamily="34" charset="-120"/>
              </a:rPr>
              <a:t>％、YYYY年 / YYYY年</a:t>
            </a:r>
            <a:endParaRPr lang="en-US" sz="850" dirty="0"/>
          </a:p>
        </p:txBody>
      </p:sp>
      <p:sp>
        <p:nvSpPr>
          <p:cNvPr id="13" name="shape:013"/>
          <p:cNvSpPr/>
          <p:nvPr/>
        </p:nvSpPr>
        <p:spPr>
          <a:xfrm>
            <a:off x="1936476"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現在（YYYY年）</a:t>
            </a:r>
            <a:endParaRPr lang="en-US" sz="1200" dirty="0"/>
          </a:p>
        </p:txBody>
      </p:sp>
      <p:sp>
        <p:nvSpPr>
          <p:cNvPr id="14" name="shape:014"/>
          <p:cNvSpPr/>
          <p:nvPr/>
        </p:nvSpPr>
        <p:spPr>
          <a:xfrm>
            <a:off x="2293336" y="2629144"/>
            <a:ext cx="2943880" cy="2943880"/>
          </a:xfrm>
          <a:prstGeom prst="ellipse">
            <a:avLst/>
          </a:prstGeom>
          <a:solidFill>
            <a:srgbClr val="322014"/>
          </a:solidFill>
          <a:ln/>
        </p:spPr>
        <p:txBody>
          <a:bodyPr>
            <a:noAutofit/>
          </a:bodyPr>
          <a:p/>
        </p:txBody>
      </p:sp>
      <p:sp>
        <p:nvSpPr>
          <p:cNvPr id="15" name="shape:015"/>
          <p:cNvSpPr/>
          <p:nvPr/>
        </p:nvSpPr>
        <p:spPr>
          <a:xfrm>
            <a:off x="2293336" y="3661981"/>
            <a:ext cx="2943880" cy="668655"/>
          </a:xfrm>
          <a:prstGeom prst="rect">
            <a:avLst/>
          </a:prstGeom>
          <a:noFill/>
          <a:ln/>
        </p:spPr>
        <p:txBody>
          <a:bodyPr wrap="square" lIns="0" tIns="0" rIns="0" bIns="0" rtlCol="0" anchor="ctr">
            <a:noAutofit/>
          </a:bodyPr>
          <a:lstStyle/>
          <a:p>
            <a:pPr algn="ctr" indent="0" marL="0">
              <a:buNone/>
            </a:pPr>
            <a:r>
              <a:rPr lang="en-US" sz="3900" b="1" dirty="0">
                <a:solidFill>
                  <a:srgbClr val="FFFFFF"/>
                </a:solidFill>
                <a:latin typeface="Yu Mincho Demibold" pitchFamily="34" charset="0"/>
                <a:ea typeface="Yu Mincho Demibold" pitchFamily="34" charset="-122"/>
                <a:cs typeface="Yu Mincho Demibold" pitchFamily="34" charset="-120"/>
              </a:rPr>
              <a:t>65%</a:t>
            </a:r>
            <a:endParaRPr lang="en-US" sz="3900" dirty="0"/>
          </a:p>
        </p:txBody>
      </p:sp>
      <p:sp>
        <p:nvSpPr>
          <p:cNvPr id="16" name="shape:016"/>
          <p:cNvSpPr/>
          <p:nvPr/>
        </p:nvSpPr>
        <p:spPr>
          <a:xfrm>
            <a:off x="2293336" y="4330636"/>
            <a:ext cx="2943880" cy="209550"/>
          </a:xfrm>
          <a:prstGeom prst="rect">
            <a:avLst/>
          </a:prstGeom>
          <a:noFill/>
          <a:ln/>
        </p:spPr>
        <p:txBody>
          <a:bodyPr wrap="square" lIns="0" tIns="0" rIns="0" bIns="0" rtlCol="0" anchor="t">
            <a:noAutofit/>
          </a:bodyPr>
          <a:lstStyle/>
          <a:p>
            <a:pPr algn="ctr" indent="0" marL="0">
              <a:buNone/>
            </a:pPr>
            <a:r>
              <a:rPr lang="en-US" sz="1100" dirty="0">
                <a:solidFill>
                  <a:srgbClr val="C5A681"/>
                </a:solidFill>
                <a:latin typeface="Yu Gothic" pitchFamily="34" charset="0"/>
                <a:ea typeface="Yu Gothic" pitchFamily="34" charset="-122"/>
                <a:cs typeface="Yu Gothic" pitchFamily="34" charset="-120"/>
              </a:rPr>
              <a:t>Text 2が占める割合</a:t>
            </a:r>
            <a:endParaRPr lang="en-US" sz="1100" dirty="0"/>
          </a:p>
        </p:txBody>
      </p:sp>
      <p:sp>
        <p:nvSpPr>
          <p:cNvPr id="17" name="shape:017"/>
          <p:cNvSpPr/>
          <p:nvPr/>
        </p:nvSpPr>
        <p:spPr>
          <a:xfrm>
            <a:off x="6597620" y="2261159"/>
            <a:ext cx="3657600" cy="274320"/>
          </a:xfrm>
          <a:prstGeom prst="rect">
            <a:avLst/>
          </a:prstGeom>
          <a:noFill/>
          <a:ln/>
        </p:spPr>
        <p:txBody>
          <a:bodyPr wrap="square" lIns="0" tIns="0" rIns="0" bIns="0" rtlCol="0" anchor="t">
            <a:noAutofit/>
          </a:bodyPr>
          <a:lstStyle/>
          <a:p>
            <a:pPr algn="ctr" indent="0" marL="0">
              <a:buNone/>
            </a:pPr>
            <a:r>
              <a:rPr lang="en-US" sz="1200" b="1" dirty="0">
                <a:solidFill>
                  <a:srgbClr val="322014"/>
                </a:solidFill>
                <a:latin typeface="Yu Gothic" pitchFamily="34" charset="0"/>
                <a:ea typeface="Yu Gothic" pitchFamily="34" charset="-122"/>
                <a:cs typeface="Yu Gothic" pitchFamily="34" charset="-120"/>
              </a:rPr>
              <a:t>N年後（YYYY年）</a:t>
            </a:r>
            <a:endParaRPr lang="en-US" sz="1200" dirty="0"/>
          </a:p>
        </p:txBody>
      </p:sp>
      <p:sp>
        <p:nvSpPr>
          <p:cNvPr id="18" name="shape:018"/>
          <p:cNvSpPr/>
          <p:nvPr/>
        </p:nvSpPr>
        <p:spPr>
          <a:xfrm>
            <a:off x="7426433" y="3101098"/>
            <a:ext cx="1999973" cy="1999973"/>
          </a:xfrm>
          <a:prstGeom prst="ellipse">
            <a:avLst/>
          </a:prstGeom>
          <a:solidFill>
            <a:srgbClr val="5A3921"/>
          </a:solidFill>
          <a:ln/>
        </p:spPr>
        <p:txBody>
          <a:bodyPr>
            <a:noAutofit/>
          </a:bodyPr>
          <a:p/>
        </p:txBody>
      </p:sp>
      <p:sp>
        <p:nvSpPr>
          <p:cNvPr id="19" name="shape:019"/>
          <p:cNvSpPr/>
          <p:nvPr/>
        </p:nvSpPr>
        <p:spPr>
          <a:xfrm>
            <a:off x="7426433" y="3792474"/>
            <a:ext cx="1999973" cy="445770"/>
          </a:xfrm>
          <a:prstGeom prst="rect">
            <a:avLst/>
          </a:prstGeom>
          <a:noFill/>
          <a:ln/>
        </p:spPr>
        <p:txBody>
          <a:bodyPr wrap="square" lIns="0" tIns="0" rIns="0" bIns="0" rtlCol="0" anchor="ctr">
            <a:noAutofit/>
          </a:bodyPr>
          <a:lstStyle/>
          <a:p>
            <a:pPr algn="ctr" indent="0" marL="0">
              <a:buNone/>
            </a:pPr>
            <a:r>
              <a:rPr lang="en-US" sz="2600" b="1" dirty="0">
                <a:solidFill>
                  <a:srgbClr val="FFFFFF"/>
                </a:solidFill>
                <a:latin typeface="Yu Mincho Demibold" pitchFamily="34" charset="0"/>
                <a:ea typeface="Yu Mincho Demibold" pitchFamily="34" charset="-122"/>
                <a:cs typeface="Yu Mincho Demibold" pitchFamily="34" charset="-120"/>
              </a:rPr>
              <a:t>30%</a:t>
            </a:r>
            <a:endParaRPr lang="en-US" sz="2600" dirty="0"/>
          </a:p>
        </p:txBody>
      </p:sp>
      <p:sp>
        <p:nvSpPr>
          <p:cNvPr id="20" name="shape:020"/>
          <p:cNvSpPr/>
          <p:nvPr/>
        </p:nvSpPr>
        <p:spPr>
          <a:xfrm>
            <a:off x="7426433" y="4238244"/>
            <a:ext cx="1999973" cy="171450"/>
          </a:xfrm>
          <a:prstGeom prst="rect">
            <a:avLst/>
          </a:prstGeom>
          <a:noFill/>
          <a:ln/>
        </p:spPr>
        <p:txBody>
          <a:bodyPr wrap="square" lIns="0" tIns="0" rIns="0" bIns="0" rtlCol="0" anchor="t">
            <a:noAutofit/>
          </a:bodyPr>
          <a:lstStyle/>
          <a:p>
            <a:pPr algn="ctr" indent="0" marL="0">
              <a:buNone/>
            </a:pPr>
            <a:r>
              <a:rPr lang="en-US" sz="900" dirty="0">
                <a:solidFill>
                  <a:srgbClr val="EFEEE8"/>
                </a:solidFill>
                <a:latin typeface="Yu Gothic" pitchFamily="34" charset="0"/>
                <a:ea typeface="Yu Gothic" pitchFamily="34" charset="-122"/>
                <a:cs typeface="Yu Gothic" pitchFamily="34" charset="-120"/>
              </a:rPr>
              <a:t>Text 3が占める割合</a:t>
            </a:r>
            <a:endParaRPr lang="en-US" sz="900" dirty="0"/>
          </a:p>
        </p:txBody>
      </p:sp>
      <p:sp>
        <p:nvSpPr>
          <p:cNvPr id="2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PPTX・HTML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比例円の対比</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