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3"/>
          <c:w val="1"/>
          <c:h val="0.96"/>
        </c:manualLayout>
      </c:layout>
      <c:barChart>
        <c:barDir val="col"/>
        <c:grouping val="clustered"/>
        <c:varyColors val="0"/>
        <c:ser>
          <c:idx val="0"/>
          <c:order val="0"/>
          <c:tx>
            <c:strRef>
              <c:f>Sheet1!$B$1</c:f>
              <c:strCache>
                <c:ptCount val="1"/>
                <c:pt idx="0">
                  <c:v>指標名</c:v>
                </c:pt>
              </c:strCache>
            </c:strRef>
          </c:tx>
          <c:spPr>
            <a:solidFill>
              <a:srgbClr val="5A3921"/>
            </a:solidFill>
            <a:effectLst/>
          </c:spPr>
          <c:invertIfNegative val="0"/>
          <c:dLbls>
            <c:numFmt formatCode="#,##0" sourceLinked="0"/>
            <c:txPr>
              <a:bodyPr/>
              <a:lstStyle/>
              <a:p>
                <a:pPr>
                  <a:defRPr b="0" i="0" strike="noStrike" sz="900" u="none">
                    <a:solidFill>
                      <a:srgbClr val="322014"/>
                    </a:solidFill>
                    <a:latin typeface="Yu Gothic"/>
                  </a:defRPr>
                </a:pPr>
              </a:p>
            </c:txPr>
            <c:showLegendKey val="0"/>
            <c:showVal val="0"/>
            <c:showCatName val="0"/>
            <c:showSerName val="0"/>
            <c:showPercent val="0"/>
            <c:showBubbleSize val="0"/>
            <c:showLeaderLines val="0"/>
          </c:dLbls>
          <c:dPt>
            <c:idx val="0"/>
            <c:invertIfNegative val="0"/>
            <c:bubble3D val="0"/>
            <c:spPr>
              <a:solidFill>
                <a:srgbClr val="5A3921"/>
              </a:solidFill>
              <a:effectLst/>
            </c:spPr>
          </c:dPt>
          <c:dPt>
            <c:idx val="1"/>
            <c:invertIfNegative val="0"/>
            <c:bubble3D val="0"/>
            <c:spPr>
              <a:solidFill>
                <a:srgbClr val="5A3921"/>
              </a:solidFill>
              <a:effectLst/>
            </c:spPr>
          </c:dPt>
          <c:dPt>
            <c:idx val="2"/>
            <c:invertIfNegative val="0"/>
            <c:bubble3D val="0"/>
            <c:spPr>
              <a:solidFill>
                <a:srgbClr val="5A3921"/>
              </a:solidFill>
              <a:effectLst/>
            </c:spPr>
          </c:dPt>
          <c:dPt>
            <c:idx val="3"/>
            <c:invertIfNegative val="0"/>
            <c:bubble3D val="0"/>
            <c:spPr>
              <a:solidFill>
                <a:srgbClr val="5A3921"/>
              </a:solidFill>
              <a:effectLst/>
            </c:spPr>
          </c:dPt>
          <c:dPt>
            <c:idx val="4"/>
            <c:invertIfNegative val="0"/>
            <c:bubble3D val="0"/>
            <c:spPr>
              <a:solidFill>
                <a:srgbClr val="5A3921"/>
              </a:solidFill>
              <a:effectLst/>
            </c:spPr>
          </c:dPt>
          <c:dPt>
            <c:idx val="5"/>
            <c:invertIfNegative val="0"/>
            <c:bubble3D val="0"/>
            <c:spPr>
              <a:solidFill>
                <a:srgbClr val="C5A681"/>
              </a:solidFill>
              <a:effectLst/>
            </c:spPr>
          </c:dPt>
          <c:dPt>
            <c:idx val="6"/>
            <c:invertIfNegative val="0"/>
            <c:bubble3D val="0"/>
            <c:spPr>
              <a:solidFill>
                <a:srgbClr val="C5A681"/>
              </a:solidFill>
              <a:effectLst/>
            </c:spPr>
          </c:dPt>
          <c:dPt>
            <c:idx val="7"/>
            <c:invertIfNegative val="0"/>
            <c:bubble3D val="0"/>
            <c:spPr>
              <a:solidFill>
                <a:srgbClr val="C5A681"/>
              </a:solidFill>
              <a:effectLst/>
            </c:spPr>
          </c:dPt>
          <c:dPt>
            <c:idx val="8"/>
            <c:invertIfNegative val="0"/>
            <c:bubble3D val="0"/>
            <c:spPr>
              <a:solidFill>
                <a:srgbClr val="C5A681"/>
              </a:solidFill>
              <a:effectLst/>
            </c:spPr>
          </c:dPt>
          <c:dPt>
            <c:idx val="9"/>
            <c:invertIfNegative val="0"/>
            <c:bubble3D val="0"/>
            <c:spPr>
              <a:solidFill>
                <a:srgbClr val="C5A681"/>
              </a:solidFill>
              <a:effectLst/>
            </c:spPr>
          </c:dPt>
          <c:dPt>
            <c:idx val="10"/>
            <c:invertIfNegative val="0"/>
            <c:bubble3D val="0"/>
            <c:spPr>
              <a:solidFill>
                <a:srgbClr val="C5A681"/>
              </a:solidFill>
              <a:effectLst/>
            </c:spPr>
          </c:dPt>
          <c:dPt>
            <c:idx val="11"/>
            <c:invertIfNegative val="0"/>
            <c:bubble3D val="0"/>
            <c:spPr>
              <a:solidFill>
                <a:srgbClr val="C5A681"/>
              </a:solidFill>
              <a:effectLst/>
            </c:spPr>
          </c:dPt>
          <c:dPt>
            <c:idx val="12"/>
            <c:invertIfNegative val="0"/>
            <c:bubble3D val="0"/>
            <c:spPr>
              <a:solidFill>
                <a:srgbClr val="C5A681"/>
              </a:solidFill>
              <a:effectLst/>
            </c:spPr>
          </c:dPt>
          <c:dPt>
            <c:idx val="13"/>
            <c:invertIfNegative val="0"/>
            <c:bubble3D val="0"/>
            <c:spPr>
              <a:solidFill>
                <a:srgbClr val="C5A681"/>
              </a:solidFill>
              <a:effectLst/>
            </c:spPr>
          </c:dPt>
          <c:dPt>
            <c:idx val="14"/>
            <c:invertIfNegative val="0"/>
            <c:bubble3D val="0"/>
            <c:spPr>
              <a:solidFill>
                <a:srgbClr val="C5A681"/>
              </a:solidFill>
              <a:effectLst/>
            </c:spPr>
          </c:dPt>
          <c:dPt>
            <c:idx val="15"/>
            <c:invertIfNegative val="0"/>
            <c:bubble3D val="0"/>
            <c:spPr>
              <a:solidFill>
                <a:srgbClr val="C5A681"/>
              </a:solidFill>
              <a:effectLst/>
            </c:spPr>
          </c:dPt>
          <c:dPt>
            <c:idx val="16"/>
            <c:invertIfNegative val="0"/>
            <c:bubble3D val="0"/>
            <c:spPr>
              <a:solidFill>
                <a:srgbClr val="C5A681"/>
              </a:solidFill>
              <a:effectLst/>
            </c:spPr>
          </c:dPt>
          <c:dPt>
            <c:idx val="17"/>
            <c:invertIfNegative val="0"/>
            <c:bubble3D val="0"/>
            <c:spPr>
              <a:solidFill>
                <a:srgbClr val="C5A681"/>
              </a:solidFill>
              <a:effectLst/>
            </c:spPr>
          </c:dPt>
          <c:dPt>
            <c:idx val="18"/>
            <c:invertIfNegative val="0"/>
            <c:bubble3D val="0"/>
            <c:spPr>
              <a:solidFill>
                <a:srgbClr val="C5A681"/>
              </a:solidFill>
              <a:effectLst/>
            </c:spPr>
          </c:dPt>
          <c:dPt>
            <c:idx val="19"/>
            <c:invertIfNegative val="0"/>
            <c:bubble3D val="0"/>
            <c:spPr>
              <a:solidFill>
                <a:srgbClr val="C5A681"/>
              </a:solidFill>
              <a:effectLst/>
            </c:spPr>
          </c:dPt>
          <c:dPt>
            <c:idx val="20"/>
            <c:invertIfNegative val="0"/>
            <c:bubble3D val="0"/>
            <c:spPr>
              <a:solidFill>
                <a:srgbClr val="C5A681"/>
              </a:solidFill>
              <a:effectLst/>
            </c:spPr>
          </c:dPt>
          <c:dPt>
            <c:idx val="21"/>
            <c:invertIfNegative val="0"/>
            <c:bubble3D val="0"/>
            <c:spPr>
              <a:solidFill>
                <a:srgbClr val="C5A681"/>
              </a:solidFill>
              <a:effectLst/>
            </c:spPr>
          </c:dPt>
          <c:dPt>
            <c:idx val="22"/>
            <c:invertIfNegative val="0"/>
            <c:bubble3D val="0"/>
            <c:spPr>
              <a:solidFill>
                <a:srgbClr val="C5A681"/>
              </a:solidFill>
              <a:effectLst/>
            </c:spPr>
          </c:dPt>
          <c:dPt>
            <c:idx val="23"/>
            <c:invertIfNegative val="0"/>
            <c:bubble3D val="0"/>
            <c:spPr>
              <a:solidFill>
                <a:srgbClr val="C5A681"/>
              </a:solidFill>
              <a:effectLst/>
            </c:spPr>
          </c:dPt>
          <c:dPt>
            <c:idx val="24"/>
            <c:invertIfNegative val="0"/>
            <c:bubble3D val="0"/>
            <c:spPr>
              <a:solidFill>
                <a:srgbClr val="C5A681"/>
              </a:solidFill>
              <a:effectLst/>
            </c:spPr>
          </c:dPt>
          <c:dPt>
            <c:idx val="25"/>
            <c:invertIfNegative val="0"/>
            <c:bubble3D val="0"/>
            <c:spPr>
              <a:solidFill>
                <a:srgbClr val="C5A681"/>
              </a:solidFill>
              <a:effectLst/>
            </c:spPr>
          </c:dPt>
          <c:dPt>
            <c:idx val="26"/>
            <c:invertIfNegative val="0"/>
            <c:bubble3D val="0"/>
            <c:spPr>
              <a:solidFill>
                <a:srgbClr val="C5A681"/>
              </a:solidFill>
              <a:effectLst/>
            </c:spPr>
          </c:dPt>
          <c:dPt>
            <c:idx val="27"/>
            <c:invertIfNegative val="0"/>
            <c:bubble3D val="0"/>
            <c:spPr>
              <a:solidFill>
                <a:srgbClr val="C5A681"/>
              </a:solidFill>
              <a:effectLst/>
            </c:spPr>
          </c:dPt>
          <c:dPt>
            <c:idx val="28"/>
            <c:invertIfNegative val="0"/>
            <c:bubble3D val="0"/>
            <c:spPr>
              <a:solidFill>
                <a:srgbClr val="C5A681"/>
              </a:solidFill>
              <a:effectLst/>
            </c:spPr>
          </c:dPt>
          <c:dPt>
            <c:idx val="29"/>
            <c:invertIfNegative val="0"/>
            <c:bubble3D val="0"/>
            <c:spPr>
              <a:solidFill>
                <a:srgbClr val="C5A681"/>
              </a:solidFill>
              <a:effectLst/>
            </c:spPr>
          </c:dPt>
          <c:dPt>
            <c:idx val="30"/>
            <c:invertIfNegative val="0"/>
            <c:bubble3D val="0"/>
            <c:spPr>
              <a:solidFill>
                <a:srgbClr val="C5A681"/>
              </a:solidFill>
              <a:effectLst/>
            </c:spPr>
          </c:dPt>
          <c:dPt>
            <c:idx val="31"/>
            <c:invertIfNegative val="0"/>
            <c:bubble3D val="0"/>
            <c:spPr>
              <a:solidFill>
                <a:srgbClr val="C5A681"/>
              </a:solidFill>
              <a:effectLst/>
            </c:spPr>
          </c:dPt>
          <c:dPt>
            <c:idx val="32"/>
            <c:invertIfNegative val="0"/>
            <c:bubble3D val="0"/>
            <c:spPr>
              <a:solidFill>
                <a:srgbClr val="C5A681"/>
              </a:solidFill>
              <a:effectLst/>
            </c:spPr>
          </c:dPt>
          <c:dPt>
            <c:idx val="33"/>
            <c:invertIfNegative val="0"/>
            <c:bubble3D val="0"/>
            <c:spPr>
              <a:solidFill>
                <a:srgbClr val="C5A681"/>
              </a:solidFill>
              <a:effectLst/>
            </c:spPr>
          </c:dPt>
          <c:dPt>
            <c:idx val="34"/>
            <c:invertIfNegative val="0"/>
            <c:bubble3D val="0"/>
            <c:spPr>
              <a:solidFill>
                <a:srgbClr val="C5A681"/>
              </a:solidFill>
              <a:effectLst/>
            </c:spPr>
          </c:dPt>
          <c:dPt>
            <c:idx val="35"/>
            <c:invertIfNegative val="0"/>
            <c:bubble3D val="0"/>
            <c:spPr>
              <a:solidFill>
                <a:srgbClr val="C5A681"/>
              </a:solidFill>
              <a:effectLst/>
            </c:spPr>
          </c:dPt>
          <c:dPt>
            <c:idx val="36"/>
            <c:invertIfNegative val="0"/>
            <c:bubble3D val="0"/>
            <c:spPr>
              <a:solidFill>
                <a:srgbClr val="C5A681"/>
              </a:solidFill>
              <a:effectLst/>
            </c:spPr>
          </c:dPt>
          <c:dPt>
            <c:idx val="37"/>
            <c:invertIfNegative val="0"/>
            <c:bubble3D val="0"/>
            <c:spPr>
              <a:solidFill>
                <a:srgbClr val="C5A681"/>
              </a:solidFill>
              <a:effectLst/>
            </c:spPr>
          </c:dPt>
          <c:dPt>
            <c:idx val="38"/>
            <c:invertIfNegative val="0"/>
            <c:bubble3D val="0"/>
            <c:spPr>
              <a:solidFill>
                <a:srgbClr val="C5A681"/>
              </a:solidFill>
              <a:effectLst/>
            </c:spPr>
          </c:dPt>
          <c:dPt>
            <c:idx val="39"/>
            <c:invertIfNegative val="0"/>
            <c:bubble3D val="0"/>
            <c:spPr>
              <a:solidFill>
                <a:srgbClr val="C5A681"/>
              </a:solidFill>
              <a:effectLst/>
            </c:spPr>
          </c:dPt>
          <c:dPt>
            <c:idx val="40"/>
            <c:invertIfNegative val="0"/>
            <c:bubble3D val="0"/>
            <c:spPr>
              <a:solidFill>
                <a:srgbClr val="C5A681"/>
              </a:solidFill>
              <a:effectLst/>
            </c:spPr>
          </c:dPt>
          <c:dPt>
            <c:idx val="41"/>
            <c:invertIfNegative val="0"/>
            <c:bubble3D val="0"/>
            <c:spPr>
              <a:solidFill>
                <a:srgbClr val="C5A681"/>
              </a:solidFill>
              <a:effectLst/>
            </c:spPr>
          </c:dPt>
          <c:dPt>
            <c:idx val="42"/>
            <c:invertIfNegative val="0"/>
            <c:bubble3D val="0"/>
            <c:spPr>
              <a:solidFill>
                <a:srgbClr val="C5A681"/>
              </a:solidFill>
              <a:effectLst/>
            </c:spPr>
          </c:dPt>
          <c:dPt>
            <c:idx val="43"/>
            <c:invertIfNegative val="0"/>
            <c:bubble3D val="0"/>
            <c:spPr>
              <a:solidFill>
                <a:srgbClr val="C5A681"/>
              </a:solidFill>
              <a:effectLst/>
            </c:spPr>
          </c:dPt>
          <c:dPt>
            <c:idx val="44"/>
            <c:invertIfNegative val="0"/>
            <c:bubble3D val="0"/>
            <c:spPr>
              <a:solidFill>
                <a:srgbClr val="C5A681"/>
              </a:solidFill>
              <a:effectLst/>
            </c:spPr>
          </c:dPt>
          <c:dPt>
            <c:idx val="45"/>
            <c:invertIfNegative val="0"/>
            <c:bubble3D val="0"/>
            <c:spPr>
              <a:solidFill>
                <a:srgbClr val="C5A681"/>
              </a:solidFill>
              <a:effectLst/>
            </c:spPr>
          </c:dPt>
          <c:dPt>
            <c:idx val="46"/>
            <c:invertIfNegative val="0"/>
            <c:bubble3D val="0"/>
            <c:spPr>
              <a:solidFill>
                <a:srgbClr val="C5A681"/>
              </a:solidFill>
              <a:effectLst/>
            </c:spPr>
          </c:dPt>
          <c:dPt>
            <c:idx val="47"/>
            <c:invertIfNegative val="0"/>
            <c:bubble3D val="0"/>
            <c:spPr>
              <a:solidFill>
                <a:srgbClr val="C5A681"/>
              </a:solidFill>
              <a:effectLst/>
            </c:spPr>
          </c:dPt>
          <c:dPt>
            <c:idx val="48"/>
            <c:invertIfNegative val="0"/>
            <c:bubble3D val="0"/>
            <c:spPr>
              <a:solidFill>
                <a:srgbClr val="C5A681"/>
              </a:solidFill>
              <a:effectLst/>
            </c:spPr>
          </c:dPt>
          <c:dPt>
            <c:idx val="49"/>
            <c:invertIfNegative val="0"/>
            <c:bubble3D val="0"/>
            <c:spPr>
              <a:solidFill>
                <a:srgbClr val="C5A681"/>
              </a:solidFill>
              <a:effectLst/>
            </c:spPr>
          </c:dPt>
          <c:cat>
            <c:multiLvlStrRef>
              <c:f>Sheet1!$A$2:$A$51</c:f>
              <c:multiLvlStrCache>
                <c:ptCount val="50"/>
                <c:lvl>
                  <c:pt idx="0">
                    <c:v>ラベル 1</c:v>
                  </c:pt>
                  <c:pt idx="1">
                    <c:v>ラベル 2</c:v>
                  </c:pt>
                  <c:pt idx="2">
                    <c:v>ラベル 3</c:v>
                  </c:pt>
                  <c:pt idx="3">
                    <c:v>ラベル 4</c:v>
                  </c:pt>
                  <c:pt idx="4">
                    <c:v>ラベル 5</c:v>
                  </c:pt>
                  <c:pt idx="5">
                    <c:v>ラベル 6</c:v>
                  </c:pt>
                  <c:pt idx="6">
                    <c:v>ラベル 7</c:v>
                  </c:pt>
                  <c:pt idx="7">
                    <c:v>ラベル 8</c:v>
                  </c:pt>
                  <c:pt idx="8">
                    <c:v>ラベル 9</c:v>
                  </c:pt>
                  <c:pt idx="9">
                    <c:v>ラベル 10</c:v>
                  </c:pt>
                  <c:pt idx="10">
                    <c:v>ラベル 11</c:v>
                  </c:pt>
                  <c:pt idx="11">
                    <c:v>ラベル 12</c:v>
                  </c:pt>
                  <c:pt idx="12">
                    <c:v>ラベル 13</c:v>
                  </c:pt>
                  <c:pt idx="13">
                    <c:v>ラベル 14</c:v>
                  </c:pt>
                  <c:pt idx="14">
                    <c:v>ラベル 15</c:v>
                  </c:pt>
                  <c:pt idx="15">
                    <c:v>ラベル 16</c:v>
                  </c:pt>
                  <c:pt idx="16">
                    <c:v>ラベル 17</c:v>
                  </c:pt>
                  <c:pt idx="17">
                    <c:v>ラベル 18</c:v>
                  </c:pt>
                  <c:pt idx="18">
                    <c:v>ラベル 19</c:v>
                  </c:pt>
                  <c:pt idx="19">
                    <c:v>ラベル 20</c:v>
                  </c:pt>
                  <c:pt idx="20">
                    <c:v>ラベル 21</c:v>
                  </c:pt>
                  <c:pt idx="21">
                    <c:v>ラベル 22</c:v>
                  </c:pt>
                  <c:pt idx="22">
                    <c:v>ラベル 23</c:v>
                  </c:pt>
                  <c:pt idx="23">
                    <c:v>ラベル 24</c:v>
                  </c:pt>
                  <c:pt idx="24">
                    <c:v>ラベル 25</c:v>
                  </c:pt>
                  <c:pt idx="25">
                    <c:v>ラベル 26</c:v>
                  </c:pt>
                  <c:pt idx="26">
                    <c:v>ラベル 27</c:v>
                  </c:pt>
                  <c:pt idx="27">
                    <c:v>ラベル 28</c:v>
                  </c:pt>
                  <c:pt idx="28">
                    <c:v>ラベル 29</c:v>
                  </c:pt>
                  <c:pt idx="29">
                    <c:v>ラベル 30</c:v>
                  </c:pt>
                  <c:pt idx="30">
                    <c:v>ラベル 31</c:v>
                  </c:pt>
                  <c:pt idx="31">
                    <c:v>ラベル 32</c:v>
                  </c:pt>
                  <c:pt idx="32">
                    <c:v>ラベル 33</c:v>
                  </c:pt>
                  <c:pt idx="33">
                    <c:v>ラベル 34</c:v>
                  </c:pt>
                  <c:pt idx="34">
                    <c:v>ラベル 35</c:v>
                  </c:pt>
                  <c:pt idx="35">
                    <c:v>ラベル 36</c:v>
                  </c:pt>
                  <c:pt idx="36">
                    <c:v>ラベル 37</c:v>
                  </c:pt>
                  <c:pt idx="37">
                    <c:v>ラベル 38</c:v>
                  </c:pt>
                  <c:pt idx="38">
                    <c:v>ラベル 39</c:v>
                  </c:pt>
                  <c:pt idx="39">
                    <c:v>ラベル 40</c:v>
                  </c:pt>
                  <c:pt idx="40">
                    <c:v>ラベル 41</c:v>
                  </c:pt>
                  <c:pt idx="41">
                    <c:v>ラベル 42</c:v>
                  </c:pt>
                  <c:pt idx="42">
                    <c:v>ラベル 43</c:v>
                  </c:pt>
                  <c:pt idx="43">
                    <c:v>ラベル 44</c:v>
                  </c:pt>
                  <c:pt idx="44">
                    <c:v>ラベル 45</c:v>
                  </c:pt>
                  <c:pt idx="45">
                    <c:v>ラベル 46</c:v>
                  </c:pt>
                  <c:pt idx="46">
                    <c:v>ラベル 47</c:v>
                  </c:pt>
                  <c:pt idx="47">
                    <c:v>ラベル 48</c:v>
                  </c:pt>
                  <c:pt idx="48">
                    <c:v>ラベル 49</c:v>
                  </c:pt>
                  <c:pt idx="49">
                    <c:v>ラベル 50</c:v>
                  </c:pt>
                </c:lvl>
              </c:multiLvlStrCache>
            </c:multiLvlStrRef>
          </c:cat>
          <c:val>
            <c:numRef>
              <c:f>Sheet1!$B$2:$B$51</c:f>
              <c:numCache>
                <c:formatCode>General</c:formatCode>
                <c:ptCount val="50"/>
                <c:pt idx="0">
                  <c:v>240</c:v>
                </c:pt>
                <c:pt idx="1">
                  <c:v>224</c:v>
                </c:pt>
                <c:pt idx="2">
                  <c:v>210</c:v>
                </c:pt>
                <c:pt idx="3">
                  <c:v>192</c:v>
                </c:pt>
                <c:pt idx="4">
                  <c:v>180</c:v>
                </c:pt>
                <c:pt idx="5">
                  <c:v>154</c:v>
                </c:pt>
                <c:pt idx="6">
                  <c:v>140</c:v>
                </c:pt>
                <c:pt idx="7">
                  <c:v>130</c:v>
                </c:pt>
                <c:pt idx="8">
                  <c:v>118</c:v>
                </c:pt>
                <c:pt idx="9">
                  <c:v>110</c:v>
                </c:pt>
                <c:pt idx="10">
                  <c:v>100</c:v>
                </c:pt>
                <c:pt idx="11">
                  <c:v>92</c:v>
                </c:pt>
                <c:pt idx="12">
                  <c:v>86</c:v>
                </c:pt>
                <c:pt idx="13">
                  <c:v>80</c:v>
                </c:pt>
                <c:pt idx="14">
                  <c:v>74</c:v>
                </c:pt>
                <c:pt idx="15">
                  <c:v>70</c:v>
                </c:pt>
                <c:pt idx="16">
                  <c:v>64</c:v>
                </c:pt>
                <c:pt idx="17">
                  <c:v>60</c:v>
                </c:pt>
                <c:pt idx="18">
                  <c:v>56</c:v>
                </c:pt>
                <c:pt idx="19">
                  <c:v>52</c:v>
                </c:pt>
                <c:pt idx="20">
                  <c:v>48</c:v>
                </c:pt>
                <c:pt idx="21">
                  <c:v>45</c:v>
                </c:pt>
                <c:pt idx="22">
                  <c:v>42</c:v>
                </c:pt>
                <c:pt idx="23">
                  <c:v>39</c:v>
                </c:pt>
                <c:pt idx="24">
                  <c:v>36</c:v>
                </c:pt>
                <c:pt idx="25">
                  <c:v>33</c:v>
                </c:pt>
                <c:pt idx="26">
                  <c:v>31</c:v>
                </c:pt>
                <c:pt idx="27">
                  <c:v>29</c:v>
                </c:pt>
                <c:pt idx="28">
                  <c:v>27</c:v>
                </c:pt>
                <c:pt idx="29">
                  <c:v>25</c:v>
                </c:pt>
                <c:pt idx="30">
                  <c:v>23</c:v>
                </c:pt>
                <c:pt idx="31">
                  <c:v>21</c:v>
                </c:pt>
                <c:pt idx="32">
                  <c:v>20</c:v>
                </c:pt>
                <c:pt idx="33">
                  <c:v>18</c:v>
                </c:pt>
                <c:pt idx="34">
                  <c:v>17</c:v>
                </c:pt>
                <c:pt idx="35">
                  <c:v>15</c:v>
                </c:pt>
                <c:pt idx="36">
                  <c:v>14</c:v>
                </c:pt>
                <c:pt idx="37">
                  <c:v>13</c:v>
                </c:pt>
                <c:pt idx="38">
                  <c:v>12</c:v>
                </c:pt>
                <c:pt idx="39">
                  <c:v>11</c:v>
                </c:pt>
                <c:pt idx="40">
                  <c:v>10</c:v>
                </c:pt>
                <c:pt idx="41">
                  <c:v>9</c:v>
                </c:pt>
                <c:pt idx="42">
                  <c:v>8</c:v>
                </c:pt>
                <c:pt idx="43">
                  <c:v>8</c:v>
                </c:pt>
                <c:pt idx="44">
                  <c:v>7</c:v>
                </c:pt>
                <c:pt idx="45">
                  <c:v>6</c:v>
                </c:pt>
                <c:pt idx="46">
                  <c:v>6</c:v>
                </c:pt>
                <c:pt idx="47">
                  <c:v>5</c:v>
                </c:pt>
                <c:pt idx="48">
                  <c:v>5</c:v>
                </c:pt>
                <c:pt idx="49">
                  <c:v>4</c:v>
                </c:pt>
              </c:numCache>
            </c:numRef>
          </c:val>
        </c:ser>
        <c:dLbls>
          <c:numFmt formatCode="#,##0" sourceLinked="0"/>
          <c:txPr>
            <a:bodyPr/>
            <a:lstStyle/>
            <a:p>
              <a:pPr>
                <a:defRPr b="0" i="0" strike="noStrike" sz="900" u="none">
                  <a:solidFill>
                    <a:srgbClr val="322014"/>
                  </a:solidFill>
                  <a:latin typeface="Yu Gothic"/>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none"/>
        <c:spPr>
          <a:ln w="19050" cap="flat">
            <a:solidFill>
              <a:srgbClr val="322014"/>
            </a:solidFill>
            <a:prstDash val="solid"/>
            <a:round/>
          </a:ln>
        </c:spPr>
        <c:txPr>
          <a:bodyPr/>
          <a:lstStyle/>
          <a:p>
            <a:pPr>
              <a:defRPr sz="90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2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"ranked_bar_annotated", "upstream_commit": "e5dd04dc6f1acf010046d2fc7319bcf5242a849a", "source_pptx_slide": 22,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パーツ17｜分布の順位棒＋注記</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分布の順位棒＋注記</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22</a:t>
            </a:r>
            <a:endParaRPr lang="en-US" sz="750" dirty="0"/>
          </a:p>
        </p:txBody>
      </p:sp>
      <p:sp>
        <p:nvSpPr>
          <p:cNvPr id="10" name="shape:010"/>
          <p:cNvSpPr/>
          <p:nvPr/>
        </p:nvSpPr>
        <p:spPr>
          <a:xfrm>
            <a:off x="576072" y="1572768"/>
            <a:ext cx="639480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6394801" cy="0"/>
          </a:xfrm>
          <a:prstGeom prst="line">
            <a:avLst/>
          </a:prstGeom>
          <a:noFill/>
          <a:ln w="17780">
            <a:solidFill>
              <a:srgbClr val="322014"/>
            </a:solidFill>
            <a:prstDash val="solid"/>
          </a:ln>
        </p:spPr>
        <p:txBody>
          <a:bodyPr>
            <a:noAutofit/>
          </a:bodyPr>
          <a:p/>
        </p:txBody>
      </p:sp>
      <p:sp>
        <p:nvSpPr>
          <p:cNvPr id="12" name="shape:012"/>
          <p:cNvSpPr/>
          <p:nvPr/>
        </p:nvSpPr>
        <p:spPr>
          <a:xfrm>
            <a:off x="477631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単位、YYYY〜YYYY年</a:t>
            </a:r>
            <a:endParaRPr lang="en-US" sz="850" dirty="0"/>
          </a:p>
        </p:txBody>
      </p:sp>
      <p:graphicFrame>
        <p:nvGraphicFramePr>
          <p:cNvPr id="13" name="shape:013" descr=""/>
          <p:cNvGraphicFramePr/>
          <p:nvPr/>
        </p:nvGraphicFramePr>
        <p:xfrm>
          <a:off x="576072" y="2029968"/>
          <a:ext cx="6394801" cy="3887352"/>
        </p:xfrm>
        <a:graphic>
          <a:graphicData uri="http://schemas.openxmlformats.org/drawingml/2006/chart">
            <c:chart xmlns:c="http://schemas.openxmlformats.org/drawingml/2006/chart" r:id="rId2"/>
          </a:graphicData>
        </a:graphic>
      </p:graphicFrame>
      <p:sp>
        <p:nvSpPr>
          <p:cNvPr id="14" name="shape:014"/>
          <p:cNvSpPr/>
          <p:nvPr/>
        </p:nvSpPr>
        <p:spPr>
          <a:xfrm>
            <a:off x="576072" y="6008760"/>
            <a:ext cx="144000" cy="144000"/>
          </a:xfrm>
          <a:prstGeom prst="rect">
            <a:avLst/>
          </a:prstGeom>
          <a:solidFill>
            <a:srgbClr val="5A3921"/>
          </a:solidFill>
          <a:ln/>
        </p:spPr>
        <p:txBody>
          <a:bodyPr>
            <a:noAutofit/>
          </a:bodyPr>
          <a:p/>
        </p:txBody>
      </p:sp>
      <p:sp>
        <p:nvSpPr>
          <p:cNvPr id="15" name="shape:015"/>
          <p:cNvSpPr/>
          <p:nvPr/>
        </p:nvSpPr>
        <p:spPr>
          <a:xfrm>
            <a:off x="774072" y="5989320"/>
            <a:ext cx="41910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上位N社</a:t>
            </a:r>
            <a:endParaRPr lang="en-US" sz="800" dirty="0"/>
          </a:p>
        </p:txBody>
      </p:sp>
      <p:sp>
        <p:nvSpPr>
          <p:cNvPr id="16" name="shape:016"/>
          <p:cNvSpPr/>
          <p:nvPr/>
        </p:nvSpPr>
        <p:spPr>
          <a:xfrm>
            <a:off x="1409172" y="6008760"/>
            <a:ext cx="144000" cy="144000"/>
          </a:xfrm>
          <a:prstGeom prst="rect">
            <a:avLst/>
          </a:prstGeom>
          <a:solidFill>
            <a:srgbClr val="C5A681"/>
          </a:solidFill>
          <a:ln/>
        </p:spPr>
        <p:txBody>
          <a:bodyPr>
            <a:noAutofit/>
          </a:bodyPr>
          <a:p/>
        </p:txBody>
      </p:sp>
      <p:sp>
        <p:nvSpPr>
          <p:cNvPr id="17" name="shape:017"/>
          <p:cNvSpPr/>
          <p:nvPr/>
        </p:nvSpPr>
        <p:spPr>
          <a:xfrm>
            <a:off x="1607172"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その他</a:t>
            </a:r>
            <a:endParaRPr lang="en-US" sz="800" dirty="0"/>
          </a:p>
        </p:txBody>
      </p:sp>
      <p:sp>
        <p:nvSpPr>
          <p:cNvPr id="18" name="shape:018"/>
          <p:cNvSpPr/>
          <p:nvPr/>
        </p:nvSpPr>
        <p:spPr>
          <a:xfrm rot="5400000">
            <a:off x="7114873" y="3764484"/>
            <a:ext cx="360000" cy="216000"/>
          </a:xfrm>
          <a:prstGeom prst="triangle">
            <a:avLst/>
          </a:prstGeom>
          <a:solidFill>
            <a:srgbClr val="C5A681"/>
          </a:solidFill>
          <a:ln/>
        </p:spPr>
        <p:txBody>
          <a:bodyPr>
            <a:noAutofit/>
          </a:bodyPr>
          <a:p/>
        </p:txBody>
      </p:sp>
      <p:sp>
        <p:nvSpPr>
          <p:cNvPr id="19" name="shape:019"/>
          <p:cNvSpPr/>
          <p:nvPr/>
        </p:nvSpPr>
        <p:spPr>
          <a:xfrm>
            <a:off x="7618873" y="1572768"/>
            <a:ext cx="3996750" cy="292608"/>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だから、Text 4に絞る</a:t>
            </a:r>
            <a:endParaRPr lang="en-US" sz="1150" dirty="0"/>
          </a:p>
        </p:txBody>
      </p:sp>
      <p:sp>
        <p:nvSpPr>
          <p:cNvPr id="20" name="shape:020"/>
          <p:cNvSpPr/>
          <p:nvPr/>
        </p:nvSpPr>
        <p:spPr>
          <a:xfrm>
            <a:off x="7618873" y="1901952"/>
            <a:ext cx="3996750" cy="0"/>
          </a:xfrm>
          <a:prstGeom prst="line">
            <a:avLst/>
          </a:prstGeom>
          <a:noFill/>
          <a:ln w="17780">
            <a:solidFill>
              <a:srgbClr val="322014"/>
            </a:solidFill>
            <a:prstDash val="solid"/>
          </a:ln>
        </p:spPr>
        <p:txBody>
          <a:bodyPr>
            <a:noAutofit/>
          </a:bodyPr>
          <a:p/>
        </p:txBody>
      </p:sp>
      <p:sp>
        <p:nvSpPr>
          <p:cNvPr id="21" name="shape:021"/>
          <p:cNvSpPr/>
          <p:nvPr/>
        </p:nvSpPr>
        <p:spPr>
          <a:xfrm>
            <a:off x="7618873" y="2029968"/>
            <a:ext cx="3996750" cy="4142232"/>
          </a:xfrm>
          <a:prstGeom prst="rect">
            <a:avLst/>
          </a:prstGeom>
          <a:noFill/>
          <a:ln/>
        </p:spPr>
        <p:txBody>
          <a:bodyPr wrap="square" lIns="0" tIns="0" rIns="0" bIns="0" rtlCol="0" anchor="ctr">
            <a:noAutofit/>
          </a:bodyPr>
          <a:lstStyle/>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Text 1</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Text 2</a:t>
            </a:r>
            <a:endParaRPr lang="en-US" sz="1000" dirty="0"/>
          </a:p>
          <a:p>
            <a:pPr marL="152400" indent="-152400">
              <a:spcAft>
                <a:spcPts val="600"/>
              </a:spcAft>
              <a:buSzPct val="100000"/>
              <a:buChar char="•"/>
            </a:pPr>
            <a:r>
              <a:rPr lang="en-US" sz="1000" dirty="0">
                <a:solidFill>
                  <a:srgbClr val="322014"/>
                </a:solidFill>
                <a:latin typeface="Yu Gothic" pitchFamily="34" charset="0"/>
                <a:ea typeface="Yu Gothic" pitchFamily="34" charset="-122"/>
                <a:cs typeface="Yu Gothic" pitchFamily="34" charset="-120"/>
              </a:rPr>
              <a:t>Text 3</a:t>
            </a:r>
            <a:endParaRPr lang="en-US" sz="10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分布の順位棒＋注記</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