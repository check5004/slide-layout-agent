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"recommendation_pillars", "upstream_commit": "e5dd04dc6f1acf010046d2fc7319bcf5242a849a", "source_pptx_slide": 66,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20  RECOMMENDATION_PILLARS</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提言の柱</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66</a:t>
            </a:r>
            <a:endParaRPr lang="en-US" sz="750" dirty="0"/>
          </a:p>
        </p:txBody>
      </p:sp>
      <p:sp>
        <p:nvSpPr>
          <p:cNvPr id="10" name="shape:010"/>
          <p:cNvSpPr/>
          <p:nvPr/>
        </p:nvSpPr>
        <p:spPr>
          <a:xfrm>
            <a:off x="576072" y="2660904"/>
            <a:ext cx="3375050" cy="0"/>
          </a:xfrm>
          <a:prstGeom prst="line">
            <a:avLst/>
          </a:prstGeom>
          <a:noFill/>
          <a:ln w="31750">
            <a:solidFill>
              <a:srgbClr val="5A3921"/>
            </a:solidFill>
            <a:prstDash val="solid"/>
          </a:ln>
        </p:spPr>
        <p:txBody>
          <a:bodyPr>
            <a:noAutofit/>
          </a:bodyPr>
          <a:p/>
        </p:txBody>
      </p:sp>
      <p:sp>
        <p:nvSpPr>
          <p:cNvPr id="11" name="shape:011"/>
          <p:cNvSpPr/>
          <p:nvPr/>
        </p:nvSpPr>
        <p:spPr>
          <a:xfrm>
            <a:off x="576072" y="2825496"/>
            <a:ext cx="457200" cy="457200"/>
          </a:xfrm>
          <a:prstGeom prst="ellipse">
            <a:avLst/>
          </a:prstGeom>
          <a:solidFill>
            <a:srgbClr val="5A3921"/>
          </a:solidFill>
          <a:ln/>
        </p:spPr>
        <p:txBody>
          <a:bodyPr>
            <a:noAutofit/>
          </a:bodyPr>
          <a:p/>
        </p:txBody>
      </p:sp>
      <p:sp>
        <p:nvSpPr>
          <p:cNvPr id="12" name="shape:012"/>
          <p:cNvSpPr/>
          <p:nvPr/>
        </p:nvSpPr>
        <p:spPr>
          <a:xfrm>
            <a:off x="57607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13" name="shape:013"/>
          <p:cNvSpPr/>
          <p:nvPr/>
        </p:nvSpPr>
        <p:spPr>
          <a:xfrm>
            <a:off x="57607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2</a:t>
            </a:r>
            <a:endParaRPr lang="en-US" sz="1500" dirty="0"/>
          </a:p>
        </p:txBody>
      </p:sp>
      <p:sp>
        <p:nvSpPr>
          <p:cNvPr id="14" name="shape:014"/>
          <p:cNvSpPr/>
          <p:nvPr/>
        </p:nvSpPr>
        <p:spPr>
          <a:xfrm>
            <a:off x="57607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1</a:t>
            </a:r>
            <a:endParaRPr lang="en-US" sz="1200" dirty="0"/>
          </a:p>
        </p:txBody>
      </p:sp>
      <p:sp>
        <p:nvSpPr>
          <p:cNvPr id="15" name="shape:015"/>
          <p:cNvSpPr/>
          <p:nvPr/>
        </p:nvSpPr>
        <p:spPr>
          <a:xfrm>
            <a:off x="57607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3</a:t>
            </a:r>
            <a:endParaRPr lang="en-US" sz="1200" dirty="0"/>
          </a:p>
        </p:txBody>
      </p:sp>
      <p:sp>
        <p:nvSpPr>
          <p:cNvPr id="16" name="shape:016"/>
          <p:cNvSpPr/>
          <p:nvPr/>
        </p:nvSpPr>
        <p:spPr>
          <a:xfrm>
            <a:off x="4408322" y="2660904"/>
            <a:ext cx="3375050" cy="0"/>
          </a:xfrm>
          <a:prstGeom prst="line">
            <a:avLst/>
          </a:prstGeom>
          <a:noFill/>
          <a:ln w="31750">
            <a:solidFill>
              <a:srgbClr val="5A3921"/>
            </a:solidFill>
            <a:prstDash val="solid"/>
          </a:ln>
        </p:spPr>
        <p:txBody>
          <a:bodyPr>
            <a:noAutofit/>
          </a:bodyPr>
          <a:p/>
        </p:txBody>
      </p:sp>
      <p:sp>
        <p:nvSpPr>
          <p:cNvPr id="17" name="shape:017"/>
          <p:cNvSpPr/>
          <p:nvPr/>
        </p:nvSpPr>
        <p:spPr>
          <a:xfrm>
            <a:off x="4408322" y="2825496"/>
            <a:ext cx="457200" cy="457200"/>
          </a:xfrm>
          <a:prstGeom prst="ellipse">
            <a:avLst/>
          </a:prstGeom>
          <a:solidFill>
            <a:srgbClr val="5A3921"/>
          </a:solidFill>
          <a:ln/>
        </p:spPr>
        <p:txBody>
          <a:bodyPr>
            <a:noAutofit/>
          </a:bodyPr>
          <a:p/>
        </p:txBody>
      </p:sp>
      <p:sp>
        <p:nvSpPr>
          <p:cNvPr id="18" name="shape:018"/>
          <p:cNvSpPr/>
          <p:nvPr/>
        </p:nvSpPr>
        <p:spPr>
          <a:xfrm>
            <a:off x="4408322"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19" name="shape:019"/>
          <p:cNvSpPr/>
          <p:nvPr/>
        </p:nvSpPr>
        <p:spPr>
          <a:xfrm>
            <a:off x="4408322"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3</a:t>
            </a:r>
            <a:endParaRPr lang="en-US" sz="1500" dirty="0"/>
          </a:p>
        </p:txBody>
      </p:sp>
      <p:sp>
        <p:nvSpPr>
          <p:cNvPr id="20" name="shape:020"/>
          <p:cNvSpPr/>
          <p:nvPr/>
        </p:nvSpPr>
        <p:spPr>
          <a:xfrm>
            <a:off x="4408322"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4</a:t>
            </a:r>
            <a:endParaRPr lang="en-US" sz="1200" dirty="0"/>
          </a:p>
        </p:txBody>
      </p:sp>
      <p:sp>
        <p:nvSpPr>
          <p:cNvPr id="21" name="shape:021"/>
          <p:cNvSpPr/>
          <p:nvPr/>
        </p:nvSpPr>
        <p:spPr>
          <a:xfrm>
            <a:off x="4408322"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5</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6</a:t>
            </a:r>
            <a:endParaRPr lang="en-US" sz="1200" dirty="0"/>
          </a:p>
        </p:txBody>
      </p:sp>
      <p:sp>
        <p:nvSpPr>
          <p:cNvPr id="22" name="shape:022"/>
          <p:cNvSpPr/>
          <p:nvPr/>
        </p:nvSpPr>
        <p:spPr>
          <a:xfrm>
            <a:off x="8240573" y="2660904"/>
            <a:ext cx="3375050" cy="0"/>
          </a:xfrm>
          <a:prstGeom prst="line">
            <a:avLst/>
          </a:prstGeom>
          <a:noFill/>
          <a:ln w="31750">
            <a:solidFill>
              <a:srgbClr val="5A3921"/>
            </a:solidFill>
            <a:prstDash val="solid"/>
          </a:ln>
        </p:spPr>
        <p:txBody>
          <a:bodyPr>
            <a:noAutofit/>
          </a:bodyPr>
          <a:p/>
        </p:txBody>
      </p:sp>
      <p:sp>
        <p:nvSpPr>
          <p:cNvPr id="23" name="shape:023"/>
          <p:cNvSpPr/>
          <p:nvPr/>
        </p:nvSpPr>
        <p:spPr>
          <a:xfrm>
            <a:off x="8240573" y="2825496"/>
            <a:ext cx="457200" cy="457200"/>
          </a:xfrm>
          <a:prstGeom prst="ellipse">
            <a:avLst/>
          </a:prstGeom>
          <a:solidFill>
            <a:srgbClr val="5A3921"/>
          </a:solidFill>
          <a:ln/>
        </p:spPr>
        <p:txBody>
          <a:bodyPr>
            <a:noAutofit/>
          </a:bodyPr>
          <a:p/>
        </p:txBody>
      </p:sp>
      <p:sp>
        <p:nvSpPr>
          <p:cNvPr id="24" name="shape:024"/>
          <p:cNvSpPr/>
          <p:nvPr/>
        </p:nvSpPr>
        <p:spPr>
          <a:xfrm>
            <a:off x="8240573" y="2825496"/>
            <a:ext cx="457200" cy="457200"/>
          </a:xfrm>
          <a:prstGeom prst="rect">
            <a:avLst/>
          </a:prstGeom>
          <a:noFill/>
          <a:ln/>
        </p:spPr>
        <p:txBody>
          <a:bodyPr wrap="square" lIns="381" tIns="381" rIns="381" bIns="381" rtlCol="0" anchor="ctr">
            <a:noAutofit/>
          </a:bodyPr>
          <a:lstStyle/>
          <a:p>
            <a:pPr algn="ctr" indent="0" marL="0">
              <a:buNone/>
            </a:pPr>
            <a:r>
              <a:rPr lang="en-US" sz="1600" b="1" dirty="0">
                <a:solidFill>
                  <a:srgbClr val="FFFFFF"/>
                </a:solidFill>
                <a:latin typeface="Yu Gothic" pitchFamily="34" charset="0"/>
                <a:ea typeface="Yu Gothic" pitchFamily="34" charset="-122"/>
                <a:cs typeface="Yu Gothic" pitchFamily="34" charset="-120"/>
              </a:rPr>
              <a:t>3</a:t>
            </a:r>
            <a:endParaRPr lang="en-US" sz="1600" dirty="0"/>
          </a:p>
        </p:txBody>
      </p:sp>
      <p:sp>
        <p:nvSpPr>
          <p:cNvPr id="25" name="shape:025"/>
          <p:cNvSpPr/>
          <p:nvPr/>
        </p:nvSpPr>
        <p:spPr>
          <a:xfrm>
            <a:off x="8240573" y="3429000"/>
            <a:ext cx="3375050" cy="45720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4</a:t>
            </a:r>
            <a:endParaRPr lang="en-US" sz="1500" dirty="0"/>
          </a:p>
        </p:txBody>
      </p:sp>
      <p:sp>
        <p:nvSpPr>
          <p:cNvPr id="26" name="shape:026"/>
          <p:cNvSpPr/>
          <p:nvPr/>
        </p:nvSpPr>
        <p:spPr>
          <a:xfrm>
            <a:off x="8240573" y="3941064"/>
            <a:ext cx="3375050" cy="548640"/>
          </a:xfrm>
          <a:prstGeom prst="rect">
            <a:avLst/>
          </a:prstGeom>
          <a:noFill/>
          <a:ln/>
        </p:spPr>
        <p:txBody>
          <a:bodyPr wrap="square" lIns="381" tIns="381" rIns="381" bIns="381" rtlCol="0" anchor="t">
            <a:noAutofit/>
          </a:bodyPr>
          <a:lstStyle/>
          <a:p>
            <a:pPr algn="l" indent="0" marL="0">
              <a:buNone/>
            </a:pPr>
            <a:r>
              <a:rPr lang="en-US" sz="1200" dirty="0">
                <a:solidFill>
                  <a:srgbClr val="322014"/>
                </a:solidFill>
                <a:latin typeface="Yu Gothic" pitchFamily="34" charset="0"/>
                <a:ea typeface="Yu Gothic" pitchFamily="34" charset="-122"/>
                <a:cs typeface="Yu Gothic" pitchFamily="34" charset="-120"/>
              </a:rPr>
              <a:t>Text 7</a:t>
            </a:r>
            <a:endParaRPr lang="en-US" sz="1200" dirty="0"/>
          </a:p>
        </p:txBody>
      </p:sp>
      <p:sp>
        <p:nvSpPr>
          <p:cNvPr id="27" name="shape:027"/>
          <p:cNvSpPr/>
          <p:nvPr/>
        </p:nvSpPr>
        <p:spPr>
          <a:xfrm>
            <a:off x="8240573" y="4581144"/>
            <a:ext cx="3375050" cy="182880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8</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9</a:t>
            </a:r>
            <a:endParaRPr lang="en-US" sz="1200" dirty="0"/>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提言の柱</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