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025949686441288856"/>
          <c:w val="0.9948498207737628"/>
          <c:h val="0.8702515677935557"/>
        </c:manualLayout>
      </c:layout>
      <c:lineChart>
        <c:varyColors val="0"/>
        <c:ser>
          <c:idx val="0"/>
          <c:order val="0"/>
          <c:tx>
            <c:strRef>
              <c:f>Sheet1!$B$1</c:f>
              <c:strCache>
                <c:ptCount val="1"/>
                <c:pt idx="0">
                  <c:v>Text 3が進む場合</c:v>
                </c:pt>
              </c:strCache>
            </c:strRef>
          </c:tx>
          <c:spPr>
            <a:solidFill>
              <a:srgbClr val="322014"/>
            </a:solidFill>
            <a:ln w="28575" cap="flat">
              <a:solidFill>
                <a:srgbClr val="32201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22014"/>
              </a:solidFill>
              <a:ln w="9525" cap="flat">
                <a:solidFill>
                  <a:srgbClr val="322014"/>
                </a:solidFill>
                <a:prstDash val="solid"/>
                <a:round/>
              </a:ln>
              <a:effectLst/>
            </c:spPr>
          </c:marker>
          <c:cat>
            <c:multiLvlStrRef>
              <c:f>Sheet1!$A$2:$A$7</c:f>
              <c:multiLvlStrCache>
                <c:ptCount val="6"/>
                <c:lvl>
                  <c:pt idx="0">
                    <c:v>YYYY</c:v>
                  </c:pt>
                  <c:pt idx="1">
                    <c:v>YYYY</c:v>
                  </c:pt>
                  <c:pt idx="2">
                    <c:v>YYYY</c:v>
                  </c:pt>
                  <c:pt idx="3">
                    <c:v>YYYY</c:v>
                  </c:pt>
                  <c:pt idx="4">
                    <c:v>YYYY</c:v>
                  </c:pt>
                  <c:pt idx="5">
                    <c:v>YYYY</c:v>
                  </c:pt>
                </c:lvl>
              </c:multiLvlStrCache>
            </c:multiLvlStrRef>
          </c:cat>
          <c:val>
            <c:numRef>
              <c:f>Sheet1!$B$2:$B$7</c:f>
              <c:numCache>
                <c:formatCode>General</c:formatCode>
                <c:ptCount val="6"/>
                <c:pt idx="0">
                  <c:v>35</c:v>
                </c:pt>
                <c:pt idx="1">
                  <c:v>44</c:v>
                </c:pt>
                <c:pt idx="2">
                  <c:v>56</c:v>
                </c:pt>
                <c:pt idx="3">
                  <c:v>72</c:v>
                </c:pt>
                <c:pt idx="4">
                  <c:v>91</c:v>
                </c:pt>
                <c:pt idx="5">
                  <c:v>114</c:v>
                </c:pt>
              </c:numCache>
            </c:numRef>
          </c:val>
          <c:smooth val="0"/>
        </c:ser>
        <c:ser>
          <c:idx val="1"/>
          <c:order val="1"/>
          <c:tx>
            <c:strRef>
              <c:f>Sheet1!$C$1</c:f>
              <c:strCache>
                <c:ptCount val="1"/>
                <c:pt idx="0">
                  <c:v>現状の延長</c:v>
                </c:pt>
              </c:strCache>
            </c:strRef>
          </c:tx>
          <c:spPr>
            <a:solidFill>
              <a:srgbClr val="5A3921"/>
            </a:solidFill>
            <a:ln w="28575" cap="flat">
              <a:solidFill>
                <a:srgbClr val="5A392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A3921"/>
              </a:solidFill>
              <a:ln w="9525" cap="flat">
                <a:solidFill>
                  <a:srgbClr val="5A3921"/>
                </a:solidFill>
                <a:prstDash val="solid"/>
                <a:round/>
              </a:ln>
              <a:effectLst/>
            </c:spPr>
          </c:marker>
          <c:cat>
            <c:multiLvlStrRef>
              <c:f>Sheet1!$A$2:$A$7</c:f>
              <c:multiLvlStrCache>
                <c:ptCount val="6"/>
                <c:lvl>
                  <c:pt idx="0">
                    <c:v>YYYY</c:v>
                  </c:pt>
                  <c:pt idx="1">
                    <c:v>YYYY</c:v>
                  </c:pt>
                  <c:pt idx="2">
                    <c:v>YYYY</c:v>
                  </c:pt>
                  <c:pt idx="3">
                    <c:v>YYYY</c:v>
                  </c:pt>
                  <c:pt idx="4">
                    <c:v>YYYY</c:v>
                  </c:pt>
                  <c:pt idx="5">
                    <c:v>YYYY</c:v>
                  </c:pt>
                </c:lvl>
              </c:multiLvlStrCache>
            </c:multiLvlStrRef>
          </c:cat>
          <c:val>
            <c:numRef>
              <c:f>Sheet1!$C$2:$C$7</c:f>
              <c:numCache>
                <c:formatCode>General</c:formatCode>
                <c:ptCount val="6"/>
                <c:pt idx="0">
                  <c:v>35</c:v>
                </c:pt>
                <c:pt idx="1">
                  <c:v>43</c:v>
                </c:pt>
                <c:pt idx="2">
                  <c:v>53</c:v>
                </c:pt>
                <c:pt idx="3">
                  <c:v>65</c:v>
                </c:pt>
                <c:pt idx="4">
                  <c:v>80</c:v>
                </c:pt>
                <c:pt idx="5">
                  <c:v>96</c:v>
                </c:pt>
              </c:numCache>
            </c:numRef>
          </c:val>
          <c:smooth val="0"/>
        </c:ser>
        <c:ser>
          <c:idx val="2"/>
          <c:order val="2"/>
          <c:tx>
            <c:strRef>
              <c:f>Sheet1!$D$1</c:f>
              <c:strCache>
                <c:ptCount val="1"/>
                <c:pt idx="0">
                  <c:v>Text 4が遅れる場合</c:v>
                </c:pt>
              </c:strCache>
            </c:strRef>
          </c:tx>
          <c:spPr>
            <a:solidFill>
              <a:srgbClr val="C5A681"/>
            </a:solidFill>
            <a:ln w="28575" cap="flat">
              <a:solidFill>
                <a:srgbClr val="C5A68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5A681"/>
              </a:solidFill>
              <a:ln w="9525" cap="flat">
                <a:solidFill>
                  <a:srgbClr val="C5A681"/>
                </a:solidFill>
                <a:prstDash val="solid"/>
                <a:round/>
              </a:ln>
              <a:effectLst/>
            </c:spPr>
          </c:marker>
          <c:cat>
            <c:multiLvlStrRef>
              <c:f>Sheet1!$A$2:$A$7</c:f>
              <c:multiLvlStrCache>
                <c:ptCount val="6"/>
                <c:lvl>
                  <c:pt idx="0">
                    <c:v>YYYY</c:v>
                  </c:pt>
                  <c:pt idx="1">
                    <c:v>YYYY</c:v>
                  </c:pt>
                  <c:pt idx="2">
                    <c:v>YYYY</c:v>
                  </c:pt>
                  <c:pt idx="3">
                    <c:v>YYYY</c:v>
                  </c:pt>
                  <c:pt idx="4">
                    <c:v>YYYY</c:v>
                  </c:pt>
                  <c:pt idx="5">
                    <c:v>YYYY</c:v>
                  </c:pt>
                </c:lvl>
              </c:multiLvlStrCache>
            </c:multiLvlStrRef>
          </c:cat>
          <c:val>
            <c:numRef>
              <c:f>Sheet1!$D$2:$D$7</c:f>
              <c:numCache>
                <c:formatCode>General</c:formatCode>
                <c:ptCount val="6"/>
                <c:pt idx="0">
                  <c:v>35</c:v>
                </c:pt>
                <c:pt idx="1">
                  <c:v>42</c:v>
                </c:pt>
                <c:pt idx="2">
                  <c:v>50</c:v>
                </c:pt>
                <c:pt idx="3">
                  <c:v>59</c:v>
                </c:pt>
                <c:pt idx="4">
                  <c:v>70</c:v>
                </c:pt>
                <c:pt idx="5">
                  <c:v>81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9050" cap="flat">
            <a:solidFill>
              <a:srgbClr val="322014"/>
            </a:solidFill>
            <a:prstDash val="solid"/>
            <a:round/>
          </a:ln>
        </c:spPr>
        <c:txPr>
          <a:bodyPr/>
          <a:lstStyle/>
          <a:p>
            <a:pPr>
              <a:defRPr sz="1050" b="0" i="0" u="none" strike="noStrike">
                <a:solidFill>
                  <a:srgbClr val="322014"/>
                </a:solidFill>
                <a:latin typeface="Yu Gothic"/>
              </a:defRPr>
            </a:pPr>
            <a:endParaRPr lang="en-US"/>
          </a:p>
        </c:txPr>
        <c:crossAx val="2094734552"/>
        <c:crosses val="autoZero"/>
        <c:auto val="1"/>
        <c:lblAlgn val="ctr"/>
        <c:noMultiLvlLbl val="1"/>
      </c:catAx>
      <c:valAx>
        <c:axId val="2094734552"/>
        <c:scaling>
          <c:orientation val="minMax"/>
          <c:max val="13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"scenario_lines_cagr", "upstream_commit": "e5dd04dc6f1acf010046d2fc7319bcf5242a849a", "source_pptx_slide": 19,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パーツ24｜シナリオ線＋成長率チップ</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シナリオ線＋成長率チップ</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19</a:t>
            </a:r>
            <a:endParaRPr lang="en-US" sz="750" dirty="0"/>
          </a:p>
        </p:txBody>
      </p:sp>
      <p:sp>
        <p:nvSpPr>
          <p:cNvPr id="10" name="shape:010"/>
          <p:cNvSpPr/>
          <p:nvPr/>
        </p:nvSpPr>
        <p:spPr>
          <a:xfrm>
            <a:off x="576072" y="1572768"/>
            <a:ext cx="11039551" cy="292608"/>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指標名</a:t>
            </a:r>
            <a:endParaRPr lang="en-US" sz="1150" dirty="0"/>
          </a:p>
        </p:txBody>
      </p:sp>
      <p:sp>
        <p:nvSpPr>
          <p:cNvPr id="11" name="shape:011"/>
          <p:cNvSpPr/>
          <p:nvPr/>
        </p:nvSpPr>
        <p:spPr>
          <a:xfrm>
            <a:off x="576072" y="1901952"/>
            <a:ext cx="11039551" cy="0"/>
          </a:xfrm>
          <a:prstGeom prst="line">
            <a:avLst/>
          </a:prstGeom>
          <a:noFill/>
          <a:ln w="17780">
            <a:solidFill>
              <a:srgbClr val="322014"/>
            </a:solidFill>
            <a:prstDash val="solid"/>
          </a:ln>
        </p:spPr>
        <p:txBody>
          <a:bodyPr>
            <a:noAutofit/>
          </a:bodyPr>
          <a:p/>
        </p:txBody>
      </p:sp>
      <p:sp>
        <p:nvSpPr>
          <p:cNvPr id="12" name="shape:012"/>
          <p:cNvSpPr/>
          <p:nvPr/>
        </p:nvSpPr>
        <p:spPr>
          <a:xfrm>
            <a:off x="9421063" y="1627632"/>
            <a:ext cx="2194560" cy="237744"/>
          </a:xfrm>
          <a:prstGeom prst="rect">
            <a:avLst/>
          </a:prstGeom>
          <a:noFill/>
          <a:ln/>
        </p:spPr>
        <p:txBody>
          <a:bodyPr wrap="square" lIns="0" tIns="0" rIns="0" bIns="0" rtlCol="0" anchor="b">
            <a:noAutofit/>
          </a:bodyPr>
          <a:lstStyle/>
          <a:p>
            <a:pPr algn="r" indent="0" marL="0">
              <a:buNone/>
            </a:pPr>
            <a:r>
              <a:rPr lang="en-US" sz="850" dirty="0">
                <a:solidFill>
                  <a:srgbClr val="8A7B6B"/>
                </a:solidFill>
                <a:latin typeface="Yu Gothic" pitchFamily="34" charset="0"/>
                <a:ea typeface="Yu Gothic" pitchFamily="34" charset="-122"/>
                <a:cs typeface="Yu Gothic" pitchFamily="34" charset="-120"/>
              </a:rPr>
              <a:t>単位、YYYY〜YYYY年</a:t>
            </a:r>
            <a:endParaRPr lang="en-US" sz="850" dirty="0"/>
          </a:p>
        </p:txBody>
      </p:sp>
      <p:graphicFrame>
        <p:nvGraphicFramePr>
          <p:cNvPr id="13" name="shape:013" descr=""/>
          <p:cNvGraphicFramePr/>
          <p:nvPr/>
        </p:nvGraphicFramePr>
        <p:xfrm>
          <a:off x="576072" y="2233602"/>
          <a:ext cx="8877361" cy="3523742"/>
        </p:xfrm>
        <a:graphic>
          <a:graphicData uri="http://schemas.openxmlformats.org/drawingml/2006/chart">
            <c:chart xmlns:c="http://schemas.openxmlformats.org/drawingml/2006/chart" r:id="rId2"/>
          </a:graphicData>
        </a:graphic>
      </p:graphicFrame>
      <p:sp>
        <p:nvSpPr>
          <p:cNvPr id="14" name="shape:014"/>
          <p:cNvSpPr/>
          <p:nvPr/>
        </p:nvSpPr>
        <p:spPr>
          <a:xfrm>
            <a:off x="8763183" y="2574447"/>
            <a:ext cx="822960" cy="256032"/>
          </a:xfrm>
          <a:prstGeom prst="rect">
            <a:avLst/>
          </a:prstGeom>
          <a:noFill/>
          <a:ln/>
        </p:spPr>
        <p:txBody>
          <a:bodyPr wrap="square" lIns="0" tIns="0" rIns="0" bIns="0"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114</a:t>
            </a:r>
            <a:endParaRPr lang="en-US" sz="1200" dirty="0"/>
          </a:p>
        </p:txBody>
      </p:sp>
      <p:sp>
        <p:nvSpPr>
          <p:cNvPr id="15" name="shape:015"/>
          <p:cNvSpPr/>
          <p:nvPr/>
        </p:nvSpPr>
        <p:spPr>
          <a:xfrm>
            <a:off x="8763183" y="2999045"/>
            <a:ext cx="822960" cy="256032"/>
          </a:xfrm>
          <a:prstGeom prst="rect">
            <a:avLst/>
          </a:prstGeom>
          <a:noFill/>
          <a:ln/>
        </p:spPr>
        <p:txBody>
          <a:bodyPr wrap="square" lIns="0" tIns="0" rIns="0" bIns="0"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96</a:t>
            </a:r>
            <a:endParaRPr lang="en-US" sz="1200" dirty="0"/>
          </a:p>
        </p:txBody>
      </p:sp>
      <p:sp>
        <p:nvSpPr>
          <p:cNvPr id="16" name="shape:016"/>
          <p:cNvSpPr/>
          <p:nvPr/>
        </p:nvSpPr>
        <p:spPr>
          <a:xfrm>
            <a:off x="8763183" y="3352877"/>
            <a:ext cx="822960" cy="256032"/>
          </a:xfrm>
          <a:prstGeom prst="rect">
            <a:avLst/>
          </a:prstGeom>
          <a:noFill/>
          <a:ln/>
        </p:spPr>
        <p:txBody>
          <a:bodyPr wrap="square" lIns="0" tIns="0" rIns="0" bIns="0"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81</a:t>
            </a:r>
            <a:endParaRPr lang="en-US" sz="1200" dirty="0"/>
          </a:p>
        </p:txBody>
      </p:sp>
      <p:sp>
        <p:nvSpPr>
          <p:cNvPr id="17" name="shape:017"/>
          <p:cNvSpPr/>
          <p:nvPr/>
        </p:nvSpPr>
        <p:spPr>
          <a:xfrm>
            <a:off x="10021021" y="2079719"/>
            <a:ext cx="1775257" cy="219456"/>
          </a:xfrm>
          <a:prstGeom prst="rect">
            <a:avLst/>
          </a:prstGeom>
          <a:noFill/>
          <a:ln/>
        </p:spPr>
        <p:txBody>
          <a:bodyPr wrap="square" lIns="0" tIns="0" rIns="0" bIns="0" rtlCol="0" anchor="ctr">
            <a:noAutofit/>
          </a:bodyPr>
          <a:lstStyle/>
          <a:p>
            <a:pPr algn="l" indent="0" marL="0">
              <a:buNone/>
            </a:pPr>
            <a:r>
              <a:rPr lang="en-US" sz="1000" b="1" dirty="0">
                <a:solidFill>
                  <a:srgbClr val="322014"/>
                </a:solidFill>
                <a:latin typeface="Yu Gothic" pitchFamily="34" charset="0"/>
                <a:ea typeface="Yu Gothic" pitchFamily="34" charset="-122"/>
                <a:cs typeface="Yu Gothic" pitchFamily="34" charset="-120"/>
              </a:rPr>
              <a:t>年平均成長率</a:t>
            </a:r>
            <a:endParaRPr lang="en-US" sz="1000" dirty="0"/>
          </a:p>
        </p:txBody>
      </p:sp>
      <p:sp>
        <p:nvSpPr>
          <p:cNvPr id="18" name="shape:018"/>
          <p:cNvSpPr/>
          <p:nvPr/>
        </p:nvSpPr>
        <p:spPr>
          <a:xfrm>
            <a:off x="10021021" y="2543003"/>
            <a:ext cx="1226617" cy="318920"/>
          </a:xfrm>
          <a:prstGeom prst="rect">
            <a:avLst/>
          </a:prstGeom>
          <a:solidFill>
            <a:srgbClr val="322014"/>
          </a:solidFill>
          <a:ln/>
        </p:spPr>
        <p:txBody>
          <a:bodyPr>
            <a:noAutofit/>
          </a:bodyPr>
          <a:p/>
        </p:txBody>
      </p:sp>
      <p:sp>
        <p:nvSpPr>
          <p:cNvPr id="19" name="shape:019"/>
          <p:cNvSpPr/>
          <p:nvPr/>
        </p:nvSpPr>
        <p:spPr>
          <a:xfrm>
            <a:off x="10021021" y="2543003"/>
            <a:ext cx="1226617" cy="318920"/>
          </a:xfrm>
          <a:prstGeom prst="rect">
            <a:avLst/>
          </a:prstGeom>
          <a:noFill/>
          <a:ln/>
        </p:spPr>
        <p:txBody>
          <a:bodyPr wrap="square" lIns="0" tIns="0" rIns="0" bIns="0" rtlCol="0" anchor="ctr">
            <a:noAutofit/>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27%</a:t>
            </a:r>
            <a:endParaRPr lang="en-US" sz="1100" dirty="0"/>
          </a:p>
        </p:txBody>
      </p:sp>
      <p:sp>
        <p:nvSpPr>
          <p:cNvPr id="20" name="shape:020"/>
          <p:cNvSpPr/>
          <p:nvPr/>
        </p:nvSpPr>
        <p:spPr>
          <a:xfrm>
            <a:off x="10021021" y="2967601"/>
            <a:ext cx="1226617" cy="318920"/>
          </a:xfrm>
          <a:prstGeom prst="rect">
            <a:avLst/>
          </a:prstGeom>
          <a:solidFill>
            <a:srgbClr val="5A3921"/>
          </a:solidFill>
          <a:ln/>
        </p:spPr>
        <p:txBody>
          <a:bodyPr>
            <a:noAutofit/>
          </a:bodyPr>
          <a:p/>
        </p:txBody>
      </p:sp>
      <p:sp>
        <p:nvSpPr>
          <p:cNvPr id="21" name="shape:021"/>
          <p:cNvSpPr/>
          <p:nvPr/>
        </p:nvSpPr>
        <p:spPr>
          <a:xfrm>
            <a:off x="10021021" y="2967601"/>
            <a:ext cx="1226617" cy="318920"/>
          </a:xfrm>
          <a:prstGeom prst="rect">
            <a:avLst/>
          </a:prstGeom>
          <a:noFill/>
          <a:ln/>
        </p:spPr>
        <p:txBody>
          <a:bodyPr wrap="square" lIns="0" tIns="0" rIns="0" bIns="0" rtlCol="0" anchor="ctr">
            <a:noAutofit/>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23%</a:t>
            </a:r>
            <a:endParaRPr lang="en-US" sz="1100" dirty="0"/>
          </a:p>
        </p:txBody>
      </p:sp>
      <p:sp>
        <p:nvSpPr>
          <p:cNvPr id="22" name="shape:022"/>
          <p:cNvSpPr/>
          <p:nvPr/>
        </p:nvSpPr>
        <p:spPr>
          <a:xfrm>
            <a:off x="10021021" y="3359673"/>
            <a:ext cx="1226617" cy="318920"/>
          </a:xfrm>
          <a:prstGeom prst="rect">
            <a:avLst/>
          </a:prstGeom>
          <a:solidFill>
            <a:srgbClr val="C5A681"/>
          </a:solidFill>
          <a:ln/>
        </p:spPr>
        <p:txBody>
          <a:bodyPr>
            <a:noAutofit/>
          </a:bodyPr>
          <a:p/>
        </p:txBody>
      </p:sp>
      <p:sp>
        <p:nvSpPr>
          <p:cNvPr id="23" name="shape:023"/>
          <p:cNvSpPr/>
          <p:nvPr/>
        </p:nvSpPr>
        <p:spPr>
          <a:xfrm>
            <a:off x="10021021" y="3359673"/>
            <a:ext cx="1226617" cy="318920"/>
          </a:xfrm>
          <a:prstGeom prst="rect">
            <a:avLst/>
          </a:prstGeom>
          <a:noFill/>
          <a:ln/>
        </p:spPr>
        <p:txBody>
          <a:bodyPr wrap="square" lIns="0" tIns="0" rIns="0" bIns="0" rtlCol="0" anchor="ctr">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19%</a:t>
            </a:r>
            <a:endParaRPr lang="en-US" sz="1100" dirty="0"/>
          </a:p>
        </p:txBody>
      </p:sp>
      <p:sp>
        <p:nvSpPr>
          <p:cNvPr id="24" name="shape:024"/>
          <p:cNvSpPr/>
          <p:nvPr/>
        </p:nvSpPr>
        <p:spPr>
          <a:xfrm>
            <a:off x="8105503" y="6008760"/>
            <a:ext cx="144000" cy="144000"/>
          </a:xfrm>
          <a:prstGeom prst="rect">
            <a:avLst/>
          </a:prstGeom>
          <a:solidFill>
            <a:srgbClr val="322014"/>
          </a:solidFill>
          <a:ln/>
        </p:spPr>
        <p:txBody>
          <a:bodyPr>
            <a:noAutofit/>
          </a:bodyPr>
          <a:p/>
        </p:txBody>
      </p:sp>
      <p:sp>
        <p:nvSpPr>
          <p:cNvPr id="25" name="shape:025"/>
          <p:cNvSpPr/>
          <p:nvPr/>
        </p:nvSpPr>
        <p:spPr>
          <a:xfrm>
            <a:off x="8303503" y="5989320"/>
            <a:ext cx="899160"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Text 3が進む場合</a:t>
            </a:r>
            <a:endParaRPr lang="en-US" sz="800" dirty="0"/>
          </a:p>
        </p:txBody>
      </p:sp>
      <p:sp>
        <p:nvSpPr>
          <p:cNvPr id="26" name="shape:026"/>
          <p:cNvSpPr/>
          <p:nvPr/>
        </p:nvSpPr>
        <p:spPr>
          <a:xfrm>
            <a:off x="9418663" y="6008760"/>
            <a:ext cx="144000" cy="144000"/>
          </a:xfrm>
          <a:prstGeom prst="rect">
            <a:avLst/>
          </a:prstGeom>
          <a:solidFill>
            <a:srgbClr val="5A3921"/>
          </a:solidFill>
          <a:ln/>
        </p:spPr>
        <p:txBody>
          <a:bodyPr>
            <a:noAutofit/>
          </a:bodyPr>
          <a:p/>
        </p:txBody>
      </p:sp>
      <p:sp>
        <p:nvSpPr>
          <p:cNvPr id="27" name="shape:027"/>
          <p:cNvSpPr/>
          <p:nvPr/>
        </p:nvSpPr>
        <p:spPr>
          <a:xfrm>
            <a:off x="9616663" y="5989320"/>
            <a:ext cx="579120"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現状の延長</a:t>
            </a:r>
            <a:endParaRPr lang="en-US" sz="800" dirty="0"/>
          </a:p>
        </p:txBody>
      </p:sp>
      <p:sp>
        <p:nvSpPr>
          <p:cNvPr id="28" name="shape:028"/>
          <p:cNvSpPr/>
          <p:nvPr/>
        </p:nvSpPr>
        <p:spPr>
          <a:xfrm>
            <a:off x="10411783" y="6008760"/>
            <a:ext cx="144000" cy="144000"/>
          </a:xfrm>
          <a:prstGeom prst="rect">
            <a:avLst/>
          </a:prstGeom>
          <a:solidFill>
            <a:srgbClr val="C5A681"/>
          </a:solidFill>
          <a:ln/>
        </p:spPr>
        <p:txBody>
          <a:bodyPr>
            <a:noAutofit/>
          </a:bodyPr>
          <a:p/>
        </p:txBody>
      </p:sp>
      <p:sp>
        <p:nvSpPr>
          <p:cNvPr id="29" name="shape:029"/>
          <p:cNvSpPr/>
          <p:nvPr/>
        </p:nvSpPr>
        <p:spPr>
          <a:xfrm>
            <a:off x="10609783" y="5989320"/>
            <a:ext cx="1005840"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Text 4が遅れる場合</a:t>
            </a:r>
            <a:endParaRPr lang="en-US" sz="800" dirty="0"/>
          </a:p>
        </p:txBody>
      </p:sp>
      <p:sp>
        <p:nvSpPr>
          <p:cNvPr id="30"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シナリオ線＋成長率チップ</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