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"scenario_table", "upstream_commit": "e5dd04dc6f1acf010046d2fc7319bcf5242a849a", "source_pptx_slide": 29,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11  SCENARIO_TABLE</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シナリオ比較表</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注：前提・注記を記載 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29</a:t>
            </a:r>
            <a:endParaRPr lang="en-US" sz="750" dirty="0"/>
          </a:p>
        </p:txBody>
      </p:sp>
      <p:graphicFrame>
        <p:nvGraphicFramePr>
          <p:cNvPr id="30" name="shape:030"/>
          <p:cNvGraphicFramePr>
            <a:graphicFrameLocks noGrp="1"/>
          </p:cNvGraphicFramePr>
          <p:nvPr>
            <p:extLst>
              <p:ext uri="{D42A27DB-BD31-4B8C-83A1-F6EECF244321}">
                <p14:modId xmlns:p14="http://schemas.microsoft.com/office/powerpoint/2010/main" val="1579011935"/>
              </p:ext>
            </p:extLst>
          </p:nvPr>
        </p:nvGraphicFramePr>
        <p:xfrm>
          <a:off x="576072" y="2029968"/>
          <a:ext cx="11091672" cy="3950208"/>
        </p:xfrm>
        <a:graphic>
          <a:graphicData uri="http://schemas.openxmlformats.org/drawingml/2006/table">
            <a:tbl>
              <a:tblPr/>
              <a:tblGrid>
                <a:gridCol w="1554480"/>
                <a:gridCol w="1737360"/>
                <a:gridCol w="3931920"/>
                <a:gridCol w="3867912"/>
              </a:tblGrid>
              <a:tr h="384048">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シナリオ</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結果</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前提</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経営への含意</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r>
              <a:tr h="1188720">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ラベル1</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b="1" dirty="0">
                          <a:solidFill>
                            <a:srgbClr val="5A3921"/>
                          </a:solidFill>
                          <a:latin typeface="Yu Gothic" pitchFamily="34" charset="0"/>
                          <a:ea typeface="Yu Gothic" pitchFamily="34" charset="-122"/>
                          <a:cs typeface="Yu Gothic" pitchFamily="34" charset="-120"/>
                        </a:rPr>
                        <a:t>Text 1</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前提1-1：TextをTextと置く</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前提1-2：Textは変わらないとする</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Text 1をText 2まで積み増す</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Text 3の判断をN月に前倒す</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r>
              <a:tr h="1188720">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ラベル2</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b="1" dirty="0">
                          <a:solidFill>
                            <a:srgbClr val="5A3921"/>
                          </a:solidFill>
                          <a:latin typeface="Yu Gothic" pitchFamily="34" charset="0"/>
                          <a:ea typeface="Yu Gothic" pitchFamily="34" charset="-122"/>
                          <a:cs typeface="Yu Gothic" pitchFamily="34" charset="-120"/>
                        </a:rPr>
                        <a:t>Text 4</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前提2-1：TextをTextと置く</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前提2-2：Textは変わらないとする</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Text 4をText 5まで積み増す</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Text 6の判断をN月に前倒す</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r>
              <a:tr h="1188720">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ラベル3</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b="1" dirty="0">
                          <a:solidFill>
                            <a:srgbClr val="5A3921"/>
                          </a:solidFill>
                          <a:latin typeface="Yu Gothic" pitchFamily="34" charset="0"/>
                          <a:ea typeface="Yu Gothic" pitchFamily="34" charset="-122"/>
                          <a:cs typeface="Yu Gothic" pitchFamily="34" charset="-120"/>
                        </a:rPr>
                        <a:t>Text 7</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前提3-1：TextをTextと置く</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前提3-2：Textは変わらないとする</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Text 7をText 8まで積み増す</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Text 9の判断をN月に前倒す</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r>
            </a:tbl>
          </a:graphicData>
        </a:graphic>
      </p:graphicFrame>
      <p:sp>
        <p:nvSpPr>
          <p:cNvPr id="3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シナリオ比較表</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