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ラベル2</c:v>
                </c:pt>
                <c:pt idx="1">
                  <c:v>ラベル3</c:v>
                </c:pt>
                <c:pt idx="2">
                  <c:v>ラベル4</c:v>
                </c:pt>
              </c:strCache>
            </c:strRef>
          </c:cat>
          <c:val>
            <c:numRef>
              <c:f>Sheet1!$B$2:$B$4</c:f>
              <c:numCache>
                <c:formatCode>General</c:formatCode>
                <c:ptCount val="3"/>
                <c:pt idx="0">
                  <c:v>20</c:v>
                </c:pt>
                <c:pt idx="1">
                  <c:v>35</c:v>
                </c:pt>
                <c:pt idx="2">
                  <c:v>58</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ラベル6</c:v>
                </c:pt>
                <c:pt idx="1">
                  <c:v>ラベル7</c:v>
                </c:pt>
                <c:pt idx="2">
                  <c:v>ラベル8</c:v>
                </c:pt>
              </c:strCache>
            </c:strRef>
          </c:cat>
          <c:val>
            <c:numRef>
              <c:f>Sheet1!$B$2:$B$4</c:f>
              <c:numCache>
                <c:formatCode>General</c:formatCode>
                <c:ptCount val="3"/>
                <c:pt idx="0">
                  <c:v>15</c:v>
                </c:pt>
                <c:pt idx="1">
                  <c:v>28</c:v>
                </c:pt>
                <c:pt idx="2">
                  <c:v>44</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ラベル10</c:v>
                </c:pt>
                <c:pt idx="1">
                  <c:v>ラベル11</c:v>
                </c:pt>
                <c:pt idx="2">
                  <c:v>ラベル12</c:v>
                </c:pt>
              </c:strCache>
            </c:strRef>
          </c:cat>
          <c:val>
            <c:numRef>
              <c:f>Sheet1!$B$2:$B$4</c:f>
              <c:numCache>
                <c:formatCode>General</c:formatCode>
                <c:ptCount val="3"/>
                <c:pt idx="0">
                  <c:v>8</c:v>
                </c:pt>
                <c:pt idx="1">
                  <c:v>14</c:v>
                </c:pt>
                <c:pt idx="2">
                  <c:v>23</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ラベル14</c:v>
                </c:pt>
                <c:pt idx="1">
                  <c:v>ラベル15</c:v>
                </c:pt>
                <c:pt idx="2">
                  <c:v>ラベル16</c:v>
                </c:pt>
              </c:strCache>
            </c:strRef>
          </c:cat>
          <c:val>
            <c:numRef>
              <c:f>Sheet1!$B$2:$B$4</c:f>
              <c:numCache>
                <c:formatCode>General</c:formatCode>
                <c:ptCount val="3"/>
                <c:pt idx="0">
                  <c:v>12</c:v>
                </c:pt>
                <c:pt idx="1">
                  <c:v>22</c:v>
                </c:pt>
                <c:pt idx="2">
                  <c:v>37</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"small_multiples", "upstream_commit": "e5dd04dc6f1acf010046d2fc7319bcf5242a849a", "source_pptx_slide": 18,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09  SMALL_MULTIPLES</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小図の並列比較</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18</a:t>
            </a:r>
            <a:endParaRPr lang="en-US" sz="750" dirty="0"/>
          </a:p>
        </p:txBody>
      </p:sp>
      <p:sp>
        <p:nvSpPr>
          <p:cNvPr id="10" name="shape:010"/>
          <p:cNvSpPr/>
          <p:nvPr/>
        </p:nvSpPr>
        <p:spPr>
          <a:xfrm>
            <a:off x="576072"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ラベル1</a:t>
            </a:r>
            <a:endParaRPr lang="en-US" sz="1200" dirty="0"/>
          </a:p>
        </p:txBody>
      </p:sp>
      <p:sp>
        <p:nvSpPr>
          <p:cNvPr id="11" name="shape:011"/>
          <p:cNvSpPr/>
          <p:nvPr/>
        </p:nvSpPr>
        <p:spPr>
          <a:xfrm>
            <a:off x="576072" y="2322576"/>
            <a:ext cx="5291176" cy="0"/>
          </a:xfrm>
          <a:prstGeom prst="line">
            <a:avLst/>
          </a:prstGeom>
          <a:noFill/>
          <a:ln w="9525">
            <a:solidFill>
              <a:srgbClr val="E2DCD2"/>
            </a:solidFill>
            <a:prstDash val="solid"/>
          </a:ln>
        </p:spPr>
        <p:txBody>
          <a:bodyPr>
            <a:noAutofit/>
          </a:bodyPr>
          <a:p/>
        </p:txBody>
      </p:sp>
      <p:sp>
        <p:nvSpPr>
          <p:cNvPr id="13" name="shape:013"/>
          <p:cNvSpPr/>
          <p:nvPr/>
        </p:nvSpPr>
        <p:spPr>
          <a:xfrm>
            <a:off x="57607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ラベル2</a:t>
            </a:r>
            <a:endParaRPr lang="en-US" sz="900" dirty="0"/>
          </a:p>
        </p:txBody>
      </p:sp>
      <p:sp>
        <p:nvSpPr>
          <p:cNvPr id="15" name="shape:015"/>
          <p:cNvSpPr/>
          <p:nvPr/>
        </p:nvSpPr>
        <p:spPr>
          <a:xfrm>
            <a:off x="2339797"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ラベル3</a:t>
            </a:r>
            <a:endParaRPr lang="en-US" sz="900" dirty="0"/>
          </a:p>
        </p:txBody>
      </p:sp>
      <p:sp>
        <p:nvSpPr>
          <p:cNvPr id="17" name="shape:017"/>
          <p:cNvSpPr/>
          <p:nvPr/>
        </p:nvSpPr>
        <p:spPr>
          <a:xfrm>
            <a:off x="410352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ラベル4</a:t>
            </a:r>
            <a:endParaRPr lang="en-US" sz="900" dirty="0"/>
          </a:p>
        </p:txBody>
      </p:sp>
      <p:sp>
        <p:nvSpPr>
          <p:cNvPr id="18" name="shape:018"/>
          <p:cNvSpPr/>
          <p:nvPr/>
        </p:nvSpPr>
        <p:spPr>
          <a:xfrm>
            <a:off x="6324448"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ラベル5</a:t>
            </a:r>
            <a:endParaRPr lang="en-US" sz="1200" dirty="0"/>
          </a:p>
        </p:txBody>
      </p:sp>
      <p:sp>
        <p:nvSpPr>
          <p:cNvPr id="19" name="shape:019"/>
          <p:cNvSpPr/>
          <p:nvPr/>
        </p:nvSpPr>
        <p:spPr>
          <a:xfrm>
            <a:off x="6324448" y="2322576"/>
            <a:ext cx="5291176" cy="0"/>
          </a:xfrm>
          <a:prstGeom prst="line">
            <a:avLst/>
          </a:prstGeom>
          <a:noFill/>
          <a:ln w="9525">
            <a:solidFill>
              <a:srgbClr val="E2DCD2"/>
            </a:solidFill>
            <a:prstDash val="solid"/>
          </a:ln>
        </p:spPr>
        <p:txBody>
          <a:bodyPr>
            <a:noAutofit/>
          </a:bodyPr>
          <a:p/>
        </p:txBody>
      </p:sp>
      <p:sp>
        <p:nvSpPr>
          <p:cNvPr id="21" name="shape:021"/>
          <p:cNvSpPr/>
          <p:nvPr/>
        </p:nvSpPr>
        <p:spPr>
          <a:xfrm>
            <a:off x="632444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ラベル6</a:t>
            </a:r>
            <a:endParaRPr lang="en-US" sz="900" dirty="0"/>
          </a:p>
        </p:txBody>
      </p:sp>
      <p:sp>
        <p:nvSpPr>
          <p:cNvPr id="23" name="shape:023"/>
          <p:cNvSpPr/>
          <p:nvPr/>
        </p:nvSpPr>
        <p:spPr>
          <a:xfrm>
            <a:off x="8088173"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ラベル7</a:t>
            </a:r>
            <a:endParaRPr lang="en-US" sz="900" dirty="0"/>
          </a:p>
        </p:txBody>
      </p:sp>
      <p:sp>
        <p:nvSpPr>
          <p:cNvPr id="25" name="shape:025"/>
          <p:cNvSpPr/>
          <p:nvPr/>
        </p:nvSpPr>
        <p:spPr>
          <a:xfrm>
            <a:off x="985189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ラベル8</a:t>
            </a:r>
            <a:endParaRPr lang="en-US" sz="900" dirty="0"/>
          </a:p>
        </p:txBody>
      </p:sp>
      <p:sp>
        <p:nvSpPr>
          <p:cNvPr id="26" name="shape:026"/>
          <p:cNvSpPr/>
          <p:nvPr/>
        </p:nvSpPr>
        <p:spPr>
          <a:xfrm>
            <a:off x="576072"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ラベル9</a:t>
            </a:r>
            <a:endParaRPr lang="en-US" sz="1200" dirty="0"/>
          </a:p>
        </p:txBody>
      </p:sp>
      <p:sp>
        <p:nvSpPr>
          <p:cNvPr id="27" name="shape:027"/>
          <p:cNvSpPr/>
          <p:nvPr/>
        </p:nvSpPr>
        <p:spPr>
          <a:xfrm>
            <a:off x="576072" y="4649724"/>
            <a:ext cx="5291176" cy="0"/>
          </a:xfrm>
          <a:prstGeom prst="line">
            <a:avLst/>
          </a:prstGeom>
          <a:noFill/>
          <a:ln w="9525">
            <a:solidFill>
              <a:srgbClr val="E2DCD2"/>
            </a:solidFill>
            <a:prstDash val="solid"/>
          </a:ln>
        </p:spPr>
        <p:txBody>
          <a:bodyPr>
            <a:noAutofit/>
          </a:bodyPr>
          <a:p/>
        </p:txBody>
      </p:sp>
      <p:sp>
        <p:nvSpPr>
          <p:cNvPr id="29" name="shape:029"/>
          <p:cNvSpPr/>
          <p:nvPr/>
        </p:nvSpPr>
        <p:spPr>
          <a:xfrm>
            <a:off x="57607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ラベル10</a:t>
            </a:r>
            <a:endParaRPr lang="en-US" sz="900" dirty="0"/>
          </a:p>
        </p:txBody>
      </p:sp>
      <p:sp>
        <p:nvSpPr>
          <p:cNvPr id="31" name="shape:031"/>
          <p:cNvSpPr/>
          <p:nvPr/>
        </p:nvSpPr>
        <p:spPr>
          <a:xfrm>
            <a:off x="2339797"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ラベル11</a:t>
            </a:r>
            <a:endParaRPr lang="en-US" sz="900" dirty="0"/>
          </a:p>
        </p:txBody>
      </p:sp>
      <p:sp>
        <p:nvSpPr>
          <p:cNvPr id="33" name="shape:033"/>
          <p:cNvSpPr/>
          <p:nvPr/>
        </p:nvSpPr>
        <p:spPr>
          <a:xfrm>
            <a:off x="410352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ラベル12</a:t>
            </a:r>
            <a:endParaRPr lang="en-US" sz="900" dirty="0"/>
          </a:p>
        </p:txBody>
      </p:sp>
      <p:sp>
        <p:nvSpPr>
          <p:cNvPr id="34" name="shape:034"/>
          <p:cNvSpPr/>
          <p:nvPr/>
        </p:nvSpPr>
        <p:spPr>
          <a:xfrm>
            <a:off x="6324448"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ラベル13</a:t>
            </a:r>
            <a:endParaRPr lang="en-US" sz="1200" dirty="0"/>
          </a:p>
        </p:txBody>
      </p:sp>
      <p:sp>
        <p:nvSpPr>
          <p:cNvPr id="35" name="shape:035"/>
          <p:cNvSpPr/>
          <p:nvPr/>
        </p:nvSpPr>
        <p:spPr>
          <a:xfrm>
            <a:off x="6324448" y="4649724"/>
            <a:ext cx="5291176" cy="0"/>
          </a:xfrm>
          <a:prstGeom prst="line">
            <a:avLst/>
          </a:prstGeom>
          <a:noFill/>
          <a:ln w="9525">
            <a:solidFill>
              <a:srgbClr val="E2DCD2"/>
            </a:solidFill>
            <a:prstDash val="solid"/>
          </a:ln>
        </p:spPr>
        <p:txBody>
          <a:bodyPr>
            <a:noAutofit/>
          </a:bodyPr>
          <a:p/>
        </p:txBody>
      </p:sp>
      <p:sp>
        <p:nvSpPr>
          <p:cNvPr id="37" name="shape:037"/>
          <p:cNvSpPr/>
          <p:nvPr/>
        </p:nvSpPr>
        <p:spPr>
          <a:xfrm>
            <a:off x="632444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ラベル14</a:t>
            </a:r>
            <a:endParaRPr lang="en-US" sz="900" dirty="0"/>
          </a:p>
        </p:txBody>
      </p:sp>
      <p:sp>
        <p:nvSpPr>
          <p:cNvPr id="39" name="shape:039"/>
          <p:cNvSpPr/>
          <p:nvPr/>
        </p:nvSpPr>
        <p:spPr>
          <a:xfrm>
            <a:off x="8088173"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ラベル15</a:t>
            </a:r>
            <a:endParaRPr lang="en-US" sz="900" dirty="0"/>
          </a:p>
        </p:txBody>
      </p:sp>
      <p:sp>
        <p:nvSpPr>
          <p:cNvPr id="41" name="shape:041"/>
          <p:cNvSpPr/>
          <p:nvPr/>
        </p:nvSpPr>
        <p:spPr>
          <a:xfrm>
            <a:off x="985189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ラベル16</a:t>
            </a:r>
            <a:endParaRPr lang="en-US" sz="900" dirty="0"/>
          </a:p>
        </p:txBody>
      </p:sp>
      <p:sp>
        <p:nvSpPr>
          <p:cNvPr id="4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graphicFrame>
        <p:nvGraphicFramePr>
          <p:cNvPr id="43" name="shape:043"/>
          <p:cNvGraphicFramePr>
            <a:graphicFrameLocks noGrp="1"/>
          </p:cNvGraphicFramePr>
          <p:nvPr/>
        </p:nvGraphicFramePr>
        <p:xfrm>
          <a:off x="576072" y="2468880"/>
          <a:ext cx="5291632" cy="1156716"/>
        </p:xfrm>
        <a:graphic>
          <a:graphicData uri="http://schemas.openxmlformats.org/drawingml/2006/chart">
            <c:chart xmlns:c="http://schemas.openxmlformats.org/drawingml/2006/chart" r:id="rId2"/>
          </a:graphicData>
        </a:graphic>
      </p:graphicFrame>
      <p:graphicFrame>
        <p:nvGraphicFramePr>
          <p:cNvPr id="44" name="shape:044"/>
          <p:cNvGraphicFramePr>
            <a:graphicFrameLocks noGrp="1"/>
          </p:cNvGraphicFramePr>
          <p:nvPr/>
        </p:nvGraphicFramePr>
        <p:xfrm>
          <a:off x="6324904" y="2468880"/>
          <a:ext cx="5291632" cy="1156716"/>
        </p:xfrm>
        <a:graphic>
          <a:graphicData uri="http://schemas.openxmlformats.org/drawingml/2006/chart">
            <c:chart xmlns:c="http://schemas.openxmlformats.org/drawingml/2006/chart" r:id="rId3"/>
          </a:graphicData>
        </a:graphic>
      </p:graphicFrame>
      <p:graphicFrame>
        <p:nvGraphicFramePr>
          <p:cNvPr id="45" name="shape:045"/>
          <p:cNvGraphicFramePr>
            <a:graphicFrameLocks noGrp="1"/>
          </p:cNvGraphicFramePr>
          <p:nvPr/>
        </p:nvGraphicFramePr>
        <p:xfrm>
          <a:off x="576072" y="4796028"/>
          <a:ext cx="5291632" cy="1156716"/>
        </p:xfrm>
        <a:graphic>
          <a:graphicData uri="http://schemas.openxmlformats.org/drawingml/2006/chart">
            <c:chart xmlns:c="http://schemas.openxmlformats.org/drawingml/2006/chart" r:id="rId4"/>
          </a:graphicData>
        </a:graphic>
      </p:graphicFrame>
      <p:graphicFrame>
        <p:nvGraphicFramePr>
          <p:cNvPr id="46" name="shape:046"/>
          <p:cNvGraphicFramePr>
            <a:graphicFrameLocks noGrp="1"/>
          </p:cNvGraphicFramePr>
          <p:nvPr/>
        </p:nvGraphicFramePr>
        <p:xfrm>
          <a:off x="6324904" y="4796028"/>
          <a:ext cx="5291632" cy="1156716"/>
        </p:xfrm>
        <a:graphic>
          <a:graphicData uri="http://schemas.openxmlformats.org/drawingml/2006/chart">
            <c:chart xmlns:c="http://schemas.openxmlformats.org/drawingml/2006/chart" r:id="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小図の並列比較</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