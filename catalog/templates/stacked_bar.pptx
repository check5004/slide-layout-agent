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ラベル1</c:v>
                </c:pt>
              </c:strCache>
            </c:strRef>
          </c:tx>
          <c:spPr>
            <a:solidFill>
              <a:srgbClr val="322014"/>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ラベル4</c:v>
                </c:pt>
                <c:pt idx="1">
                  <c:v>ラベル5</c:v>
                </c:pt>
                <c:pt idx="2">
                  <c:v>ラベル6</c:v>
                </c:pt>
              </c:strCache>
            </c:strRef>
          </c:cat>
          <c:val>
            <c:numRef>
              <c:f>Sheet1!$B$2:$B$4</c:f>
              <c:numCache>
                <c:formatCode>General</c:formatCode>
                <c:ptCount val="3"/>
                <c:pt idx="0">
                  <c:v>40</c:v>
                </c:pt>
                <c:pt idx="1">
                  <c:v>55</c:v>
                </c:pt>
                <c:pt idx="2">
                  <c:v>72</c:v>
                </c:pt>
              </c:numCache>
            </c:numRef>
          </c:val>
        </c:ser>
        <c:ser>
          <c:idx val="1"/>
          <c:order val="1"/>
          <c:tx>
            <c:strRef>
              <c:f>Sheet1!$C$1</c:f>
              <c:strCache>
                <c:ptCount val="1"/>
                <c:pt idx="0">
                  <c:v>ラベル2</c:v>
                </c:pt>
              </c:strCache>
            </c:strRef>
          </c:tx>
          <c:spPr>
            <a:solidFill>
              <a:srgbClr val="5A3921"/>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ラベル4</c:v>
                </c:pt>
                <c:pt idx="1">
                  <c:v>ラベル5</c:v>
                </c:pt>
                <c:pt idx="2">
                  <c:v>ラベル6</c:v>
                </c:pt>
              </c:strCache>
            </c:strRef>
          </c:cat>
          <c:val>
            <c:numRef>
              <c:f>Sheet1!$C$2:$C$4</c:f>
              <c:numCache>
                <c:formatCode>General</c:formatCode>
                <c:ptCount val="3"/>
                <c:pt idx="0">
                  <c:v>30</c:v>
                </c:pt>
                <c:pt idx="1">
                  <c:v>32</c:v>
                </c:pt>
                <c:pt idx="2">
                  <c:v>33</c:v>
                </c:pt>
              </c:numCache>
            </c:numRef>
          </c:val>
        </c:ser>
        <c:ser>
          <c:idx val="2"/>
          <c:order val="2"/>
          <c:tx>
            <c:strRef>
              <c:f>Sheet1!$D$1</c:f>
              <c:strCache>
                <c:ptCount val="1"/>
                <c:pt idx="0">
                  <c:v>ラベル3</c:v>
                </c:pt>
              </c:strCache>
            </c:strRef>
          </c:tx>
          <c:spPr>
            <a:solidFill>
              <a:srgbClr val="C5A681"/>
            </a:solidFill>
            <a:ln>
              <a:noFill/>
            </a:ln>
          </c:spPr>
          <c:cat>
            <c:strRef>
              <c:f>Sheet1!$A$2:$A$4</c:f>
              <c:strCache>
                <c:ptCount val="3"/>
                <c:pt idx="0">
                  <c:v>ラベル4</c:v>
                </c:pt>
                <c:pt idx="1">
                  <c:v>ラベル5</c:v>
                </c:pt>
                <c:pt idx="2">
                  <c:v>ラベル6</c:v>
                </c:pt>
              </c:strCache>
            </c:strRef>
          </c:cat>
          <c:val>
            <c:numRef>
              <c:f>Sheet1!$D$2:$D$4</c:f>
              <c:numCache>
                <c:formatCode>General</c:formatCode>
                <c:ptCount val="3"/>
                <c:pt idx="0">
                  <c:v>20</c:v>
                </c:pt>
                <c:pt idx="1">
                  <c:v>22</c:v>
                </c:pt>
                <c:pt idx="2">
                  <c:v>24</c:v>
                </c:pt>
              </c:numCache>
            </c:numRef>
          </c:val>
        </c:ser>
        <c:dLbls>
          <c:txPr>
            <a:bodyPr/>
            <a:lstStyle/>
            <a:p>
              <a:pPr>
                <a:defRPr sz="1000">
                  <a:solidFill>
                    <a:srgbClr val="322014"/>
                  </a:solidFill>
                  <a:latin typeface="Yu Gothic"/>
                </a:defRPr>
              </a:pPr>
            </a:p>
          </c:txPr>
          <c:dLblPos val="ctr"/>
          <c:showLegendKey val="0"/>
          <c:showVal val="1"/>
          <c:showCatName val="0"/>
          <c:showSerName val="0"/>
          <c:showPercent val="0"/>
          <c:showBubbleSize val="0"/>
          <c:showLeaderLines val="1"/>
        </c:dLbls>
        <c:gapWidth val="100"/>
        <c:overlap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"stacked_bar", "upstream_commit": "e5dd04dc6f1acf010046d2fc7319bcf5242a849a", "source_pptx_slide": 15,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06  STACKED_BAR</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積み上げ棒</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15</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7" name="shape:017"/>
          <p:cNvSpPr/>
          <p:nvPr/>
        </p:nvSpPr>
        <p:spPr>
          <a:xfrm>
            <a:off x="1821637"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ラベル4</a:t>
            </a:r>
            <a:endParaRPr lang="en-US" sz="1200" dirty="0"/>
          </a:p>
        </p:txBody>
      </p:sp>
      <p:sp>
        <p:nvSpPr>
          <p:cNvPr id="24" name="shape:024"/>
          <p:cNvSpPr/>
          <p:nvPr/>
        </p:nvSpPr>
        <p:spPr>
          <a:xfrm>
            <a:off x="531860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ラベル5</a:t>
            </a:r>
            <a:endParaRPr lang="en-US" sz="1200" dirty="0"/>
          </a:p>
        </p:txBody>
      </p:sp>
      <p:sp>
        <p:nvSpPr>
          <p:cNvPr id="31" name="shape:031"/>
          <p:cNvSpPr/>
          <p:nvPr/>
        </p:nvSpPr>
        <p:spPr>
          <a:xfrm>
            <a:off x="881557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ラベル6</a:t>
            </a:r>
            <a:endParaRPr lang="en-US" sz="1200" dirty="0"/>
          </a:p>
        </p:txBody>
      </p:sp>
      <p:sp>
        <p:nvSpPr>
          <p:cNvPr id="32" name="shape:032"/>
          <p:cNvSpPr/>
          <p:nvPr/>
        </p:nvSpPr>
        <p:spPr>
          <a:xfrm>
            <a:off x="576072" y="5943600"/>
            <a:ext cx="201168" cy="201168"/>
          </a:xfrm>
          <a:prstGeom prst="rect">
            <a:avLst/>
          </a:prstGeom>
          <a:solidFill>
            <a:srgbClr val="322014"/>
          </a:solidFill>
          <a:ln/>
        </p:spPr>
        <p:txBody>
          <a:bodyPr>
            <a:noAutofit/>
          </a:bodyPr>
          <a:p/>
        </p:txBody>
      </p:sp>
      <p:sp>
        <p:nvSpPr>
          <p:cNvPr id="33" name="shape:033"/>
          <p:cNvSpPr/>
          <p:nvPr/>
        </p:nvSpPr>
        <p:spPr>
          <a:xfrm>
            <a:off x="8686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ラベル1</a:t>
            </a:r>
            <a:endParaRPr lang="en-US" sz="1100" dirty="0"/>
          </a:p>
        </p:txBody>
      </p:sp>
      <p:sp>
        <p:nvSpPr>
          <p:cNvPr id="34" name="shape:034"/>
          <p:cNvSpPr/>
          <p:nvPr/>
        </p:nvSpPr>
        <p:spPr>
          <a:xfrm>
            <a:off x="2404872" y="5943600"/>
            <a:ext cx="201168" cy="201168"/>
          </a:xfrm>
          <a:prstGeom prst="rect">
            <a:avLst/>
          </a:prstGeom>
          <a:solidFill>
            <a:srgbClr val="5A3921"/>
          </a:solidFill>
          <a:ln/>
        </p:spPr>
        <p:txBody>
          <a:bodyPr>
            <a:noAutofit/>
          </a:bodyPr>
          <a:p/>
        </p:txBody>
      </p:sp>
      <p:sp>
        <p:nvSpPr>
          <p:cNvPr id="35" name="shape:035"/>
          <p:cNvSpPr/>
          <p:nvPr/>
        </p:nvSpPr>
        <p:spPr>
          <a:xfrm>
            <a:off x="26974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ラベル2</a:t>
            </a:r>
            <a:endParaRPr lang="en-US" sz="1100" dirty="0"/>
          </a:p>
        </p:txBody>
      </p:sp>
      <p:sp>
        <p:nvSpPr>
          <p:cNvPr id="36" name="shape:036"/>
          <p:cNvSpPr/>
          <p:nvPr/>
        </p:nvSpPr>
        <p:spPr>
          <a:xfrm>
            <a:off x="4233672" y="5943600"/>
            <a:ext cx="201168" cy="201168"/>
          </a:xfrm>
          <a:prstGeom prst="rect">
            <a:avLst/>
          </a:prstGeom>
          <a:solidFill>
            <a:srgbClr val="C5A681"/>
          </a:solidFill>
          <a:ln/>
        </p:spPr>
        <p:txBody>
          <a:bodyPr>
            <a:noAutofit/>
          </a:bodyPr>
          <a:p/>
        </p:txBody>
      </p:sp>
      <p:sp>
        <p:nvSpPr>
          <p:cNvPr id="37" name="shape:037"/>
          <p:cNvSpPr/>
          <p:nvPr/>
        </p:nvSpPr>
        <p:spPr>
          <a:xfrm>
            <a:off x="45262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ラベル3</a:t>
            </a:r>
            <a:endParaRPr lang="en-US" sz="11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graphicFrame>
        <p:nvGraphicFramePr>
          <p:cNvPr id="39" name="shape:039"/>
          <p:cNvGraphicFramePr>
            <a:graphicFrameLocks noGrp="1"/>
          </p:cNvGraphicFramePr>
          <p:nvPr/>
        </p:nvGraphicFramePr>
        <p:xfrm>
          <a:off x="868680" y="2331720"/>
          <a:ext cx="10469880" cy="329184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積み上げ棒</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