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"status_heatmap_comment", "upstream_commit": "e5dd04dc6f1acf010046d2fc7319bcf5242a849a", "source_pptx_slide": 36,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パーツ13｜状態ヒートマップ＋右コメント</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状態ヒートマップ＋右コメント</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36</a:t>
            </a:r>
            <a:endParaRPr lang="en-US" sz="750" dirty="0"/>
          </a:p>
        </p:txBody>
      </p:sp>
      <p:sp>
        <p:nvSpPr>
          <p:cNvPr id="10" name="shape:010"/>
          <p:cNvSpPr/>
          <p:nvPr/>
        </p:nvSpPr>
        <p:spPr>
          <a:xfrm>
            <a:off x="8734529" y="1628784"/>
            <a:ext cx="144000" cy="144000"/>
          </a:xfrm>
          <a:prstGeom prst="rect">
            <a:avLst/>
          </a:prstGeom>
          <a:solidFill>
            <a:srgbClr val="322014"/>
          </a:solidFill>
          <a:ln/>
        </p:spPr>
        <p:txBody>
          <a:bodyPr>
            <a:noAutofit/>
          </a:bodyPr>
          <a:p/>
        </p:txBody>
      </p:sp>
      <p:sp>
        <p:nvSpPr>
          <p:cNvPr id="11" name="static:legend_11"/>
          <p:cNvSpPr/>
          <p:nvPr/>
        </p:nvSpPr>
        <p:spPr>
          <a:xfrm>
            <a:off x="8932529"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大きく改善</a:t>
            </a:r>
            <a:endParaRPr lang="en-US" sz="800" dirty="0"/>
          </a:p>
        </p:txBody>
      </p:sp>
      <p:sp>
        <p:nvSpPr>
          <p:cNvPr id="12" name="shape:012"/>
          <p:cNvSpPr/>
          <p:nvPr/>
        </p:nvSpPr>
        <p:spPr>
          <a:xfrm>
            <a:off x="9724601" y="1628784"/>
            <a:ext cx="144000" cy="144000"/>
          </a:xfrm>
          <a:prstGeom prst="rect">
            <a:avLst/>
          </a:prstGeom>
          <a:solidFill>
            <a:srgbClr val="5A3921"/>
          </a:solidFill>
          <a:ln/>
        </p:spPr>
        <p:txBody>
          <a:bodyPr>
            <a:noAutofit/>
          </a:bodyPr>
          <a:p/>
        </p:txBody>
      </p:sp>
      <p:sp>
        <p:nvSpPr>
          <p:cNvPr id="13" name="static:legend_13"/>
          <p:cNvSpPr/>
          <p:nvPr/>
        </p:nvSpPr>
        <p:spPr>
          <a:xfrm>
            <a:off x="9922601" y="1609344"/>
            <a:ext cx="252374"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改善</a:t>
            </a:r>
            <a:endParaRPr lang="en-US" sz="800" dirty="0"/>
          </a:p>
        </p:txBody>
      </p:sp>
      <p:sp>
        <p:nvSpPr>
          <p:cNvPr id="14" name="shape:014"/>
          <p:cNvSpPr/>
          <p:nvPr/>
        </p:nvSpPr>
        <p:spPr>
          <a:xfrm>
            <a:off x="10390975" y="1628784"/>
            <a:ext cx="144000" cy="144000"/>
          </a:xfrm>
          <a:prstGeom prst="rect">
            <a:avLst/>
          </a:prstGeom>
          <a:solidFill>
            <a:srgbClr val="E2DCD2"/>
          </a:solidFill>
          <a:ln/>
        </p:spPr>
        <p:txBody>
          <a:bodyPr>
            <a:noAutofit/>
          </a:bodyPr>
          <a:p/>
        </p:txBody>
      </p:sp>
      <p:sp>
        <p:nvSpPr>
          <p:cNvPr id="15" name="static:legend_15"/>
          <p:cNvSpPr/>
          <p:nvPr/>
        </p:nvSpPr>
        <p:spPr>
          <a:xfrm>
            <a:off x="10588975" y="1609344"/>
            <a:ext cx="360274"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横ばい</a:t>
            </a:r>
            <a:endParaRPr lang="en-US" sz="800" dirty="0"/>
          </a:p>
        </p:txBody>
      </p:sp>
      <p:sp>
        <p:nvSpPr>
          <p:cNvPr id="16" name="shape:016"/>
          <p:cNvSpPr/>
          <p:nvPr/>
        </p:nvSpPr>
        <p:spPr>
          <a:xfrm>
            <a:off x="11165249" y="1628784"/>
            <a:ext cx="144000" cy="144000"/>
          </a:xfrm>
          <a:prstGeom prst="rect">
            <a:avLst/>
          </a:prstGeom>
          <a:solidFill>
            <a:srgbClr val="C5A681"/>
          </a:solidFill>
          <a:ln/>
        </p:spPr>
        <p:txBody>
          <a:bodyPr>
            <a:noAutofit/>
          </a:bodyPr>
          <a:p/>
        </p:txBody>
      </p:sp>
      <p:sp>
        <p:nvSpPr>
          <p:cNvPr id="17" name="static:legend_17"/>
          <p:cNvSpPr/>
          <p:nvPr/>
        </p:nvSpPr>
        <p:spPr>
          <a:xfrm>
            <a:off x="11363249" y="1609344"/>
            <a:ext cx="252374"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悪化</a:t>
            </a:r>
            <a:endParaRPr lang="en-US" sz="800" dirty="0"/>
          </a:p>
        </p:txBody>
      </p:sp>
      <p:sp>
        <p:nvSpPr>
          <p:cNvPr id="18" name="shape:018"/>
          <p:cNvSpPr/>
          <p:nvPr/>
        </p:nvSpPr>
        <p:spPr>
          <a:xfrm>
            <a:off x="576072" y="1972224"/>
            <a:ext cx="3944284" cy="274320"/>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指標カテゴリー別の状況</a:t>
            </a:r>
            <a:endParaRPr lang="en-US" sz="1150" dirty="0"/>
          </a:p>
        </p:txBody>
      </p:sp>
      <p:sp>
        <p:nvSpPr>
          <p:cNvPr id="19" name="shape:019"/>
          <p:cNvSpPr/>
          <p:nvPr/>
        </p:nvSpPr>
        <p:spPr>
          <a:xfrm>
            <a:off x="4520356" y="1972224"/>
            <a:ext cx="1828800" cy="274320"/>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YYYY年M月時点</a:t>
            </a:r>
            <a:endParaRPr lang="en-US" sz="850" dirty="0"/>
          </a:p>
        </p:txBody>
      </p:sp>
      <p:sp>
        <p:nvSpPr>
          <p:cNvPr id="20" name="shape:020"/>
          <p:cNvSpPr/>
          <p:nvPr/>
        </p:nvSpPr>
        <p:spPr>
          <a:xfrm>
            <a:off x="576072" y="2283120"/>
            <a:ext cx="5773084" cy="0"/>
          </a:xfrm>
          <a:prstGeom prst="line">
            <a:avLst/>
          </a:prstGeom>
          <a:noFill/>
          <a:ln w="17780">
            <a:solidFill>
              <a:srgbClr val="322014"/>
            </a:solidFill>
            <a:prstDash val="solid"/>
          </a:ln>
        </p:spPr>
        <p:txBody>
          <a:bodyPr>
            <a:noAutofit/>
          </a:bodyPr>
          <a:p/>
        </p:txBody>
      </p:sp>
      <p:graphicFrame>
        <p:nvGraphicFramePr>
          <p:cNvPr id="37" name="shape:037"/>
          <p:cNvGraphicFramePr>
            <a:graphicFrameLocks noGrp="1"/>
          </p:cNvGraphicFramePr>
          <p:nvPr>
            <p:extLst>
              <p:ext uri="{D42A27DB-BD31-4B8C-83A1-F6EECF244321}">
                <p14:modId xmlns:p14="http://schemas.microsoft.com/office/powerpoint/2010/main" val="1579011935"/>
              </p:ext>
            </p:extLst>
          </p:nvPr>
        </p:nvGraphicFramePr>
        <p:xfrm>
          <a:off x="576072" y="2392848"/>
          <a:ext cx="5773084" cy="914400"/>
        </p:xfrm>
        <a:graphic>
          <a:graphicData uri="http://schemas.openxmlformats.org/drawingml/2006/table">
            <a:tbl>
              <a:tblPr/>
              <a:tblGrid>
                <a:gridCol w="2437524"/>
                <a:gridCol w="1667780"/>
                <a:gridCol w="1667780"/>
              </a:tblGrid>
              <a:tr h="36576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指標カテゴリー</a:t>
                      </a:r>
                      <a:endParaRPr lang="en-US" sz="10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322014"/>
                      </a:solidFill>
                      <a:prstDash val="solid"/>
                      <a:round/>
                      <a:headEnd type="none" w="med" len="med"/>
                      <a:tailEnd type="none" w="med" len="med"/>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前月比</a:t>
                      </a:r>
                      <a:endParaRPr lang="en-US" sz="10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前年比</a:t>
                      </a:r>
                      <a:endParaRPr lang="en-US" sz="10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r>
              <a:tr h="853398">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1</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853398">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2</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853398">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3</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853398">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4</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22" name="shape:022"/>
          <p:cNvSpPr/>
          <p:nvPr/>
        </p:nvSpPr>
        <p:spPr>
          <a:xfrm>
            <a:off x="3103596" y="3095307"/>
            <a:ext cx="1487780" cy="180000"/>
          </a:xfrm>
          <a:prstGeom prst="rect">
            <a:avLst/>
          </a:prstGeom>
          <a:solidFill>
            <a:srgbClr val="322014"/>
          </a:solidFill>
          <a:ln/>
        </p:spPr>
        <p:txBody>
          <a:bodyPr>
            <a:noAutofit/>
          </a:bodyPr>
          <a:p/>
        </p:txBody>
      </p:sp>
      <p:sp>
        <p:nvSpPr>
          <p:cNvPr id="23" name="shape:023"/>
          <p:cNvSpPr/>
          <p:nvPr/>
        </p:nvSpPr>
        <p:spPr>
          <a:xfrm>
            <a:off x="4771376" y="3095307"/>
            <a:ext cx="1487780" cy="180000"/>
          </a:xfrm>
          <a:prstGeom prst="rect">
            <a:avLst/>
          </a:prstGeom>
          <a:solidFill>
            <a:srgbClr val="C5A681"/>
          </a:solidFill>
          <a:ln/>
        </p:spPr>
        <p:txBody>
          <a:bodyPr>
            <a:noAutofit/>
          </a:bodyPr>
          <a:p/>
        </p:txBody>
      </p:sp>
      <p:sp>
        <p:nvSpPr>
          <p:cNvPr id="24" name="shape:024"/>
          <p:cNvSpPr/>
          <p:nvPr/>
        </p:nvSpPr>
        <p:spPr>
          <a:xfrm>
            <a:off x="3103596" y="3948705"/>
            <a:ext cx="1487780" cy="180000"/>
          </a:xfrm>
          <a:prstGeom prst="rect">
            <a:avLst/>
          </a:prstGeom>
          <a:solidFill>
            <a:srgbClr val="5A3921"/>
          </a:solidFill>
          <a:ln/>
        </p:spPr>
        <p:txBody>
          <a:bodyPr>
            <a:noAutofit/>
          </a:bodyPr>
          <a:p/>
        </p:txBody>
      </p:sp>
      <p:sp>
        <p:nvSpPr>
          <p:cNvPr id="25" name="shape:025"/>
          <p:cNvSpPr/>
          <p:nvPr/>
        </p:nvSpPr>
        <p:spPr>
          <a:xfrm>
            <a:off x="4771376" y="3948705"/>
            <a:ext cx="1487780" cy="180000"/>
          </a:xfrm>
          <a:prstGeom prst="rect">
            <a:avLst/>
          </a:prstGeom>
          <a:solidFill>
            <a:srgbClr val="5A3921"/>
          </a:solidFill>
          <a:ln/>
        </p:spPr>
        <p:txBody>
          <a:bodyPr>
            <a:noAutofit/>
          </a:bodyPr>
          <a:p/>
        </p:txBody>
      </p:sp>
      <p:sp>
        <p:nvSpPr>
          <p:cNvPr id="26" name="shape:026"/>
          <p:cNvSpPr/>
          <p:nvPr/>
        </p:nvSpPr>
        <p:spPr>
          <a:xfrm>
            <a:off x="3103596" y="4802103"/>
            <a:ext cx="1487780" cy="180000"/>
          </a:xfrm>
          <a:prstGeom prst="rect">
            <a:avLst/>
          </a:prstGeom>
          <a:solidFill>
            <a:srgbClr val="E2DCD2"/>
          </a:solidFill>
          <a:ln/>
        </p:spPr>
        <p:txBody>
          <a:bodyPr>
            <a:noAutofit/>
          </a:bodyPr>
          <a:p/>
        </p:txBody>
      </p:sp>
      <p:sp>
        <p:nvSpPr>
          <p:cNvPr id="27" name="shape:027"/>
          <p:cNvSpPr/>
          <p:nvPr/>
        </p:nvSpPr>
        <p:spPr>
          <a:xfrm>
            <a:off x="4771376" y="4802103"/>
            <a:ext cx="1487780" cy="180000"/>
          </a:xfrm>
          <a:prstGeom prst="rect">
            <a:avLst/>
          </a:prstGeom>
          <a:solidFill>
            <a:srgbClr val="322014"/>
          </a:solidFill>
          <a:ln/>
        </p:spPr>
        <p:txBody>
          <a:bodyPr>
            <a:noAutofit/>
          </a:bodyPr>
          <a:p/>
        </p:txBody>
      </p:sp>
      <p:sp>
        <p:nvSpPr>
          <p:cNvPr id="28" name="shape:028"/>
          <p:cNvSpPr/>
          <p:nvPr/>
        </p:nvSpPr>
        <p:spPr>
          <a:xfrm>
            <a:off x="3103596" y="5655501"/>
            <a:ext cx="1487780" cy="180000"/>
          </a:xfrm>
          <a:prstGeom prst="rect">
            <a:avLst/>
          </a:prstGeom>
          <a:solidFill>
            <a:srgbClr val="C5A681"/>
          </a:solidFill>
          <a:ln/>
        </p:spPr>
        <p:txBody>
          <a:bodyPr>
            <a:noAutofit/>
          </a:bodyPr>
          <a:p/>
        </p:txBody>
      </p:sp>
      <p:sp>
        <p:nvSpPr>
          <p:cNvPr id="29" name="shape:029"/>
          <p:cNvSpPr/>
          <p:nvPr/>
        </p:nvSpPr>
        <p:spPr>
          <a:xfrm>
            <a:off x="4771376" y="5655501"/>
            <a:ext cx="1487780" cy="180000"/>
          </a:xfrm>
          <a:prstGeom prst="rect">
            <a:avLst/>
          </a:prstGeom>
          <a:solidFill>
            <a:srgbClr val="E2DCD2"/>
          </a:solidFill>
          <a:ln/>
        </p:spPr>
        <p:txBody>
          <a:bodyPr>
            <a:noAutofit/>
          </a:bodyPr>
          <a:p/>
        </p:txBody>
      </p:sp>
      <p:sp>
        <p:nvSpPr>
          <p:cNvPr id="30" name="shape:030"/>
          <p:cNvSpPr/>
          <p:nvPr/>
        </p:nvSpPr>
        <p:spPr>
          <a:xfrm rot="5400000">
            <a:off x="6493156" y="3964212"/>
            <a:ext cx="360000" cy="216000"/>
          </a:xfrm>
          <a:prstGeom prst="triangle">
            <a:avLst/>
          </a:prstGeom>
          <a:solidFill>
            <a:srgbClr val="C5A681"/>
          </a:solidFill>
          <a:ln/>
        </p:spPr>
        <p:txBody>
          <a:bodyPr>
            <a:noAutofit/>
          </a:bodyPr>
          <a:p/>
        </p:txBody>
      </p:sp>
      <p:sp>
        <p:nvSpPr>
          <p:cNvPr id="31" name="shape:031"/>
          <p:cNvSpPr/>
          <p:nvPr/>
        </p:nvSpPr>
        <p:spPr>
          <a:xfrm>
            <a:off x="6997156" y="1972224"/>
            <a:ext cx="4618467" cy="274320"/>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だから、次に見るべき点</a:t>
            </a:r>
            <a:endParaRPr lang="en-US" sz="1150" dirty="0"/>
          </a:p>
        </p:txBody>
      </p:sp>
      <p:sp>
        <p:nvSpPr>
          <p:cNvPr id="32" name="shape:032"/>
          <p:cNvSpPr/>
          <p:nvPr/>
        </p:nvSpPr>
        <p:spPr>
          <a:xfrm>
            <a:off x="6997156" y="2283120"/>
            <a:ext cx="4618467" cy="0"/>
          </a:xfrm>
          <a:prstGeom prst="line">
            <a:avLst/>
          </a:prstGeom>
          <a:noFill/>
          <a:ln w="17780">
            <a:solidFill>
              <a:srgbClr val="322014"/>
            </a:solidFill>
            <a:prstDash val="solid"/>
          </a:ln>
        </p:spPr>
        <p:txBody>
          <a:bodyPr>
            <a:noAutofit/>
          </a:bodyPr>
          <a:p/>
        </p:txBody>
      </p:sp>
      <p:sp>
        <p:nvSpPr>
          <p:cNvPr id="33" name="shape:033"/>
          <p:cNvSpPr/>
          <p:nvPr/>
        </p:nvSpPr>
        <p:spPr>
          <a:xfrm>
            <a:off x="6997156" y="2392848"/>
            <a:ext cx="4618467" cy="3779352"/>
          </a:xfrm>
          <a:prstGeom prst="rect">
            <a:avLst/>
          </a:prstGeom>
          <a:noFill/>
          <a:ln/>
        </p:spPr>
        <p:txBody>
          <a:bodyPr wrap="square" lIns="0" tIns="0" rIns="0" bIns="0" rtlCol="0" anchor="ctr">
            <a:noAutofit/>
          </a:bodyPr>
          <a:lstStyle/>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Text 1</a:t>
            </a:r>
            <a:endParaRPr lang="en-US" sz="1000" dirty="0"/>
          </a:p>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Text 2</a:t>
            </a:r>
            <a:endParaRPr lang="en-US" sz="1000" dirty="0"/>
          </a:p>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Text 3</a:t>
            </a:r>
            <a:endParaRPr lang="en-US" sz="1000" dirty="0"/>
          </a:p>
        </p:txBody>
      </p:sp>
      <p:sp>
        <p:nvSpPr>
          <p:cNvPr id="3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状態ヒートマップ＋右コメント</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