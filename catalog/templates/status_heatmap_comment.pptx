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"status_heatmap_comment", "upstream_commit": "e5dd04dc6f1acf010046d2fc7319bcf5242a849a", "source_pptx_slide": 36,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パーツ13｜状態ヒートマップ＋右コメント</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状態ヒートマップ＋右コメント</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36</a:t>
            </a:r>
            <a:endParaRPr lang="en-US" sz="750" dirty="0"/>
          </a:p>
        </p:txBody>
      </p:sp>
      <p:sp>
        <p:nvSpPr>
          <p:cNvPr id="10" name="shape:010"/>
          <p:cNvSpPr/>
          <p:nvPr/>
        </p:nvSpPr>
        <p:spPr>
          <a:xfrm>
            <a:off x="8734529" y="1628784"/>
            <a:ext cx="144000" cy="144000"/>
          </a:xfrm>
          <a:prstGeom prst="rect">
            <a:avLst/>
          </a:prstGeom>
          <a:solidFill>
            <a:srgbClr val="322014"/>
          </a:solidFill>
          <a:ln/>
        </p:spPr>
        <p:txBody>
          <a:bodyPr>
            <a:noAutofit/>
          </a:bodyPr>
          <a:p/>
        </p:txBody>
      </p:sp>
      <p:sp>
        <p:nvSpPr>
          <p:cNvPr id="11" name="static:legend_11"/>
          <p:cNvSpPr/>
          <p:nvPr/>
        </p:nvSpPr>
        <p:spPr>
          <a:xfrm>
            <a:off x="8932529" y="1609344"/>
            <a:ext cx="576072"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大きく改善</a:t>
            </a:r>
            <a:endParaRPr lang="en-US" sz="800" dirty="0"/>
          </a:p>
        </p:txBody>
      </p:sp>
      <p:sp>
        <p:nvSpPr>
          <p:cNvPr id="12" name="shape:012"/>
          <p:cNvSpPr/>
          <p:nvPr/>
        </p:nvSpPr>
        <p:spPr>
          <a:xfrm>
            <a:off x="9724601" y="1628784"/>
            <a:ext cx="144000" cy="144000"/>
          </a:xfrm>
          <a:prstGeom prst="rect">
            <a:avLst/>
          </a:prstGeom>
          <a:solidFill>
            <a:srgbClr val="5A3921"/>
          </a:solidFill>
          <a:ln/>
        </p:spPr>
        <p:txBody>
          <a:bodyPr>
            <a:noAutofit/>
          </a:bodyPr>
          <a:p/>
        </p:txBody>
      </p:sp>
      <p:sp>
        <p:nvSpPr>
          <p:cNvPr id="13" name="static:legend_13"/>
          <p:cNvSpPr/>
          <p:nvPr/>
        </p:nvSpPr>
        <p:spPr>
          <a:xfrm>
            <a:off x="9922601" y="1609344"/>
            <a:ext cx="252374"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改善</a:t>
            </a:r>
            <a:endParaRPr lang="en-US" sz="800" dirty="0"/>
          </a:p>
        </p:txBody>
      </p:sp>
      <p:sp>
        <p:nvSpPr>
          <p:cNvPr id="14" name="shape:014"/>
          <p:cNvSpPr/>
          <p:nvPr/>
        </p:nvSpPr>
        <p:spPr>
          <a:xfrm>
            <a:off x="10390975" y="1628784"/>
            <a:ext cx="144000" cy="144000"/>
          </a:xfrm>
          <a:prstGeom prst="rect">
            <a:avLst/>
          </a:prstGeom>
          <a:solidFill>
            <a:srgbClr val="E2DCD2"/>
          </a:solidFill>
          <a:ln/>
        </p:spPr>
        <p:txBody>
          <a:bodyPr>
            <a:noAutofit/>
          </a:bodyPr>
          <a:p/>
        </p:txBody>
      </p:sp>
      <p:sp>
        <p:nvSpPr>
          <p:cNvPr id="15" name="static:legend_15"/>
          <p:cNvSpPr/>
          <p:nvPr/>
        </p:nvSpPr>
        <p:spPr>
          <a:xfrm>
            <a:off x="10588975" y="1609344"/>
            <a:ext cx="360274"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横ばい</a:t>
            </a:r>
            <a:endParaRPr lang="en-US" sz="800" dirty="0"/>
          </a:p>
        </p:txBody>
      </p:sp>
      <p:sp>
        <p:nvSpPr>
          <p:cNvPr id="16" name="shape:016"/>
          <p:cNvSpPr/>
          <p:nvPr/>
        </p:nvSpPr>
        <p:spPr>
          <a:xfrm>
            <a:off x="11165249" y="1628784"/>
            <a:ext cx="144000" cy="144000"/>
          </a:xfrm>
          <a:prstGeom prst="rect">
            <a:avLst/>
          </a:prstGeom>
          <a:solidFill>
            <a:srgbClr val="C5A681"/>
          </a:solidFill>
          <a:ln/>
        </p:spPr>
        <p:txBody>
          <a:bodyPr>
            <a:noAutofit/>
          </a:bodyPr>
          <a:p/>
        </p:txBody>
      </p:sp>
      <p:sp>
        <p:nvSpPr>
          <p:cNvPr id="17" name="static:legend_17"/>
          <p:cNvSpPr/>
          <p:nvPr/>
        </p:nvSpPr>
        <p:spPr>
          <a:xfrm>
            <a:off x="11363249" y="1609344"/>
            <a:ext cx="252374"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悪化</a:t>
            </a:r>
            <a:endParaRPr lang="en-US" sz="800" dirty="0"/>
          </a:p>
        </p:txBody>
      </p:sp>
      <p:sp>
        <p:nvSpPr>
          <p:cNvPr id="18" name="shape:018"/>
          <p:cNvSpPr/>
          <p:nvPr/>
        </p:nvSpPr>
        <p:spPr>
          <a:xfrm>
            <a:off x="576072" y="1972224"/>
            <a:ext cx="3944284" cy="274320"/>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指標カテゴリー別の状況</a:t>
            </a:r>
            <a:endParaRPr lang="en-US" sz="1150" dirty="0"/>
          </a:p>
        </p:txBody>
      </p:sp>
      <p:sp>
        <p:nvSpPr>
          <p:cNvPr id="19" name="shape:019"/>
          <p:cNvSpPr/>
          <p:nvPr/>
        </p:nvSpPr>
        <p:spPr>
          <a:xfrm>
            <a:off x="4520356" y="1972224"/>
            <a:ext cx="1828800" cy="274320"/>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YYYY年M月時点</a:t>
            </a:r>
            <a:endParaRPr lang="en-US" sz="850" dirty="0"/>
          </a:p>
        </p:txBody>
      </p:sp>
      <p:sp>
        <p:nvSpPr>
          <p:cNvPr id="20" name="shape:020"/>
          <p:cNvSpPr/>
          <p:nvPr/>
        </p:nvSpPr>
        <p:spPr>
          <a:xfrm>
            <a:off x="576072" y="2283120"/>
            <a:ext cx="5773084" cy="0"/>
          </a:xfrm>
          <a:prstGeom prst="line">
            <a:avLst/>
          </a:prstGeom>
          <a:noFill/>
          <a:ln w="17780">
            <a:solidFill>
              <a:srgbClr val="322014"/>
            </a:solidFill>
            <a:prstDash val="solid"/>
          </a:ln>
        </p:spPr>
        <p:txBody>
          <a:bodyPr>
            <a:noAutofit/>
          </a:bodyPr>
          <a:p/>
        </p:txBody>
      </p:sp>
      <p:graphicFrame>
        <p:nvGraphicFramePr>
          <p:cNvPr id="37" name="shape:037"/>
          <p:cNvGraphicFramePr>
            <a:graphicFrameLocks noGrp="1"/>
          </p:cNvGraphicFramePr>
          <p:nvPr>
            <p:extLst>
              <p:ext uri="{D42A27DB-BD31-4B8C-83A1-F6EECF244321}">
                <p14:modId xmlns:p14="http://schemas.microsoft.com/office/powerpoint/2010/main" val="1579011935"/>
              </p:ext>
            </p:extLst>
          </p:nvPr>
        </p:nvGraphicFramePr>
        <p:xfrm>
          <a:off x="576072" y="2392848"/>
          <a:ext cx="5773084" cy="914400"/>
        </p:xfrm>
        <a:graphic>
          <a:graphicData uri="http://schemas.openxmlformats.org/drawingml/2006/table">
            <a:tbl>
              <a:tblPr/>
              <a:tblGrid>
                <a:gridCol w="2437524"/>
                <a:gridCol w="1667780"/>
                <a:gridCol w="1667780"/>
              </a:tblGrid>
              <a:tr h="36576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指標カテゴリー</a:t>
                      </a:r>
                      <a:endParaRPr lang="en-US" sz="1050" dirty="0">
                        <a:latin typeface="Yu Gothic" charset="0"/>
                        <a:ea typeface="Yu Gothic" charset="0"/>
                        <a:cs typeface="Yu Gothic" charset="0"/>
                      </a:endParaRPr>
                    </a:p>
                  </a:txBody>
                  <a:tcPr marL="54864" marR="54864" marT="18288" marB="54864" anchor="b">
                    <a:lnL w="0" cap="flat" cmpd="sng" algn="ctr">
                      <a:noFill/>
                    </a:lnL>
                    <a:lnR w="17780" cap="flat" cmpd="sng" algn="ctr">
                      <a:solidFill>
                        <a:srgbClr val="322014"/>
                      </a:solidFill>
                      <a:prstDash val="solid"/>
                      <a:round/>
                      <a:headEnd type="none" w="med" len="med"/>
                      <a:tailEnd type="none" w="med" len="med"/>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前月比</a:t>
                      </a:r>
                      <a:endParaRPr lang="en-US" sz="10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前年比</a:t>
                      </a:r>
                      <a:endParaRPr lang="en-US" sz="10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r>
              <a:tr h="853398">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ラベル 1</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853398">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ラベル 2</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853398">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ラベル 3</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853398">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ラベル 4</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0" cap="flat" cmpd="sng" algn="ctr">
                      <a:noFill/>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22" name="shape:022"/>
          <p:cNvSpPr/>
          <p:nvPr/>
        </p:nvSpPr>
        <p:spPr>
          <a:xfrm>
            <a:off x="3103596" y="3095307"/>
            <a:ext cx="1487780" cy="180000"/>
          </a:xfrm>
          <a:prstGeom prst="rect">
            <a:avLst/>
          </a:prstGeom>
          <a:solidFill>
            <a:srgbClr val="322014"/>
          </a:solidFill>
          <a:ln/>
        </p:spPr>
        <p:txBody>
          <a:bodyPr>
            <a:noAutofit/>
          </a:bodyPr>
          <a:p/>
        </p:txBody>
      </p:sp>
      <p:sp>
        <p:nvSpPr>
          <p:cNvPr id="23" name="shape:023"/>
          <p:cNvSpPr/>
          <p:nvPr/>
        </p:nvSpPr>
        <p:spPr>
          <a:xfrm>
            <a:off x="4771376" y="3095307"/>
            <a:ext cx="1487780" cy="180000"/>
          </a:xfrm>
          <a:prstGeom prst="rect">
            <a:avLst/>
          </a:prstGeom>
          <a:solidFill>
            <a:srgbClr val="C5A681"/>
          </a:solidFill>
          <a:ln/>
        </p:spPr>
        <p:txBody>
          <a:bodyPr>
            <a:noAutofit/>
          </a:bodyPr>
          <a:p/>
        </p:txBody>
      </p:sp>
      <p:sp>
        <p:nvSpPr>
          <p:cNvPr id="24" name="shape:024"/>
          <p:cNvSpPr/>
          <p:nvPr/>
        </p:nvSpPr>
        <p:spPr>
          <a:xfrm>
            <a:off x="3103596" y="3948705"/>
            <a:ext cx="1487780" cy="180000"/>
          </a:xfrm>
          <a:prstGeom prst="rect">
            <a:avLst/>
          </a:prstGeom>
          <a:solidFill>
            <a:srgbClr val="5A3921"/>
          </a:solidFill>
          <a:ln/>
        </p:spPr>
        <p:txBody>
          <a:bodyPr>
            <a:noAutofit/>
          </a:bodyPr>
          <a:p/>
        </p:txBody>
      </p:sp>
      <p:sp>
        <p:nvSpPr>
          <p:cNvPr id="25" name="shape:025"/>
          <p:cNvSpPr/>
          <p:nvPr/>
        </p:nvSpPr>
        <p:spPr>
          <a:xfrm>
            <a:off x="4771376" y="3948705"/>
            <a:ext cx="1487780" cy="180000"/>
          </a:xfrm>
          <a:prstGeom prst="rect">
            <a:avLst/>
          </a:prstGeom>
          <a:solidFill>
            <a:srgbClr val="5A3921"/>
          </a:solidFill>
          <a:ln/>
        </p:spPr>
        <p:txBody>
          <a:bodyPr>
            <a:noAutofit/>
          </a:bodyPr>
          <a:p/>
        </p:txBody>
      </p:sp>
      <p:sp>
        <p:nvSpPr>
          <p:cNvPr id="26" name="shape:026"/>
          <p:cNvSpPr/>
          <p:nvPr/>
        </p:nvSpPr>
        <p:spPr>
          <a:xfrm>
            <a:off x="3103596" y="4802103"/>
            <a:ext cx="1487780" cy="180000"/>
          </a:xfrm>
          <a:prstGeom prst="rect">
            <a:avLst/>
          </a:prstGeom>
          <a:solidFill>
            <a:srgbClr val="E2DCD2"/>
          </a:solidFill>
          <a:ln/>
        </p:spPr>
        <p:txBody>
          <a:bodyPr>
            <a:noAutofit/>
          </a:bodyPr>
          <a:p/>
        </p:txBody>
      </p:sp>
      <p:sp>
        <p:nvSpPr>
          <p:cNvPr id="27" name="shape:027"/>
          <p:cNvSpPr/>
          <p:nvPr/>
        </p:nvSpPr>
        <p:spPr>
          <a:xfrm>
            <a:off x="4771376" y="4802103"/>
            <a:ext cx="1487780" cy="180000"/>
          </a:xfrm>
          <a:prstGeom prst="rect">
            <a:avLst/>
          </a:prstGeom>
          <a:solidFill>
            <a:srgbClr val="322014"/>
          </a:solidFill>
          <a:ln/>
        </p:spPr>
        <p:txBody>
          <a:bodyPr>
            <a:noAutofit/>
          </a:bodyPr>
          <a:p/>
        </p:txBody>
      </p:sp>
      <p:sp>
        <p:nvSpPr>
          <p:cNvPr id="28" name="shape:028"/>
          <p:cNvSpPr/>
          <p:nvPr/>
        </p:nvSpPr>
        <p:spPr>
          <a:xfrm>
            <a:off x="3103596" y="5655501"/>
            <a:ext cx="1487780" cy="180000"/>
          </a:xfrm>
          <a:prstGeom prst="rect">
            <a:avLst/>
          </a:prstGeom>
          <a:solidFill>
            <a:srgbClr val="C5A681"/>
          </a:solidFill>
          <a:ln/>
        </p:spPr>
        <p:txBody>
          <a:bodyPr>
            <a:noAutofit/>
          </a:bodyPr>
          <a:p/>
        </p:txBody>
      </p:sp>
      <p:sp>
        <p:nvSpPr>
          <p:cNvPr id="29" name="shape:029"/>
          <p:cNvSpPr/>
          <p:nvPr/>
        </p:nvSpPr>
        <p:spPr>
          <a:xfrm>
            <a:off x="4771376" y="5655501"/>
            <a:ext cx="1487780" cy="180000"/>
          </a:xfrm>
          <a:prstGeom prst="rect">
            <a:avLst/>
          </a:prstGeom>
          <a:solidFill>
            <a:srgbClr val="E2DCD2"/>
          </a:solidFill>
          <a:ln/>
        </p:spPr>
        <p:txBody>
          <a:bodyPr>
            <a:noAutofit/>
          </a:bodyPr>
          <a:p/>
        </p:txBody>
      </p:sp>
      <p:sp>
        <p:nvSpPr>
          <p:cNvPr id="30" name="shape:030"/>
          <p:cNvSpPr/>
          <p:nvPr/>
        </p:nvSpPr>
        <p:spPr>
          <a:xfrm rot="5400000">
            <a:off x="6493156" y="3964212"/>
            <a:ext cx="360000" cy="216000"/>
          </a:xfrm>
          <a:prstGeom prst="triangle">
            <a:avLst/>
          </a:prstGeom>
          <a:solidFill>
            <a:srgbClr val="C5A681"/>
          </a:solidFill>
          <a:ln/>
        </p:spPr>
        <p:txBody>
          <a:bodyPr>
            <a:noAutofit/>
          </a:bodyPr>
          <a:p/>
        </p:txBody>
      </p:sp>
      <p:sp>
        <p:nvSpPr>
          <p:cNvPr id="31" name="shape:031"/>
          <p:cNvSpPr/>
          <p:nvPr/>
        </p:nvSpPr>
        <p:spPr>
          <a:xfrm>
            <a:off x="6997156" y="1972224"/>
            <a:ext cx="4618467" cy="274320"/>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だから、次に見るべき点</a:t>
            </a:r>
            <a:endParaRPr lang="en-US" sz="1150" dirty="0"/>
          </a:p>
        </p:txBody>
      </p:sp>
      <p:sp>
        <p:nvSpPr>
          <p:cNvPr id="32" name="shape:032"/>
          <p:cNvSpPr/>
          <p:nvPr/>
        </p:nvSpPr>
        <p:spPr>
          <a:xfrm>
            <a:off x="6997156" y="2283120"/>
            <a:ext cx="4618467" cy="0"/>
          </a:xfrm>
          <a:prstGeom prst="line">
            <a:avLst/>
          </a:prstGeom>
          <a:noFill/>
          <a:ln w="17780">
            <a:solidFill>
              <a:srgbClr val="322014"/>
            </a:solidFill>
            <a:prstDash val="solid"/>
          </a:ln>
        </p:spPr>
        <p:txBody>
          <a:bodyPr>
            <a:noAutofit/>
          </a:bodyPr>
          <a:p/>
        </p:txBody>
      </p:sp>
      <p:sp>
        <p:nvSpPr>
          <p:cNvPr id="33" name="shape:033"/>
          <p:cNvSpPr/>
          <p:nvPr/>
        </p:nvSpPr>
        <p:spPr>
          <a:xfrm>
            <a:off x="6997156" y="2392848"/>
            <a:ext cx="4618467" cy="3779352"/>
          </a:xfrm>
          <a:prstGeom prst="rect">
            <a:avLst/>
          </a:prstGeom>
          <a:noFill/>
          <a:ln/>
        </p:spPr>
        <p:txBody>
          <a:bodyPr wrap="square" lIns="0" tIns="0" rIns="0" bIns="0" rtlCol="0" anchor="ctr">
            <a:noAutofit/>
          </a:bodyPr>
          <a:lstStyle/>
          <a:p>
            <a:pPr marL="152400" indent="-152400">
              <a:spcAft>
                <a:spcPts val="600"/>
              </a:spcAft>
              <a:buSzPct val="100000"/>
              <a:buChar char="•"/>
            </a:pPr>
            <a:r>
              <a:rPr lang="en-US" sz="1000" dirty="0">
                <a:solidFill>
                  <a:srgbClr val="322014"/>
                </a:solidFill>
                <a:latin typeface="Yu Gothic" pitchFamily="34" charset="0"/>
                <a:ea typeface="Yu Gothic" pitchFamily="34" charset="-122"/>
                <a:cs typeface="Yu Gothic" pitchFamily="34" charset="-120"/>
              </a:rPr>
              <a:t>Text 1</a:t>
            </a:r>
            <a:endParaRPr lang="en-US" sz="1000" dirty="0"/>
          </a:p>
          <a:p>
            <a:pPr marL="152400" indent="-152400">
              <a:spcAft>
                <a:spcPts val="600"/>
              </a:spcAft>
              <a:buSzPct val="100000"/>
              <a:buChar char="•"/>
            </a:pPr>
            <a:r>
              <a:rPr lang="en-US" sz="1000" dirty="0">
                <a:solidFill>
                  <a:srgbClr val="322014"/>
                </a:solidFill>
                <a:latin typeface="Yu Gothic" pitchFamily="34" charset="0"/>
                <a:ea typeface="Yu Gothic" pitchFamily="34" charset="-122"/>
                <a:cs typeface="Yu Gothic" pitchFamily="34" charset="-120"/>
              </a:rPr>
              <a:t>Text 2</a:t>
            </a:r>
            <a:endParaRPr lang="en-US" sz="1000" dirty="0"/>
          </a:p>
          <a:p>
            <a:pPr marL="152400" indent="-152400">
              <a:spcAft>
                <a:spcPts val="600"/>
              </a:spcAft>
              <a:buSzPct val="100000"/>
              <a:buChar char="•"/>
            </a:pPr>
            <a:r>
              <a:rPr lang="en-US" sz="1000" dirty="0">
                <a:solidFill>
                  <a:srgbClr val="322014"/>
                </a:solidFill>
                <a:latin typeface="Yu Gothic" pitchFamily="34" charset="0"/>
                <a:ea typeface="Yu Gothic" pitchFamily="34" charset="-122"/>
                <a:cs typeface="Yu Gothic" pitchFamily="34" charset="-120"/>
              </a:rPr>
              <a:t>Text 3</a:t>
            </a:r>
            <a:endParaRPr lang="en-US" sz="1000" dirty="0"/>
          </a:p>
        </p:txBody>
      </p:sp>
      <p:sp>
        <p:nvSpPr>
          <p:cNvPr id="3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状態ヒートマップ＋右コメント</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