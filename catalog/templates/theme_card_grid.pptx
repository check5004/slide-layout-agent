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"theme_card_grid", "upstream_commit": "e5dd04dc6f1acf010046d2fc7319bcf5242a849a", "source_pptx_slide": 65,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19  THEME_CARD_GRID</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テーマカード</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65</a:t>
            </a:r>
            <a:endParaRPr lang="en-US" sz="750" dirty="0"/>
          </a:p>
        </p:txBody>
      </p:sp>
      <p:sp>
        <p:nvSpPr>
          <p:cNvPr id="10" name="shape:010"/>
          <p:cNvSpPr/>
          <p:nvPr/>
        </p:nvSpPr>
        <p:spPr>
          <a:xfrm>
            <a:off x="576072" y="1916811"/>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8A7B6B"/>
                </a:solidFill>
                <a:latin typeface="Yu Gothic" pitchFamily="34" charset="0"/>
                <a:ea typeface="Yu Gothic" pitchFamily="34" charset="-122"/>
                <a:cs typeface="Yu Gothic" pitchFamily="34" charset="-120"/>
              </a:rPr>
              <a:t>指標名、単位、YYYY〜YYYY年</a:t>
            </a:r>
            <a:endParaRPr lang="en-US" sz="1250" dirty="0"/>
          </a:p>
        </p:txBody>
      </p:sp>
      <p:sp>
        <p:nvSpPr>
          <p:cNvPr id="11" name="shape:011"/>
          <p:cNvSpPr/>
          <p:nvPr/>
        </p:nvSpPr>
        <p:spPr>
          <a:xfrm>
            <a:off x="576072" y="2502027"/>
            <a:ext cx="2554148" cy="274320"/>
          </a:xfrm>
          <a:prstGeom prst="rect">
            <a:avLst/>
          </a:prstGeom>
          <a:solidFill>
            <a:srgbClr val="5A3921"/>
          </a:solidFill>
          <a:ln/>
        </p:spPr>
        <p:txBody>
          <a:bodyPr>
            <a:noAutofit/>
          </a:bodyPr>
          <a:p/>
        </p:txBody>
      </p:sp>
      <p:sp>
        <p:nvSpPr>
          <p:cNvPr id="12" name="shape:012"/>
          <p:cNvSpPr/>
          <p:nvPr/>
        </p:nvSpPr>
        <p:spPr>
          <a:xfrm>
            <a:off x="649224"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ラベル1</a:t>
            </a:r>
            <a:endParaRPr lang="en-US" sz="1000" dirty="0"/>
          </a:p>
        </p:txBody>
      </p:sp>
      <p:sp>
        <p:nvSpPr>
          <p:cNvPr id="13" name="shape:013"/>
          <p:cNvSpPr/>
          <p:nvPr/>
        </p:nvSpPr>
        <p:spPr>
          <a:xfrm>
            <a:off x="576072"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タイトル 2</a:t>
            </a:r>
            <a:endParaRPr lang="en-US" sz="1400" dirty="0"/>
          </a:p>
        </p:txBody>
      </p:sp>
      <p:sp>
        <p:nvSpPr>
          <p:cNvPr id="14" name="shape:014"/>
          <p:cNvSpPr/>
          <p:nvPr/>
        </p:nvSpPr>
        <p:spPr>
          <a:xfrm>
            <a:off x="576072"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Text 1</a:t>
            </a:r>
            <a:endParaRPr lang="en-US" sz="1150" dirty="0"/>
          </a:p>
        </p:txBody>
      </p:sp>
      <p:sp>
        <p:nvSpPr>
          <p:cNvPr id="15" name="shape:015"/>
          <p:cNvSpPr/>
          <p:nvPr/>
        </p:nvSpPr>
        <p:spPr>
          <a:xfrm>
            <a:off x="576072"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3.4x</a:t>
            </a:r>
            <a:endParaRPr lang="en-US" sz="2600" dirty="0"/>
          </a:p>
        </p:txBody>
      </p:sp>
      <p:sp>
        <p:nvSpPr>
          <p:cNvPr id="16" name="shape:016"/>
          <p:cNvSpPr/>
          <p:nvPr/>
        </p:nvSpPr>
        <p:spPr>
          <a:xfrm>
            <a:off x="3267380" y="2502027"/>
            <a:ext cx="0" cy="3200400"/>
          </a:xfrm>
          <a:prstGeom prst="line">
            <a:avLst/>
          </a:prstGeom>
          <a:noFill/>
          <a:ln w="12700">
            <a:solidFill>
              <a:srgbClr val="E2DCD2"/>
            </a:solidFill>
            <a:prstDash val="dot"/>
          </a:ln>
        </p:spPr>
        <p:txBody>
          <a:bodyPr>
            <a:noAutofit/>
          </a:bodyPr>
          <a:p/>
        </p:txBody>
      </p:sp>
      <p:sp>
        <p:nvSpPr>
          <p:cNvPr id="17" name="shape:017"/>
          <p:cNvSpPr/>
          <p:nvPr/>
        </p:nvSpPr>
        <p:spPr>
          <a:xfrm>
            <a:off x="3404540" y="2502027"/>
            <a:ext cx="2554148" cy="274320"/>
          </a:xfrm>
          <a:prstGeom prst="rect">
            <a:avLst/>
          </a:prstGeom>
          <a:solidFill>
            <a:srgbClr val="5A3921"/>
          </a:solidFill>
          <a:ln/>
        </p:spPr>
        <p:txBody>
          <a:bodyPr>
            <a:noAutofit/>
          </a:bodyPr>
          <a:p/>
        </p:txBody>
      </p:sp>
      <p:sp>
        <p:nvSpPr>
          <p:cNvPr id="18" name="shape:018"/>
          <p:cNvSpPr/>
          <p:nvPr/>
        </p:nvSpPr>
        <p:spPr>
          <a:xfrm>
            <a:off x="3477692"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ラベル2</a:t>
            </a:r>
            <a:endParaRPr lang="en-US" sz="1000" dirty="0"/>
          </a:p>
        </p:txBody>
      </p:sp>
      <p:sp>
        <p:nvSpPr>
          <p:cNvPr id="19" name="shape:019"/>
          <p:cNvSpPr/>
          <p:nvPr/>
        </p:nvSpPr>
        <p:spPr>
          <a:xfrm>
            <a:off x="3404540"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タイトル 3</a:t>
            </a:r>
            <a:endParaRPr lang="en-US" sz="1400" dirty="0"/>
          </a:p>
        </p:txBody>
      </p:sp>
      <p:sp>
        <p:nvSpPr>
          <p:cNvPr id="20" name="shape:020"/>
          <p:cNvSpPr/>
          <p:nvPr/>
        </p:nvSpPr>
        <p:spPr>
          <a:xfrm>
            <a:off x="3404540"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Text 2</a:t>
            </a:r>
            <a:endParaRPr lang="en-US" sz="1150" dirty="0"/>
          </a:p>
        </p:txBody>
      </p:sp>
      <p:sp>
        <p:nvSpPr>
          <p:cNvPr id="21" name="shape:021"/>
          <p:cNvSpPr/>
          <p:nvPr/>
        </p:nvSpPr>
        <p:spPr>
          <a:xfrm>
            <a:off x="3404540"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+22%</a:t>
            </a:r>
            <a:endParaRPr lang="en-US" sz="2600" dirty="0"/>
          </a:p>
        </p:txBody>
      </p:sp>
      <p:sp>
        <p:nvSpPr>
          <p:cNvPr id="22" name="shape:022"/>
          <p:cNvSpPr/>
          <p:nvPr/>
        </p:nvSpPr>
        <p:spPr>
          <a:xfrm>
            <a:off x="6095848" y="2502027"/>
            <a:ext cx="0" cy="3200400"/>
          </a:xfrm>
          <a:prstGeom prst="line">
            <a:avLst/>
          </a:prstGeom>
          <a:noFill/>
          <a:ln w="12700">
            <a:solidFill>
              <a:srgbClr val="E2DCD2"/>
            </a:solidFill>
            <a:prstDash val="dot"/>
          </a:ln>
        </p:spPr>
        <p:txBody>
          <a:bodyPr>
            <a:noAutofit/>
          </a:bodyPr>
          <a:p/>
        </p:txBody>
      </p:sp>
      <p:sp>
        <p:nvSpPr>
          <p:cNvPr id="23" name="shape:023"/>
          <p:cNvSpPr/>
          <p:nvPr/>
        </p:nvSpPr>
        <p:spPr>
          <a:xfrm>
            <a:off x="6233008" y="2502027"/>
            <a:ext cx="2554148" cy="274320"/>
          </a:xfrm>
          <a:prstGeom prst="rect">
            <a:avLst/>
          </a:prstGeom>
          <a:solidFill>
            <a:srgbClr val="5A3921"/>
          </a:solidFill>
          <a:ln/>
        </p:spPr>
        <p:txBody>
          <a:bodyPr>
            <a:noAutofit/>
          </a:bodyPr>
          <a:p/>
        </p:txBody>
      </p:sp>
      <p:sp>
        <p:nvSpPr>
          <p:cNvPr id="24" name="shape:024"/>
          <p:cNvSpPr/>
          <p:nvPr/>
        </p:nvSpPr>
        <p:spPr>
          <a:xfrm>
            <a:off x="6306160"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ラベル3</a:t>
            </a:r>
            <a:endParaRPr lang="en-US" sz="1000" dirty="0"/>
          </a:p>
        </p:txBody>
      </p:sp>
      <p:sp>
        <p:nvSpPr>
          <p:cNvPr id="25" name="shape:025"/>
          <p:cNvSpPr/>
          <p:nvPr/>
        </p:nvSpPr>
        <p:spPr>
          <a:xfrm>
            <a:off x="6233008"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タイトル 4</a:t>
            </a:r>
            <a:endParaRPr lang="en-US" sz="1400" dirty="0"/>
          </a:p>
        </p:txBody>
      </p:sp>
      <p:sp>
        <p:nvSpPr>
          <p:cNvPr id="26" name="shape:026"/>
          <p:cNvSpPr/>
          <p:nvPr/>
        </p:nvSpPr>
        <p:spPr>
          <a:xfrm>
            <a:off x="6233008"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Text 3</a:t>
            </a:r>
            <a:endParaRPr lang="en-US" sz="1150" dirty="0"/>
          </a:p>
        </p:txBody>
      </p:sp>
      <p:sp>
        <p:nvSpPr>
          <p:cNvPr id="27" name="shape:027"/>
          <p:cNvSpPr/>
          <p:nvPr/>
        </p:nvSpPr>
        <p:spPr>
          <a:xfrm>
            <a:off x="6233008"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-41%</a:t>
            </a:r>
            <a:endParaRPr lang="en-US" sz="2600" dirty="0"/>
          </a:p>
        </p:txBody>
      </p:sp>
      <p:sp>
        <p:nvSpPr>
          <p:cNvPr id="28" name="shape:028"/>
          <p:cNvSpPr/>
          <p:nvPr/>
        </p:nvSpPr>
        <p:spPr>
          <a:xfrm>
            <a:off x="8924315" y="2502027"/>
            <a:ext cx="0" cy="3200400"/>
          </a:xfrm>
          <a:prstGeom prst="line">
            <a:avLst/>
          </a:prstGeom>
          <a:noFill/>
          <a:ln w="12700">
            <a:solidFill>
              <a:srgbClr val="E2DCD2"/>
            </a:solidFill>
            <a:prstDash val="dot"/>
          </a:ln>
        </p:spPr>
        <p:txBody>
          <a:bodyPr>
            <a:noAutofit/>
          </a:bodyPr>
          <a:p/>
        </p:txBody>
      </p:sp>
      <p:sp>
        <p:nvSpPr>
          <p:cNvPr id="29" name="shape:029"/>
          <p:cNvSpPr/>
          <p:nvPr/>
        </p:nvSpPr>
        <p:spPr>
          <a:xfrm>
            <a:off x="9061475" y="2502027"/>
            <a:ext cx="2554148" cy="274320"/>
          </a:xfrm>
          <a:prstGeom prst="rect">
            <a:avLst/>
          </a:prstGeom>
          <a:solidFill>
            <a:srgbClr val="5A3921"/>
          </a:solidFill>
          <a:ln/>
        </p:spPr>
        <p:txBody>
          <a:bodyPr>
            <a:noAutofit/>
          </a:bodyPr>
          <a:p/>
        </p:txBody>
      </p:sp>
      <p:sp>
        <p:nvSpPr>
          <p:cNvPr id="30" name="shape:030"/>
          <p:cNvSpPr/>
          <p:nvPr/>
        </p:nvSpPr>
        <p:spPr>
          <a:xfrm>
            <a:off x="9134627" y="2529459"/>
            <a:ext cx="2407844" cy="219456"/>
          </a:xfrm>
          <a:prstGeom prst="rect">
            <a:avLst/>
          </a:prstGeom>
          <a:noFill/>
          <a:ln/>
        </p:spPr>
        <p:txBody>
          <a:bodyPr wrap="square" lIns="381" tIns="381" rIns="381" bIns="381" rtlCol="0" anchor="t">
            <a:noAutofit/>
          </a:bodyPr>
          <a:lstStyle/>
          <a:p>
            <a:pPr algn="l" indent="0" marL="0">
              <a:buNone/>
            </a:pPr>
            <a:r>
              <a:rPr lang="en-US" sz="1000" b="1" dirty="0">
                <a:solidFill>
                  <a:srgbClr val="FFFFFF"/>
                </a:solidFill>
                <a:latin typeface="Yu Gothic" pitchFamily="34" charset="0"/>
                <a:ea typeface="Yu Gothic" pitchFamily="34" charset="-122"/>
                <a:cs typeface="Yu Gothic" pitchFamily="34" charset="-120"/>
              </a:rPr>
              <a:t>ラベル4</a:t>
            </a:r>
            <a:endParaRPr lang="en-US" sz="1000" dirty="0"/>
          </a:p>
        </p:txBody>
      </p:sp>
      <p:sp>
        <p:nvSpPr>
          <p:cNvPr id="31" name="shape:031"/>
          <p:cNvSpPr/>
          <p:nvPr/>
        </p:nvSpPr>
        <p:spPr>
          <a:xfrm>
            <a:off x="9061475" y="2959227"/>
            <a:ext cx="2554148" cy="502920"/>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タイトル 5</a:t>
            </a:r>
            <a:endParaRPr lang="en-US" sz="1400" dirty="0"/>
          </a:p>
        </p:txBody>
      </p:sp>
      <p:sp>
        <p:nvSpPr>
          <p:cNvPr id="32" name="shape:032"/>
          <p:cNvSpPr/>
          <p:nvPr/>
        </p:nvSpPr>
        <p:spPr>
          <a:xfrm>
            <a:off x="9061475" y="3526155"/>
            <a:ext cx="2554148" cy="173736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Text 4</a:t>
            </a:r>
            <a:endParaRPr lang="en-US" sz="1150" dirty="0"/>
          </a:p>
        </p:txBody>
      </p:sp>
      <p:sp>
        <p:nvSpPr>
          <p:cNvPr id="33" name="shape:033"/>
          <p:cNvSpPr/>
          <p:nvPr/>
        </p:nvSpPr>
        <p:spPr>
          <a:xfrm>
            <a:off x="9061475" y="5290947"/>
            <a:ext cx="2554148" cy="548640"/>
          </a:xfrm>
          <a:prstGeom prst="rect">
            <a:avLst/>
          </a:prstGeom>
          <a:noFill/>
          <a:ln/>
        </p:spPr>
        <p:txBody>
          <a:bodyPr wrap="square" lIns="381" tIns="381" rIns="381" bIns="381" rtlCol="0" anchor="t">
            <a:noAutofit/>
          </a:bodyPr>
          <a:lstStyle/>
          <a:p>
            <a:pPr algn="l" indent="0" marL="0">
              <a:buNone/>
            </a:pPr>
            <a:r>
              <a:rPr lang="en-US" sz="2600" b="1" dirty="0">
                <a:solidFill>
                  <a:srgbClr val="322014"/>
                </a:solidFill>
                <a:latin typeface="Yu Gothic" pitchFamily="34" charset="0"/>
                <a:ea typeface="Yu Gothic" pitchFamily="34" charset="-122"/>
                <a:cs typeface="Yu Gothic" pitchFamily="34" charset="-120"/>
              </a:rPr>
              <a:t>92%</a:t>
            </a:r>
            <a:endParaRPr lang="en-US" sz="260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テーマカード</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