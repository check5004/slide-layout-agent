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"true_waterfall", "upstream_commit": "e5dd04dc6f1acf010046d2fc7319bcf5242a849a", "source_pptx_slide": 17,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08  TRUE_WATERFALL</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増減ブリッジ（厳密）</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17</a:t>
            </a:r>
            <a:endParaRPr lang="en-US" sz="750" dirty="0"/>
          </a:p>
        </p:txBody>
      </p:sp>
      <p:sp>
        <p:nvSpPr>
          <p:cNvPr id="10" name="shape:010"/>
          <p:cNvSpPr/>
          <p:nvPr/>
        </p:nvSpPr>
        <p:spPr>
          <a:xfrm>
            <a:off x="576072" y="1920240"/>
            <a:ext cx="6400800"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指標名、単位</a:t>
            </a:r>
            <a:endParaRPr lang="en-US" sz="1400" dirty="0"/>
          </a:p>
        </p:txBody>
      </p:sp>
      <p:sp>
        <p:nvSpPr>
          <p:cNvPr id="11" name="shape:011"/>
          <p:cNvSpPr/>
          <p:nvPr/>
        </p:nvSpPr>
        <p:spPr>
          <a:xfrm>
            <a:off x="1396563" y="3364992"/>
            <a:ext cx="1005840" cy="2212848"/>
          </a:xfrm>
          <a:prstGeom prst="rect">
            <a:avLst/>
          </a:prstGeom>
          <a:solidFill>
            <a:srgbClr val="322014"/>
          </a:solidFill>
          <a:ln/>
        </p:spPr>
        <p:txBody>
          <a:bodyPr>
            <a:noAutofit/>
          </a:bodyPr>
          <a:p/>
        </p:txBody>
      </p:sp>
      <p:sp>
        <p:nvSpPr>
          <p:cNvPr id="12" name="shape:012"/>
          <p:cNvSpPr/>
          <p:nvPr/>
        </p:nvSpPr>
        <p:spPr>
          <a:xfrm>
            <a:off x="1213683"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11</a:t>
            </a:r>
            <a:endParaRPr lang="en-US" sz="1100" dirty="0"/>
          </a:p>
        </p:txBody>
      </p:sp>
      <p:sp>
        <p:nvSpPr>
          <p:cNvPr id="13" name="shape:013"/>
          <p:cNvSpPr/>
          <p:nvPr/>
        </p:nvSpPr>
        <p:spPr>
          <a:xfrm>
            <a:off x="1122243"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ラベル1</a:t>
            </a:r>
            <a:endParaRPr lang="en-US" sz="1050" dirty="0"/>
          </a:p>
        </p:txBody>
      </p:sp>
      <p:sp>
        <p:nvSpPr>
          <p:cNvPr id="14" name="shape:014"/>
          <p:cNvSpPr/>
          <p:nvPr/>
        </p:nvSpPr>
        <p:spPr>
          <a:xfrm>
            <a:off x="3494745" y="3364992"/>
            <a:ext cx="1005840" cy="603504"/>
          </a:xfrm>
          <a:prstGeom prst="rect">
            <a:avLst/>
          </a:prstGeom>
          <a:solidFill>
            <a:srgbClr val="A22727"/>
          </a:solidFill>
          <a:ln/>
        </p:spPr>
        <p:txBody>
          <a:bodyPr>
            <a:noAutofit/>
          </a:bodyPr>
          <a:p/>
        </p:txBody>
      </p:sp>
      <p:sp>
        <p:nvSpPr>
          <p:cNvPr id="15" name="shape:015"/>
          <p:cNvSpPr/>
          <p:nvPr/>
        </p:nvSpPr>
        <p:spPr>
          <a:xfrm>
            <a:off x="3311865" y="3108960"/>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16" name="shape:016"/>
          <p:cNvSpPr/>
          <p:nvPr/>
        </p:nvSpPr>
        <p:spPr>
          <a:xfrm>
            <a:off x="3220425"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ラベル2</a:t>
            </a:r>
            <a:endParaRPr lang="en-US" sz="1050" dirty="0"/>
          </a:p>
        </p:txBody>
      </p:sp>
      <p:sp>
        <p:nvSpPr>
          <p:cNvPr id="17" name="shape:017"/>
          <p:cNvSpPr/>
          <p:nvPr/>
        </p:nvSpPr>
        <p:spPr>
          <a:xfrm>
            <a:off x="5592928" y="3163824"/>
            <a:ext cx="1005840" cy="804672"/>
          </a:xfrm>
          <a:prstGeom prst="rect">
            <a:avLst/>
          </a:prstGeom>
          <a:solidFill>
            <a:srgbClr val="5A3921"/>
          </a:solidFill>
          <a:ln/>
        </p:spPr>
        <p:txBody>
          <a:bodyPr>
            <a:noAutofit/>
          </a:bodyPr>
          <a:p/>
        </p:txBody>
      </p:sp>
      <p:sp>
        <p:nvSpPr>
          <p:cNvPr id="18" name="shape:018"/>
          <p:cNvSpPr/>
          <p:nvPr/>
        </p:nvSpPr>
        <p:spPr>
          <a:xfrm>
            <a:off x="5410048" y="2907792"/>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+4</a:t>
            </a:r>
            <a:endParaRPr lang="en-US" sz="1100" dirty="0"/>
          </a:p>
        </p:txBody>
      </p:sp>
      <p:sp>
        <p:nvSpPr>
          <p:cNvPr id="19" name="shape:019"/>
          <p:cNvSpPr/>
          <p:nvPr/>
        </p:nvSpPr>
        <p:spPr>
          <a:xfrm>
            <a:off x="5318608"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ラベル3</a:t>
            </a:r>
            <a:endParaRPr lang="en-US" sz="1050" dirty="0"/>
          </a:p>
        </p:txBody>
      </p:sp>
      <p:sp>
        <p:nvSpPr>
          <p:cNvPr id="20" name="shape:020"/>
          <p:cNvSpPr/>
          <p:nvPr/>
        </p:nvSpPr>
        <p:spPr>
          <a:xfrm>
            <a:off x="7691110" y="2560320"/>
            <a:ext cx="1005840" cy="603504"/>
          </a:xfrm>
          <a:prstGeom prst="rect">
            <a:avLst/>
          </a:prstGeom>
          <a:solidFill>
            <a:srgbClr val="5A3921"/>
          </a:solidFill>
          <a:ln/>
        </p:spPr>
        <p:txBody>
          <a:bodyPr>
            <a:noAutofit/>
          </a:bodyPr>
          <a:p/>
        </p:txBody>
      </p:sp>
      <p:sp>
        <p:nvSpPr>
          <p:cNvPr id="21" name="shape:021"/>
          <p:cNvSpPr/>
          <p:nvPr/>
        </p:nvSpPr>
        <p:spPr>
          <a:xfrm>
            <a:off x="7508230"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+3</a:t>
            </a:r>
            <a:endParaRPr lang="en-US" sz="1100" dirty="0"/>
          </a:p>
        </p:txBody>
      </p:sp>
      <p:sp>
        <p:nvSpPr>
          <p:cNvPr id="22" name="shape:022"/>
          <p:cNvSpPr/>
          <p:nvPr/>
        </p:nvSpPr>
        <p:spPr>
          <a:xfrm>
            <a:off x="7416790"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ラベル4</a:t>
            </a:r>
            <a:endParaRPr lang="en-US" sz="1050" dirty="0"/>
          </a:p>
        </p:txBody>
      </p:sp>
      <p:sp>
        <p:nvSpPr>
          <p:cNvPr id="23" name="shape:023"/>
          <p:cNvSpPr/>
          <p:nvPr/>
        </p:nvSpPr>
        <p:spPr>
          <a:xfrm>
            <a:off x="9789292" y="2560320"/>
            <a:ext cx="1005840" cy="3017520"/>
          </a:xfrm>
          <a:prstGeom prst="rect">
            <a:avLst/>
          </a:prstGeom>
          <a:solidFill>
            <a:srgbClr val="322014"/>
          </a:solidFill>
          <a:ln/>
        </p:spPr>
        <p:txBody>
          <a:bodyPr>
            <a:noAutofit/>
          </a:bodyPr>
          <a:p/>
        </p:txBody>
      </p:sp>
      <p:sp>
        <p:nvSpPr>
          <p:cNvPr id="24" name="shape:024"/>
          <p:cNvSpPr/>
          <p:nvPr/>
        </p:nvSpPr>
        <p:spPr>
          <a:xfrm>
            <a:off x="9606412" y="2304288"/>
            <a:ext cx="1371600" cy="201168"/>
          </a:xfrm>
          <a:prstGeom prst="rect">
            <a:avLst/>
          </a:prstGeom>
          <a:noFill/>
          <a:ln/>
        </p:spPr>
        <p:txBody>
          <a:bodyPr wrap="square" lIns="381" tIns="381" rIns="381" bIns="381" rtlCol="0" anchor="t">
            <a:noAutofit/>
          </a:bodyPr>
          <a:lstStyle/>
          <a:p>
            <a:pPr algn="ctr" indent="0" marL="0">
              <a:buNone/>
            </a:pPr>
            <a:r>
              <a:rPr lang="en-US" sz="1100" b="1" dirty="0">
                <a:solidFill>
                  <a:srgbClr val="322014"/>
                </a:solidFill>
                <a:latin typeface="Yu Gothic" pitchFamily="34" charset="0"/>
                <a:ea typeface="Yu Gothic" pitchFamily="34" charset="-122"/>
                <a:cs typeface="Yu Gothic" pitchFamily="34" charset="-120"/>
              </a:rPr>
              <a:t>15</a:t>
            </a:r>
            <a:endParaRPr lang="en-US" sz="1100" dirty="0"/>
          </a:p>
        </p:txBody>
      </p:sp>
      <p:sp>
        <p:nvSpPr>
          <p:cNvPr id="25" name="shape:025"/>
          <p:cNvSpPr/>
          <p:nvPr/>
        </p:nvSpPr>
        <p:spPr>
          <a:xfrm>
            <a:off x="9514972" y="5669280"/>
            <a:ext cx="1554480" cy="365760"/>
          </a:xfrm>
          <a:prstGeom prst="rect">
            <a:avLst/>
          </a:prstGeom>
          <a:noFill/>
          <a:ln/>
        </p:spPr>
        <p:txBody>
          <a:bodyPr wrap="square" lIns="381" tIns="381" rIns="381" bIns="381" rtlCol="0" anchor="t">
            <a:noAutofit/>
          </a:bodyPr>
          <a:lstStyle/>
          <a:p>
            <a:pPr algn="ctr" indent="0" marL="0">
              <a:buNone/>
            </a:pPr>
            <a:r>
              <a:rPr lang="en-US" sz="1050" dirty="0">
                <a:solidFill>
                  <a:srgbClr val="322014"/>
                </a:solidFill>
                <a:latin typeface="Yu Gothic" pitchFamily="34" charset="0"/>
                <a:ea typeface="Yu Gothic" pitchFamily="34" charset="-122"/>
                <a:cs typeface="Yu Gothic" pitchFamily="34" charset="-120"/>
              </a:rPr>
              <a:t>ラベル5</a:t>
            </a:r>
            <a:endParaRPr lang="en-US" sz="1050" dirty="0"/>
          </a:p>
        </p:txBody>
      </p:sp>
      <p:sp>
        <p:nvSpPr>
          <p:cNvPr id="26" name="shape:026"/>
          <p:cNvSpPr/>
          <p:nvPr/>
        </p:nvSpPr>
        <p:spPr>
          <a:xfrm>
            <a:off x="576072" y="5577840"/>
            <a:ext cx="11039551" cy="0"/>
          </a:xfrm>
          <a:prstGeom prst="line">
            <a:avLst/>
          </a:prstGeom>
          <a:noFill/>
          <a:ln w="12700">
            <a:solidFill>
              <a:srgbClr val="322014"/>
            </a:solidFill>
            <a:prstDash val="solid"/>
          </a:ln>
        </p:spPr>
        <p:txBody>
          <a:bodyPr>
            <a:noAutofit/>
          </a:bodyPr>
          <a:p/>
        </p:txBody>
      </p:sp>
      <p:sp>
        <p:nvSpPr>
          <p:cNvPr id="27"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増減ブリッジ（厳密）</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