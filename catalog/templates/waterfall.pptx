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"waterfall", "upstream_commit": "e5dd04dc6f1acf010046d2fc7319bcf5242a849a", "source_pptx_slide": 16,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07  WATERFALL</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寄与度ブリッジ</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注：前提・注記を記載 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16</a:t>
            </a:r>
            <a:endParaRPr lang="en-US" sz="750" dirty="0"/>
          </a:p>
        </p:txBody>
      </p:sp>
      <p:sp>
        <p:nvSpPr>
          <p:cNvPr id="10" name="shape:010"/>
          <p:cNvSpPr/>
          <p:nvPr/>
        </p:nvSpPr>
        <p:spPr>
          <a:xfrm>
            <a:off x="576072" y="1920240"/>
            <a:ext cx="6035040" cy="27432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指標名、単位</a:t>
            </a:r>
            <a:endParaRPr lang="en-US" sz="1500" dirty="0"/>
          </a:p>
        </p:txBody>
      </p:sp>
      <p:sp>
        <p:nvSpPr>
          <p:cNvPr id="11" name="shape:011"/>
          <p:cNvSpPr/>
          <p:nvPr/>
        </p:nvSpPr>
        <p:spPr>
          <a:xfrm>
            <a:off x="804672" y="4108269"/>
            <a:ext cx="603504" cy="1469571"/>
          </a:xfrm>
          <a:prstGeom prst="rect">
            <a:avLst/>
          </a:prstGeom>
          <a:solidFill>
            <a:srgbClr val="322014"/>
          </a:solidFill>
          <a:ln/>
        </p:spPr>
        <p:txBody>
          <a:bodyPr>
            <a:noAutofit/>
          </a:bodyPr>
          <a:p/>
        </p:txBody>
      </p:sp>
      <p:sp>
        <p:nvSpPr>
          <p:cNvPr id="12" name="shape:012"/>
          <p:cNvSpPr/>
          <p:nvPr/>
        </p:nvSpPr>
        <p:spPr>
          <a:xfrm>
            <a:off x="731520" y="3870525"/>
            <a:ext cx="749808" cy="18288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100</a:t>
            </a:r>
            <a:endParaRPr lang="en-US" sz="1200" dirty="0"/>
          </a:p>
        </p:txBody>
      </p:sp>
      <p:sp>
        <p:nvSpPr>
          <p:cNvPr id="13" name="shape:013"/>
          <p:cNvSpPr/>
          <p:nvPr/>
        </p:nvSpPr>
        <p:spPr>
          <a:xfrm>
            <a:off x="640080" y="5669280"/>
            <a:ext cx="960120" cy="292608"/>
          </a:xfrm>
          <a:prstGeom prst="rect">
            <a:avLst/>
          </a:prstGeom>
          <a:noFill/>
          <a:ln/>
        </p:spPr>
        <p:txBody>
          <a:bodyPr wrap="square" lIns="381" tIns="381" rIns="381" bIns="381" rtlCol="0" anchor="t">
            <a:noAutofit/>
          </a:bodyPr>
          <a:lstStyle/>
          <a:p>
            <a:pPr algn="l" indent="0" marL="0">
              <a:buNone/>
            </a:pPr>
            <a:r>
              <a:rPr lang="en-US" sz="920" dirty="0">
                <a:solidFill>
                  <a:srgbClr val="322014"/>
                </a:solidFill>
                <a:latin typeface="Yu Gothic" pitchFamily="34" charset="0"/>
                <a:ea typeface="Yu Gothic" pitchFamily="34" charset="-122"/>
                <a:cs typeface="Yu Gothic" pitchFamily="34" charset="-120"/>
              </a:rPr>
              <a:t>ラベル1</a:t>
            </a:r>
            <a:endParaRPr lang="en-US" sz="920" dirty="0"/>
          </a:p>
        </p:txBody>
      </p:sp>
      <p:sp>
        <p:nvSpPr>
          <p:cNvPr id="14" name="shape:014"/>
          <p:cNvSpPr/>
          <p:nvPr/>
        </p:nvSpPr>
        <p:spPr>
          <a:xfrm>
            <a:off x="1828800" y="5313317"/>
            <a:ext cx="603504" cy="264523"/>
          </a:xfrm>
          <a:prstGeom prst="rect">
            <a:avLst/>
          </a:prstGeom>
          <a:solidFill>
            <a:srgbClr val="5A3921"/>
          </a:solidFill>
          <a:ln/>
        </p:spPr>
        <p:txBody>
          <a:bodyPr>
            <a:noAutofit/>
          </a:bodyPr>
          <a:p/>
        </p:txBody>
      </p:sp>
      <p:sp>
        <p:nvSpPr>
          <p:cNvPr id="15" name="shape:015"/>
          <p:cNvSpPr/>
          <p:nvPr/>
        </p:nvSpPr>
        <p:spPr>
          <a:xfrm>
            <a:off x="1755648" y="5075573"/>
            <a:ext cx="749808" cy="18288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+18</a:t>
            </a:r>
            <a:endParaRPr lang="en-US" sz="1200" dirty="0"/>
          </a:p>
        </p:txBody>
      </p:sp>
      <p:sp>
        <p:nvSpPr>
          <p:cNvPr id="16" name="shape:016"/>
          <p:cNvSpPr/>
          <p:nvPr/>
        </p:nvSpPr>
        <p:spPr>
          <a:xfrm>
            <a:off x="1664208" y="5669280"/>
            <a:ext cx="960120" cy="292608"/>
          </a:xfrm>
          <a:prstGeom prst="rect">
            <a:avLst/>
          </a:prstGeom>
          <a:noFill/>
          <a:ln/>
        </p:spPr>
        <p:txBody>
          <a:bodyPr wrap="square" lIns="381" tIns="381" rIns="381" bIns="381" rtlCol="0" anchor="t">
            <a:noAutofit/>
          </a:bodyPr>
          <a:lstStyle/>
          <a:p>
            <a:pPr algn="l" indent="0" marL="0">
              <a:buNone/>
            </a:pPr>
            <a:r>
              <a:rPr lang="en-US" sz="920" dirty="0">
                <a:solidFill>
                  <a:srgbClr val="322014"/>
                </a:solidFill>
                <a:latin typeface="Yu Gothic" pitchFamily="34" charset="0"/>
                <a:ea typeface="Yu Gothic" pitchFamily="34" charset="-122"/>
                <a:cs typeface="Yu Gothic" pitchFamily="34" charset="-120"/>
              </a:rPr>
              <a:t>ラベル2</a:t>
            </a:r>
            <a:endParaRPr lang="en-US" sz="920" dirty="0"/>
          </a:p>
        </p:txBody>
      </p:sp>
      <p:sp>
        <p:nvSpPr>
          <p:cNvPr id="17" name="shape:017"/>
          <p:cNvSpPr/>
          <p:nvPr/>
        </p:nvSpPr>
        <p:spPr>
          <a:xfrm>
            <a:off x="2852928" y="5225143"/>
            <a:ext cx="603504" cy="352697"/>
          </a:xfrm>
          <a:prstGeom prst="rect">
            <a:avLst/>
          </a:prstGeom>
          <a:solidFill>
            <a:srgbClr val="5A3921"/>
          </a:solidFill>
          <a:ln/>
        </p:spPr>
        <p:txBody>
          <a:bodyPr>
            <a:noAutofit/>
          </a:bodyPr>
          <a:p/>
        </p:txBody>
      </p:sp>
      <p:sp>
        <p:nvSpPr>
          <p:cNvPr id="18" name="shape:018"/>
          <p:cNvSpPr/>
          <p:nvPr/>
        </p:nvSpPr>
        <p:spPr>
          <a:xfrm>
            <a:off x="2779776" y="4987399"/>
            <a:ext cx="749808" cy="18288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+24</a:t>
            </a:r>
            <a:endParaRPr lang="en-US" sz="1200" dirty="0"/>
          </a:p>
        </p:txBody>
      </p:sp>
      <p:sp>
        <p:nvSpPr>
          <p:cNvPr id="19" name="shape:019"/>
          <p:cNvSpPr/>
          <p:nvPr/>
        </p:nvSpPr>
        <p:spPr>
          <a:xfrm>
            <a:off x="2688336" y="5669280"/>
            <a:ext cx="960120" cy="292608"/>
          </a:xfrm>
          <a:prstGeom prst="rect">
            <a:avLst/>
          </a:prstGeom>
          <a:noFill/>
          <a:ln/>
        </p:spPr>
        <p:txBody>
          <a:bodyPr wrap="square" lIns="381" tIns="381" rIns="381" bIns="381" rtlCol="0" anchor="t">
            <a:noAutofit/>
          </a:bodyPr>
          <a:lstStyle/>
          <a:p>
            <a:pPr algn="l" indent="0" marL="0">
              <a:buNone/>
            </a:pPr>
            <a:r>
              <a:rPr lang="en-US" sz="920" dirty="0">
                <a:solidFill>
                  <a:srgbClr val="322014"/>
                </a:solidFill>
                <a:latin typeface="Yu Gothic" pitchFamily="34" charset="0"/>
                <a:ea typeface="Yu Gothic" pitchFamily="34" charset="-122"/>
                <a:cs typeface="Yu Gothic" pitchFamily="34" charset="-120"/>
              </a:rPr>
              <a:t>ラベル3</a:t>
            </a:r>
            <a:endParaRPr lang="en-US" sz="920" dirty="0"/>
          </a:p>
        </p:txBody>
      </p:sp>
      <p:sp>
        <p:nvSpPr>
          <p:cNvPr id="20" name="shape:020"/>
          <p:cNvSpPr/>
          <p:nvPr/>
        </p:nvSpPr>
        <p:spPr>
          <a:xfrm>
            <a:off x="3877056" y="5445579"/>
            <a:ext cx="603504" cy="132261"/>
          </a:xfrm>
          <a:prstGeom prst="rect">
            <a:avLst/>
          </a:prstGeom>
          <a:solidFill>
            <a:srgbClr val="A22727"/>
          </a:solidFill>
          <a:ln/>
        </p:spPr>
        <p:txBody>
          <a:bodyPr>
            <a:noAutofit/>
          </a:bodyPr>
          <a:p/>
        </p:txBody>
      </p:sp>
      <p:sp>
        <p:nvSpPr>
          <p:cNvPr id="21" name="shape:021"/>
          <p:cNvSpPr/>
          <p:nvPr/>
        </p:nvSpPr>
        <p:spPr>
          <a:xfrm>
            <a:off x="3803904" y="5207835"/>
            <a:ext cx="749808" cy="18288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-9</a:t>
            </a:r>
            <a:endParaRPr lang="en-US" sz="1200" dirty="0"/>
          </a:p>
        </p:txBody>
      </p:sp>
      <p:sp>
        <p:nvSpPr>
          <p:cNvPr id="22" name="shape:022"/>
          <p:cNvSpPr/>
          <p:nvPr/>
        </p:nvSpPr>
        <p:spPr>
          <a:xfrm>
            <a:off x="3712464" y="5669280"/>
            <a:ext cx="960120" cy="292608"/>
          </a:xfrm>
          <a:prstGeom prst="rect">
            <a:avLst/>
          </a:prstGeom>
          <a:noFill/>
          <a:ln/>
        </p:spPr>
        <p:txBody>
          <a:bodyPr wrap="square" lIns="381" tIns="381" rIns="381" bIns="381" rtlCol="0" anchor="t">
            <a:noAutofit/>
          </a:bodyPr>
          <a:lstStyle/>
          <a:p>
            <a:pPr algn="l" indent="0" marL="0">
              <a:buNone/>
            </a:pPr>
            <a:r>
              <a:rPr lang="en-US" sz="920" dirty="0">
                <a:solidFill>
                  <a:srgbClr val="322014"/>
                </a:solidFill>
                <a:latin typeface="Yu Gothic" pitchFamily="34" charset="0"/>
                <a:ea typeface="Yu Gothic" pitchFamily="34" charset="-122"/>
                <a:cs typeface="Yu Gothic" pitchFamily="34" charset="-120"/>
              </a:rPr>
              <a:t>ラベル4</a:t>
            </a:r>
            <a:endParaRPr lang="en-US" sz="920" dirty="0"/>
          </a:p>
        </p:txBody>
      </p:sp>
      <p:sp>
        <p:nvSpPr>
          <p:cNvPr id="23" name="shape:023"/>
          <p:cNvSpPr/>
          <p:nvPr/>
        </p:nvSpPr>
        <p:spPr>
          <a:xfrm>
            <a:off x="4901184" y="5474970"/>
            <a:ext cx="603504" cy="102870"/>
          </a:xfrm>
          <a:prstGeom prst="rect">
            <a:avLst/>
          </a:prstGeom>
          <a:solidFill>
            <a:srgbClr val="5A3921"/>
          </a:solidFill>
          <a:ln/>
        </p:spPr>
        <p:txBody>
          <a:bodyPr>
            <a:noAutofit/>
          </a:bodyPr>
          <a:p/>
        </p:txBody>
      </p:sp>
      <p:sp>
        <p:nvSpPr>
          <p:cNvPr id="24" name="shape:024"/>
          <p:cNvSpPr/>
          <p:nvPr/>
        </p:nvSpPr>
        <p:spPr>
          <a:xfrm>
            <a:off x="4828032" y="5237226"/>
            <a:ext cx="749808" cy="18288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+7</a:t>
            </a:r>
            <a:endParaRPr lang="en-US" sz="1200" dirty="0"/>
          </a:p>
        </p:txBody>
      </p:sp>
      <p:sp>
        <p:nvSpPr>
          <p:cNvPr id="25" name="shape:025"/>
          <p:cNvSpPr/>
          <p:nvPr/>
        </p:nvSpPr>
        <p:spPr>
          <a:xfrm>
            <a:off x="4736592" y="5669280"/>
            <a:ext cx="960120" cy="292608"/>
          </a:xfrm>
          <a:prstGeom prst="rect">
            <a:avLst/>
          </a:prstGeom>
          <a:noFill/>
          <a:ln/>
        </p:spPr>
        <p:txBody>
          <a:bodyPr wrap="square" lIns="381" tIns="381" rIns="381" bIns="381" rtlCol="0" anchor="t">
            <a:noAutofit/>
          </a:bodyPr>
          <a:lstStyle/>
          <a:p>
            <a:pPr algn="l" indent="0" marL="0">
              <a:buNone/>
            </a:pPr>
            <a:r>
              <a:rPr lang="en-US" sz="920" dirty="0">
                <a:solidFill>
                  <a:srgbClr val="322014"/>
                </a:solidFill>
                <a:latin typeface="Yu Gothic" pitchFamily="34" charset="0"/>
                <a:ea typeface="Yu Gothic" pitchFamily="34" charset="-122"/>
                <a:cs typeface="Yu Gothic" pitchFamily="34" charset="-120"/>
              </a:rPr>
              <a:t>ラベル5</a:t>
            </a:r>
            <a:endParaRPr lang="en-US" sz="920" dirty="0"/>
          </a:p>
        </p:txBody>
      </p:sp>
      <p:sp>
        <p:nvSpPr>
          <p:cNvPr id="26" name="shape:026"/>
          <p:cNvSpPr/>
          <p:nvPr/>
        </p:nvSpPr>
        <p:spPr>
          <a:xfrm>
            <a:off x="5925312" y="3520440"/>
            <a:ext cx="603504" cy="2057400"/>
          </a:xfrm>
          <a:prstGeom prst="rect">
            <a:avLst/>
          </a:prstGeom>
          <a:solidFill>
            <a:srgbClr val="322014"/>
          </a:solidFill>
          <a:ln/>
        </p:spPr>
        <p:txBody>
          <a:bodyPr>
            <a:noAutofit/>
          </a:bodyPr>
          <a:p/>
        </p:txBody>
      </p:sp>
      <p:sp>
        <p:nvSpPr>
          <p:cNvPr id="27" name="shape:027"/>
          <p:cNvSpPr/>
          <p:nvPr/>
        </p:nvSpPr>
        <p:spPr>
          <a:xfrm>
            <a:off x="5852160" y="3282696"/>
            <a:ext cx="749808" cy="182880"/>
          </a:xfrm>
          <a:prstGeom prst="rect">
            <a:avLst/>
          </a:prstGeom>
          <a:noFill/>
          <a:ln/>
        </p:spPr>
        <p:txBody>
          <a:bodyPr wrap="square" lIns="381" tIns="381" rIns="381" bIns="381" rtlCol="0" anchor="t">
            <a:noAutofit/>
          </a:bodyPr>
          <a:lstStyle/>
          <a:p>
            <a:pPr algn="l" indent="0" marL="0">
              <a:buNone/>
            </a:pPr>
            <a:r>
              <a:rPr lang="en-US" sz="1200" b="1" dirty="0">
                <a:solidFill>
                  <a:srgbClr val="322014"/>
                </a:solidFill>
                <a:latin typeface="Yu Gothic" pitchFamily="34" charset="0"/>
                <a:ea typeface="Yu Gothic" pitchFamily="34" charset="-122"/>
                <a:cs typeface="Yu Gothic" pitchFamily="34" charset="-120"/>
              </a:rPr>
              <a:t>140</a:t>
            </a:r>
            <a:endParaRPr lang="en-US" sz="1200" dirty="0"/>
          </a:p>
        </p:txBody>
      </p:sp>
      <p:sp>
        <p:nvSpPr>
          <p:cNvPr id="28" name="shape:028"/>
          <p:cNvSpPr/>
          <p:nvPr/>
        </p:nvSpPr>
        <p:spPr>
          <a:xfrm>
            <a:off x="5760720" y="5669280"/>
            <a:ext cx="960120" cy="292608"/>
          </a:xfrm>
          <a:prstGeom prst="rect">
            <a:avLst/>
          </a:prstGeom>
          <a:noFill/>
          <a:ln/>
        </p:spPr>
        <p:txBody>
          <a:bodyPr wrap="square" lIns="381" tIns="381" rIns="381" bIns="381" rtlCol="0" anchor="t">
            <a:noAutofit/>
          </a:bodyPr>
          <a:lstStyle/>
          <a:p>
            <a:pPr algn="l" indent="0" marL="0">
              <a:buNone/>
            </a:pPr>
            <a:r>
              <a:rPr lang="en-US" sz="920" dirty="0">
                <a:solidFill>
                  <a:srgbClr val="322014"/>
                </a:solidFill>
                <a:latin typeface="Yu Gothic" pitchFamily="34" charset="0"/>
                <a:ea typeface="Yu Gothic" pitchFamily="34" charset="-122"/>
                <a:cs typeface="Yu Gothic" pitchFamily="34" charset="-120"/>
              </a:rPr>
              <a:t>ラベル6</a:t>
            </a:r>
            <a:endParaRPr lang="en-US" sz="920" dirty="0"/>
          </a:p>
        </p:txBody>
      </p:sp>
      <p:sp>
        <p:nvSpPr>
          <p:cNvPr id="29" name="shape:029"/>
          <p:cNvSpPr/>
          <p:nvPr/>
        </p:nvSpPr>
        <p:spPr>
          <a:xfrm>
            <a:off x="576072" y="5577840"/>
            <a:ext cx="5852160" cy="0"/>
          </a:xfrm>
          <a:prstGeom prst="line">
            <a:avLst/>
          </a:prstGeom>
          <a:noFill/>
          <a:ln w="12700">
            <a:solidFill>
              <a:srgbClr val="322014"/>
            </a:solidFill>
            <a:prstDash val="solid"/>
          </a:ln>
        </p:spPr>
        <p:txBody>
          <a:bodyPr>
            <a:noAutofit/>
          </a:bodyPr>
          <a:p/>
        </p:txBody>
      </p:sp>
      <p:sp>
        <p:nvSpPr>
          <p:cNvPr id="30" name="shape:030"/>
          <p:cNvSpPr/>
          <p:nvPr/>
        </p:nvSpPr>
        <p:spPr>
          <a:xfrm>
            <a:off x="6858000" y="1965960"/>
            <a:ext cx="0" cy="1325880"/>
          </a:xfrm>
          <a:prstGeom prst="line">
            <a:avLst/>
          </a:prstGeom>
          <a:noFill/>
          <a:ln w="27940">
            <a:solidFill>
              <a:srgbClr val="5A3921"/>
            </a:solidFill>
            <a:prstDash val="solid"/>
          </a:ln>
        </p:spPr>
        <p:txBody>
          <a:bodyPr>
            <a:noAutofit/>
          </a:bodyPr>
          <a:p/>
        </p:txBody>
      </p:sp>
      <p:sp>
        <p:nvSpPr>
          <p:cNvPr id="31" name="shape:031"/>
          <p:cNvSpPr/>
          <p:nvPr/>
        </p:nvSpPr>
        <p:spPr>
          <a:xfrm>
            <a:off x="7059168" y="1965960"/>
            <a:ext cx="4096512" cy="411480"/>
          </a:xfrm>
          <a:prstGeom prst="rect">
            <a:avLst/>
          </a:prstGeom>
          <a:noFill/>
          <a:ln/>
        </p:spPr>
        <p:txBody>
          <a:bodyPr wrap="square" lIns="381" tIns="381" rIns="381" bIns="381" rtlCol="0" anchor="t">
            <a:noAutofit/>
          </a:bodyPr>
          <a:lstStyle/>
          <a:p>
            <a:pPr algn="l" indent="0" marL="0">
              <a:buNone/>
            </a:pPr>
            <a:r>
              <a:rPr lang="en-US" sz="1500" b="1" dirty="0">
                <a:solidFill>
                  <a:srgbClr val="322014"/>
                </a:solidFill>
                <a:latin typeface="Yu Gothic" pitchFamily="34" charset="0"/>
                <a:ea typeface="Yu Gothic" pitchFamily="34" charset="-122"/>
                <a:cs typeface="Yu Gothic" pitchFamily="34" charset="-120"/>
              </a:rPr>
              <a:t>タイトル 2</a:t>
            </a:r>
            <a:endParaRPr lang="en-US" sz="1500" dirty="0"/>
          </a:p>
        </p:txBody>
      </p:sp>
      <p:sp>
        <p:nvSpPr>
          <p:cNvPr id="32" name="shape:032"/>
          <p:cNvSpPr/>
          <p:nvPr/>
        </p:nvSpPr>
        <p:spPr>
          <a:xfrm>
            <a:off x="7059168" y="2468880"/>
            <a:ext cx="4096512" cy="822960"/>
          </a:xfrm>
          <a:prstGeom prst="rect">
            <a:avLst/>
          </a:prstGeom>
          <a:noFill/>
          <a:ln/>
        </p:spPr>
        <p:txBody>
          <a:bodyPr wrap="square" lIns="381" tIns="381" rIns="381" bIns="381" rtlCol="0" anchor="t">
            <a:noAutofit/>
          </a:bodyPr>
          <a:lstStyle/>
          <a:p>
            <a:pPr algn="l" indent="0" marL="0">
              <a:buNone/>
            </a:pPr>
            <a:r>
              <a:rPr lang="en-US" sz="1350" dirty="0">
                <a:solidFill>
                  <a:srgbClr val="322014"/>
                </a:solidFill>
                <a:latin typeface="Yu Gothic" pitchFamily="34" charset="0"/>
                <a:ea typeface="Yu Gothic" pitchFamily="34" charset="-122"/>
                <a:cs typeface="Yu Gothic" pitchFamily="34" charset="-120"/>
              </a:rPr>
              <a:t>Text 1</a:t>
            </a:r>
            <a:endParaRPr lang="en-US" sz="1350" dirty="0"/>
          </a:p>
        </p:txBody>
      </p:sp>
      <p:sp>
        <p:nvSpPr>
          <p:cNvPr id="33"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寄与度ブリッジ</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