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記録件数</c:v>
                </c:pt>
              </c:strCache>
            </c:strRef>
          </c:tx>
          <c:spPr>
            <a:solidFill>
              <a:srgbClr val="007C8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試行前</c:v>
                </c:pt>
                <c:pt idx="1">
                  <c:v>第1回</c:v>
                </c:pt>
                <c:pt idx="2">
                  <c:v>第2回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18.0</c:v>
                </c:pt>
                <c:pt idx="2">
                  <c:v>24.0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0" lang="ja-JP">
                  <a:solidFill>
                    <a:srgbClr val="13233B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"demo1",</a:t>
            </a:r>
          </a:p>
          <a:p>
            <a:r>
              <a:t>  "origin": "section1",</a:t>
            </a:r>
          </a:p>
          <a:p>
            <a:r>
              <a:t>  "layout_id": "title",</a:t>
            </a:r>
          </a:p>
          <a:p>
            <a:r>
              <a:t>  "rationale": "表紙。架空設定を明示する。",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"地域図書室の運営改善",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"s001",</a:t>
            </a:r>
          </a:p>
          <a:p>
            <a:r>
              <a:t>          "quote": "地域図書室の運営改善"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"架空の活動を使ったレイアウト検証",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"s002",</a:t>
            </a:r>
          </a:p>
          <a:p>
            <a:r>
              <a:t>          "quote": "架空の活動を使ったレイアウト検証"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"数値・団体・活動はすべて架空の設定です。",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"s003",</a:t>
            </a:r>
          </a:p>
          <a:p>
            <a:r>
              <a:t>          "quote": "数値・団体・活動はすべて架空の設定です。"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"s001": "検証用の架空設定。実在の調査結果ではありません。",</a:t>
            </a:r>
          </a:p>
          <a:p>
            <a:r>
              <a:t>    "s002": "検証用の架空設定。実在の調査結果ではありません。",</a:t>
            </a:r>
          </a:p>
          <a:p>
            <a:r>
              <a:t>    "s003":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"demo2",</a:t>
            </a:r>
          </a:p>
          <a:p>
            <a:r>
              <a:t>  "origin": "section2",</a:t>
            </a:r>
          </a:p>
          <a:p>
            <a:r>
              <a:t>  "layout_id": "bullets",</a:t>
            </a:r>
          </a:p>
          <a:p>
            <a:r>
              <a:t>  "rationale": "同格の前提を箇条書きで示す。",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"運営の前提をそろえる",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"s004",</a:t>
            </a:r>
          </a:p>
          <a:p>
            <a:r>
              <a:t>          "quote": "運営の前提をそろえる"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"利用者の要望を記録し、担当者間で共有する。",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"s005",</a:t>
            </a:r>
          </a:p>
          <a:p>
            <a:r>
              <a:t>          "quote": "利用者の要望を記録し、担当者間で共有する。"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"既存の資料を整理し、必要な情報を見つけやすくする。",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"s006",</a:t>
            </a:r>
          </a:p>
          <a:p>
            <a:r>
              <a:t>          "quote": "既存の資料を整理し、必要な情報を見つけやすくする。"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"小さな試行の結果を確認してから、運用を見直す。",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"s007",</a:t>
            </a:r>
          </a:p>
          <a:p>
            <a:r>
              <a:t>          "quote": "小さな試行の結果を確認してから、運用を見直す。"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"s004": "検証用の架空設定。実在の調査結果ではありません。",</a:t>
            </a:r>
          </a:p>
          <a:p>
            <a:r>
              <a:t>    "s005": "検証用の架空設定。実在の調査結果ではありません。",</a:t>
            </a:r>
          </a:p>
          <a:p>
            <a:r>
              <a:t>    "s006": "検証用の架空設定。実在の調査結果ではありません。",</a:t>
            </a:r>
          </a:p>
          <a:p>
            <a:r>
              <a:t>    "s007":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"demo3",</a:t>
            </a:r>
          </a:p>
          <a:p>
            <a:r>
              <a:t>  "origin": "section3",</a:t>
            </a:r>
          </a:p>
          <a:p>
            <a:r>
              <a:t>  "layout_id": "text_image",</a:t>
            </a:r>
          </a:p>
          <a:p>
            <a:r>
              <a:t>  "rationale": "支給画像と説明の対比。fitで全体を保持。",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"記録と資料を並べて確認",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"s008",</a:t>
            </a:r>
          </a:p>
          <a:p>
            <a:r>
              <a:t>          "quote": "記録と資料を並べて確認"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"右側は添付画像の比率を検証する図です。",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"s009",</a:t>
            </a:r>
          </a:p>
          <a:p>
            <a:r>
              <a:t>          "quote": "右側は添付画像の比率を検証する図です。"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"画像全体を表示し、縦横比を保ちます。",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"s010",</a:t>
            </a:r>
          </a:p>
          <a:p>
            <a:r>
              <a:t>          "quote": "画像全体を表示し、縦横比を保ちます。"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"説明文は PowerPoint 上で編集できます。",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"s011",</a:t>
            </a:r>
          </a:p>
          <a:p>
            <a:r>
              <a:t>          "quote": "説明文は PowerPoint 上で編集できます。"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"s008": "検証用の架空設定。実在の調査結果ではありません。",</a:t>
            </a:r>
          </a:p>
          <a:p>
            <a:r>
              <a:t>    "s009": "検証用の架空設定。実在の調査結果ではありません。",</a:t>
            </a:r>
          </a:p>
          <a:p>
            <a:r>
              <a:t>    "s010": "検証用の架空設定。実在の調査結果ではありません。",</a:t>
            </a:r>
          </a:p>
          <a:p>
            <a:r>
              <a:t>    "s011":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"demo4",</a:t>
            </a:r>
          </a:p>
          <a:p>
            <a:r>
              <a:t>  "origin": "section4",</a:t>
            </a:r>
          </a:p>
          <a:p>
            <a:r>
              <a:t>  "layout_id": "comparison",</a:t>
            </a:r>
          </a:p>
          <a:p>
            <a:r>
              <a:t>  "rationale": "入力にある二つの選択肢を対置する。",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"受付方法の比較",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"s012",</a:t>
            </a:r>
          </a:p>
          <a:p>
            <a:r>
              <a:t>          "quote": "受付方法の比較"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"紙の受付",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"s013",</a:t>
            </a:r>
          </a:p>
          <a:p>
            <a:r>
              <a:t>          "quote": "紙の受付"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"共通の記録表",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"s014",</a:t>
            </a:r>
          </a:p>
          <a:p>
            <a:r>
              <a:t>          "quote": "共通の記録表"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"その場で書き込める。",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"s015",</a:t>
            </a:r>
          </a:p>
          <a:p>
            <a:r>
              <a:t>          "quote": "その場で書き込める。"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"集計には転記が必要。",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"s016",</a:t>
            </a:r>
          </a:p>
          <a:p>
            <a:r>
              <a:t>          "quote": "集計には転記が必要。"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"担当者間で参照しやすい。",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"s017",</a:t>
            </a:r>
          </a:p>
          <a:p>
            <a:r>
              <a:t>          "quote": "担当者間で参照しやすい。"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"入力手順の共有が必要。",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"s018",</a:t>
            </a:r>
          </a:p>
          <a:p>
            <a:r>
              <a:t>          "quote": "入力手順の共有が必要。"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"s012": "検証用の架空設定。実在の調査結果ではありません。",</a:t>
            </a:r>
          </a:p>
          <a:p>
            <a:r>
              <a:t>    "s013": "検証用の架空設定。実在の調査結果ではありません。",</a:t>
            </a:r>
          </a:p>
          <a:p>
            <a:r>
              <a:t>    "s014": "検証用の架空設定。実在の調査結果ではありません。",</a:t>
            </a:r>
          </a:p>
          <a:p>
            <a:r>
              <a:t>    "s015": "検証用の架空設定。実在の調査結果ではありません。",</a:t>
            </a:r>
          </a:p>
          <a:p>
            <a:r>
              <a:t>    "s016": "検証用の架空設定。実在の調査結果ではありません。",</a:t>
            </a:r>
          </a:p>
          <a:p>
            <a:r>
              <a:t>    "s017": "検証用の架空設定。実在の調査結果ではありません。",</a:t>
            </a:r>
          </a:p>
          <a:p>
            <a:r>
              <a:t>    "s018":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"demo5",</a:t>
            </a:r>
          </a:p>
          <a:p>
            <a:r>
              <a:t>  "origin": "section5",</a:t>
            </a:r>
          </a:p>
          <a:p>
            <a:r>
              <a:t>  "layout_id": "process",</a:t>
            </a:r>
          </a:p>
          <a:p>
            <a:r>
              <a:t>  "rationale": "原文の順序をnative図形と矢印で示す。",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"試行から振り返りへ",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"s019",</a:t>
            </a:r>
          </a:p>
          <a:p>
            <a:r>
              <a:t>          "quote": "試行から振り返りへ"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"要望の整理",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"s020",</a:t>
            </a:r>
          </a:p>
          <a:p>
            <a:r>
              <a:t>          "quote": "要望の整理"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"小さく試す",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"s021",</a:t>
            </a:r>
          </a:p>
          <a:p>
            <a:r>
              <a:t>          "quote": "小さく試す"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"結果の記録",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"s022",</a:t>
            </a:r>
          </a:p>
          <a:p>
            <a:r>
              <a:t>          "quote": "結果の記録"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"運用の見直し",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"s023",</a:t>
            </a:r>
          </a:p>
          <a:p>
            <a:r>
              <a:t>          "quote": "運用の見直し"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"s019": "検証用の架空設定。実在の調査結果ではありません。",</a:t>
            </a:r>
          </a:p>
          <a:p>
            <a:r>
              <a:t>    "s020": "検証用の架空設定。実在の調査結果ではありません。",</a:t>
            </a:r>
          </a:p>
          <a:p>
            <a:r>
              <a:t>    "s021": "検証用の架空設定。実在の調査結果ではありません。",</a:t>
            </a:r>
          </a:p>
          <a:p>
            <a:r>
              <a:t>    "s022": "検証用の架空設定。実在の調査結果ではありません。",</a:t>
            </a:r>
          </a:p>
          <a:p>
            <a:r>
              <a:t>    "s023":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"demo6",</a:t>
            </a:r>
          </a:p>
          <a:p>
            <a:r>
              <a:t>  "origin": "section6",</a:t>
            </a:r>
          </a:p>
          <a:p>
            <a:r>
              <a:t>  "layout_id": "table",</a:t>
            </a:r>
          </a:p>
          <a:p>
            <a:r>
              <a:t>  "rationale": "既存の対応関係を編集可能な表にする。",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"試行の予定を共有する",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"s024",</a:t>
            </a:r>
          </a:p>
          <a:p>
            <a:r>
              <a:t>          "quote": "試行の予定を共有する"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"段階",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"s025",</a:t>
            </a:r>
          </a:p>
          <a:p>
            <a:r>
              <a:t>          "quote": "段階"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"作業",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"s026",</a:t>
            </a:r>
          </a:p>
          <a:p>
            <a:r>
              <a:t>          "quote": "作業"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"確認内容",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"s027",</a:t>
            </a:r>
          </a:p>
          <a:p>
            <a:r>
              <a:t>          "quote": "確認内容"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"準備",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"s028",</a:t>
            </a:r>
          </a:p>
          <a:p>
            <a:r>
              <a:t>          "quote": "準備"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"記録表を作成",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"s029",</a:t>
            </a:r>
          </a:p>
          <a:p>
            <a:r>
              <a:t>          "quote": "記録表を作成"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"項目の不足",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"s030",</a:t>
            </a:r>
          </a:p>
          <a:p>
            <a:r>
              <a:t>          "quote": "項目の不足"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"試行",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"s031",</a:t>
            </a:r>
          </a:p>
          <a:p>
            <a:r>
              <a:t>          "quote": "試行"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"受付で利用",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"s032",</a:t>
            </a:r>
          </a:p>
          <a:p>
            <a:r>
              <a:t>          "quote": "受付で利用"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"記入の負担",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"s033",</a:t>
            </a:r>
          </a:p>
          <a:p>
            <a:r>
              <a:t>          "quote": "記入の負担"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"振り返り",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"s034",</a:t>
            </a:r>
          </a:p>
          <a:p>
            <a:r>
              <a:t>          "quote": "振り返り"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"記録を確認",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"s035",</a:t>
            </a:r>
          </a:p>
          <a:p>
            <a:r>
              <a:t>          "quote": "記録を確認"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"改善する箇所",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"s036",</a:t>
            </a:r>
          </a:p>
          <a:p>
            <a:r>
              <a:t>          "quote": "改善する箇所"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"s024": "検証用の架空設定。実在の調査結果ではありません。",</a:t>
            </a:r>
          </a:p>
          <a:p>
            <a:r>
              <a:t>    "s025": "検証用の架空設定。実在の調査結果ではありません。",</a:t>
            </a:r>
          </a:p>
          <a:p>
            <a:r>
              <a:t>    "s026": "検証用の架空設定。実在の調査結果ではありません。",</a:t>
            </a:r>
          </a:p>
          <a:p>
            <a:r>
              <a:t>    "s027": "検証用の架空設定。実在の調査結果ではありません。",</a:t>
            </a:r>
          </a:p>
          <a:p>
            <a:r>
              <a:t>    "s028": "検証用の架空設定。実在の調査結果ではありません。",</a:t>
            </a:r>
          </a:p>
          <a:p>
            <a:r>
              <a:t>    "s029": "検証用の架空設定。実在の調査結果ではありません。",</a:t>
            </a:r>
          </a:p>
          <a:p>
            <a:r>
              <a:t>    "s030": "検証用の架空設定。実在の調査結果ではありません。",</a:t>
            </a:r>
          </a:p>
          <a:p>
            <a:r>
              <a:t>    "s031": "検証用の架空設定。実在の調査結果ではありません。",</a:t>
            </a:r>
          </a:p>
          <a:p>
            <a:r>
              <a:t>    "s032": "検証用の架空設定。実在の調査結果ではありません。",</a:t>
            </a:r>
          </a:p>
          <a:p>
            <a:r>
              <a:t>    "s033": "検証用の架空設定。実在の調査結果ではありません。",</a:t>
            </a:r>
          </a:p>
          <a:p>
            <a:r>
              <a:t>    "s034": "検証用の架空設定。実在の調査結果ではありません。",</a:t>
            </a:r>
          </a:p>
          <a:p>
            <a:r>
              <a:t>    "s035": "検証用の架空設定。実在の調査結果ではありません。",</a:t>
            </a:r>
          </a:p>
          <a:p>
            <a:r>
              <a:t>    "s036":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"demo7",</a:t>
            </a:r>
          </a:p>
          <a:p>
            <a:r>
              <a:t>  "origin": "section7",</a:t>
            </a:r>
          </a:p>
          <a:p>
            <a:r>
              <a:t>  "layout_id": "chart",</a:t>
            </a:r>
          </a:p>
          <a:p>
            <a:r>
              <a:t>  "rationale": "与えられた件数だけをnative縦棒グラフにする。因果を補完しない。",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"記録件数を確認する",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"s037",</a:t>
            </a:r>
          </a:p>
          <a:p>
            <a:r>
              <a:t>          "quote": "記録件数を確認する"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"試行前",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"s038",</a:t>
            </a:r>
          </a:p>
          <a:p>
            <a:r>
              <a:t>          "quote": "試行前"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"第1回",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"s039",</a:t>
            </a:r>
          </a:p>
          <a:p>
            <a:r>
              <a:t>          "quote": "第1回"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"第2回",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"s040",</a:t>
            </a:r>
          </a:p>
          <a:p>
            <a:r>
              <a:t>          "quote": "第2回"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"記録件数",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"s041",</a:t>
            </a:r>
          </a:p>
          <a:p>
            <a:r>
              <a:t>          "quote": "記録件数"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"value": 12.0,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"s042",</a:t>
            </a:r>
          </a:p>
          <a:p>
            <a:r>
              <a:t>          "quote": "12"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"value": 18.0,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"s043",</a:t>
            </a:r>
          </a:p>
          <a:p>
            <a:r>
              <a:t>          "quote": "18"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"value": 24.0,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"s044",</a:t>
            </a:r>
          </a:p>
          <a:p>
            <a:r>
              <a:t>          "quote": "24"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"単位：件。架空の数値であり、改善効果を示すものではありません。",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"s045",</a:t>
            </a:r>
          </a:p>
          <a:p>
            <a:r>
              <a:t>          "quote": "単位：件。架空の数値であり、改善効果を示すものではありません。"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"s037": "検証用の架空設定。実在の調査結果ではありません。",</a:t>
            </a:r>
          </a:p>
          <a:p>
            <a:r>
              <a:t>    "s038": "検証用の架空設定。実在の調査結果ではありません。",</a:t>
            </a:r>
          </a:p>
          <a:p>
            <a:r>
              <a:t>    "s039": "検証用の架空設定。実在の調査結果ではありません。",</a:t>
            </a:r>
          </a:p>
          <a:p>
            <a:r>
              <a:t>    "s040": "検証用の架空設定。実在の調査結果ではありません。",</a:t>
            </a:r>
          </a:p>
          <a:p>
            <a:r>
              <a:t>    "s041": "検証用の架空設定。実在の調査結果ではありません。",</a:t>
            </a:r>
          </a:p>
          <a:p>
            <a:r>
              <a:t>    "s042": "検証用の架空設定。実在の調査結果ではありません。",</a:t>
            </a:r>
          </a:p>
          <a:p>
            <a:r>
              <a:t>    "s043": "検証用の架空設定。実在の調査結果ではありません。",</a:t>
            </a:r>
          </a:p>
          <a:p>
            <a:r>
              <a:t>    "s044": "検証用の架空設定。実在の調査結果ではありません。",</a:t>
            </a:r>
          </a:p>
          <a:p>
            <a:r>
              <a:t>    "s045":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"demo8",</a:t>
            </a:r>
          </a:p>
          <a:p>
            <a:r>
              <a:t>  "origin": "section8",</a:t>
            </a:r>
          </a:p>
          <a:p>
            <a:r>
              <a:t>  "layout_id": "closing",</a:t>
            </a:r>
          </a:p>
          <a:p>
            <a:r>
              <a:t>  "rationale": "入力にある次の行動をまとめる。",</a:t>
            </a:r>
          </a:p>
          <a:p>
            <a:r>
              <a:t>  "source_sha256": "4a7b181db98f26085ee56f2fb0ae9139399d54c8ea614dacf2cd201b83788e93",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"次の試行に向けて",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"s046",</a:t>
            </a:r>
          </a:p>
          <a:p>
            <a:r>
              <a:t>          "quote": "次の試行に向けて"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"記録の取り方を担当者間で確認する。",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"s047",</a:t>
            </a:r>
          </a:p>
          <a:p>
            <a:r>
              <a:t>          "quote": "記録の取り方を担当者間で確認する。"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"不明な点を残したまま効果を断定しない。",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"s048",</a:t>
            </a:r>
          </a:p>
          <a:p>
            <a:r>
              <a:t>          "quote": "不明な点を残したまま効果を断定しない。"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"運用に合わせて文章や表を手直しする。",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"s049",</a:t>
            </a:r>
          </a:p>
          <a:p>
            <a:r>
              <a:t>          "quote": "運用に合わせて文章や表を手直しする。"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"s046": "検証用の架空設定。実在の調査結果ではありません。",</a:t>
            </a:r>
          </a:p>
          <a:p>
            <a:r>
              <a:t>    "s047": "検証用の架空設定。実在の調査結果ではありません。",</a:t>
            </a:r>
          </a:p>
          <a:p>
            <a:r>
              <a:t>    "s048": "検証用の架空設定。実在の調査結果ではありません。",</a:t>
            </a:r>
          </a:p>
          <a:p>
            <a:r>
              <a:t>    "s049": "検証用の架空設定。実在の調査結果ではありません。"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地域図書室の運営改善</a:t>
            </a:r>
          </a:p>
        </p:txBody>
      </p:sp>
      <p:sp>
        <p:nvSpPr>
          <p:cNvPr id="4" name="decoration"/>
          <p:cNvSpPr/>
          <p:nvPr/>
        </p:nvSpPr>
        <p:spPr>
          <a:xfrm>
            <a:off x="822959" y="23957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1033271" y="2286000"/>
            <a:ext cx="9756648" cy="1490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架空の活動を使ったレイアウト検証</a:t>
            </a:r>
          </a:p>
        </p:txBody>
      </p:sp>
      <p:sp>
        <p:nvSpPr>
          <p:cNvPr id="6" name="decoration"/>
          <p:cNvSpPr/>
          <p:nvPr/>
        </p:nvSpPr>
        <p:spPr>
          <a:xfrm>
            <a:off x="822959" y="39959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"/>
          <p:cNvSpPr txBox="1"/>
          <p:nvPr/>
        </p:nvSpPr>
        <p:spPr>
          <a:xfrm>
            <a:off x="1033271" y="3886200"/>
            <a:ext cx="9756648" cy="1490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数値・団体・活動はすべて架空の設定です。</a:t>
            </a:r>
          </a:p>
        </p:txBody>
      </p:sp>
      <p:sp>
        <p:nvSpPr>
          <p:cNvPr id="8" name="decoration"/>
          <p:cNvSpPr/>
          <p:nvPr/>
        </p:nvSpPr>
        <p:spPr>
          <a:xfrm>
            <a:off x="11109960" y="2286000"/>
            <a:ext cx="137160" cy="320040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 s001, s002, s003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運営の前提をそろえる</a:t>
            </a:r>
          </a:p>
        </p:txBody>
      </p:sp>
      <p:sp>
        <p:nvSpPr>
          <p:cNvPr id="4" name="decoration"/>
          <p:cNvSpPr/>
          <p:nvPr/>
        </p:nvSpPr>
        <p:spPr>
          <a:xfrm>
            <a:off x="731520" y="19385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941832" y="1828800"/>
            <a:ext cx="10518647" cy="12771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利用者の要望を記録し、担当者間で共有する。</a:t>
            </a:r>
          </a:p>
        </p:txBody>
      </p:sp>
      <p:sp>
        <p:nvSpPr>
          <p:cNvPr id="6" name="decoration"/>
          <p:cNvSpPr/>
          <p:nvPr/>
        </p:nvSpPr>
        <p:spPr>
          <a:xfrm>
            <a:off x="731520" y="332536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"/>
          <p:cNvSpPr txBox="1"/>
          <p:nvPr/>
        </p:nvSpPr>
        <p:spPr>
          <a:xfrm>
            <a:off x="941832" y="3215640"/>
            <a:ext cx="10518647" cy="12771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既存の資料を整理し、必要な情報を見つけやすくする。</a:t>
            </a:r>
          </a:p>
        </p:txBody>
      </p:sp>
      <p:sp>
        <p:nvSpPr>
          <p:cNvPr id="8" name="decoration"/>
          <p:cNvSpPr/>
          <p:nvPr/>
        </p:nvSpPr>
        <p:spPr>
          <a:xfrm>
            <a:off x="731520" y="471220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941832" y="4602480"/>
            <a:ext cx="10518647" cy="12771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小さな試行の結果を確認してから、運用を見直す。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s004, s005, s006, s007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記録と資料を並べて確認</a:t>
            </a:r>
          </a:p>
        </p:txBody>
      </p:sp>
      <p:sp>
        <p:nvSpPr>
          <p:cNvPr id="4" name="decoration"/>
          <p:cNvSpPr/>
          <p:nvPr/>
        </p:nvSpPr>
        <p:spPr>
          <a:xfrm>
            <a:off x="548640" y="19385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758952" y="1828800"/>
            <a:ext cx="5138927" cy="12771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右側は添付画像の比率を検証する図です。</a:t>
            </a:r>
          </a:p>
        </p:txBody>
      </p:sp>
      <p:sp>
        <p:nvSpPr>
          <p:cNvPr id="6" name="decoration"/>
          <p:cNvSpPr/>
          <p:nvPr/>
        </p:nvSpPr>
        <p:spPr>
          <a:xfrm>
            <a:off x="548640" y="332536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"/>
          <p:cNvSpPr txBox="1"/>
          <p:nvPr/>
        </p:nvSpPr>
        <p:spPr>
          <a:xfrm>
            <a:off x="758952" y="3215640"/>
            <a:ext cx="5138927" cy="12771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画像全体を表示し、縦横比を保ちます。</a:t>
            </a:r>
          </a:p>
        </p:txBody>
      </p:sp>
      <p:sp>
        <p:nvSpPr>
          <p:cNvPr id="8" name="decoration"/>
          <p:cNvSpPr/>
          <p:nvPr/>
        </p:nvSpPr>
        <p:spPr>
          <a:xfrm>
            <a:off x="548640" y="471220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758952" y="4602480"/>
            <a:ext cx="5138927" cy="12771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説明文は PowerPoint 上で編集できます。</a:t>
            </a:r>
          </a:p>
        </p:txBody>
      </p:sp>
      <p:sp>
        <p:nvSpPr>
          <p:cNvPr id="10" name="decoration"/>
          <p:cNvSpPr/>
          <p:nvPr/>
        </p:nvSpPr>
        <p:spPr>
          <a:xfrm>
            <a:off x="6263640" y="1828800"/>
            <a:ext cx="537667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grid:fit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189988"/>
            <a:ext cx="5157216" cy="3438144"/>
          </a:xfrm>
          <a:prstGeom prst="rect">
            <a:avLst/>
          </a:prstGeom>
        </p:spPr>
      </p:pic>
      <p:sp>
        <p:nvSpPr>
          <p:cNvPr id="12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s008, s009, s010, s011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受付方法の比較</a:t>
            </a:r>
          </a:p>
        </p:txBody>
      </p:sp>
      <p:sp>
        <p:nvSpPr>
          <p:cNvPr id="4" name="decoration"/>
          <p:cNvSpPr/>
          <p:nvPr/>
        </p:nvSpPr>
        <p:spPr>
          <a:xfrm>
            <a:off x="548640" y="1828800"/>
            <a:ext cx="5404104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ation"/>
          <p:cNvSpPr/>
          <p:nvPr/>
        </p:nvSpPr>
        <p:spPr>
          <a:xfrm>
            <a:off x="548640" y="1828800"/>
            <a:ext cx="5404104" cy="685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"/>
          <p:cNvSpPr txBox="1"/>
          <p:nvPr/>
        </p:nvSpPr>
        <p:spPr>
          <a:xfrm>
            <a:off x="758952" y="2029968"/>
            <a:ext cx="48920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lang="ja-JP">
                <a:solidFill>
                  <a:srgbClr val="007C83"/>
                </a:solidFill>
                <a:latin typeface="Meiryo"/>
                <a:ea typeface="Meiryo"/>
                <a:cs typeface="Meiryo"/>
              </a:defRPr>
            </a:pPr>
            <a:r>
              <a:rPr sz="2400" b="1" lang="ja-JP">
                <a:solidFill>
                  <a:srgbClr val="007C83"/>
                </a:solidFill>
                <a:latin typeface="Meiryo"/>
                <a:ea typeface="Meiryo"/>
                <a:cs typeface="Meiryo"/>
              </a:rPr>
              <a:t>紙の受付</a:t>
            </a:r>
          </a:p>
        </p:txBody>
      </p:sp>
      <p:sp>
        <p:nvSpPr>
          <p:cNvPr id="7" name="decoration"/>
          <p:cNvSpPr/>
          <p:nvPr/>
        </p:nvSpPr>
        <p:spPr>
          <a:xfrm>
            <a:off x="758952" y="294436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969264" y="2834640"/>
            <a:ext cx="4672583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その場で書き込める。</a:t>
            </a:r>
          </a:p>
        </p:txBody>
      </p:sp>
      <p:sp>
        <p:nvSpPr>
          <p:cNvPr id="9" name="decoration"/>
          <p:cNvSpPr/>
          <p:nvPr/>
        </p:nvSpPr>
        <p:spPr>
          <a:xfrm>
            <a:off x="758952" y="440740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"/>
          <p:cNvSpPr txBox="1"/>
          <p:nvPr/>
        </p:nvSpPr>
        <p:spPr>
          <a:xfrm>
            <a:off x="969264" y="4297680"/>
            <a:ext cx="4672583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集計には転記が必要。</a:t>
            </a:r>
          </a:p>
        </p:txBody>
      </p:sp>
      <p:sp>
        <p:nvSpPr>
          <p:cNvPr id="11" name="decoration"/>
          <p:cNvSpPr/>
          <p:nvPr/>
        </p:nvSpPr>
        <p:spPr>
          <a:xfrm>
            <a:off x="6236208" y="1828800"/>
            <a:ext cx="5404104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ation"/>
          <p:cNvSpPr/>
          <p:nvPr/>
        </p:nvSpPr>
        <p:spPr>
          <a:xfrm>
            <a:off x="6236208" y="1828800"/>
            <a:ext cx="5404104" cy="68580"/>
          </a:xfrm>
          <a:prstGeom prst="rect">
            <a:avLst/>
          </a:prstGeom>
          <a:solidFill>
            <a:srgbClr val="476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dy"/>
          <p:cNvSpPr txBox="1"/>
          <p:nvPr/>
        </p:nvSpPr>
        <p:spPr>
          <a:xfrm>
            <a:off x="6446520" y="2029968"/>
            <a:ext cx="48920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lang="ja-JP">
                <a:solidFill>
                  <a:srgbClr val="47699B"/>
                </a:solidFill>
                <a:latin typeface="Meiryo"/>
                <a:ea typeface="Meiryo"/>
                <a:cs typeface="Meiryo"/>
              </a:defRPr>
            </a:pPr>
            <a:r>
              <a:rPr sz="2400" b="1" lang="ja-JP">
                <a:solidFill>
                  <a:srgbClr val="47699B"/>
                </a:solidFill>
                <a:latin typeface="Meiryo"/>
                <a:ea typeface="Meiryo"/>
                <a:cs typeface="Meiryo"/>
              </a:rPr>
              <a:t>共通の記録表</a:t>
            </a:r>
          </a:p>
        </p:txBody>
      </p:sp>
      <p:sp>
        <p:nvSpPr>
          <p:cNvPr id="14" name="decoration"/>
          <p:cNvSpPr/>
          <p:nvPr/>
        </p:nvSpPr>
        <p:spPr>
          <a:xfrm>
            <a:off x="6446520" y="294436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"/>
          <p:cNvSpPr txBox="1"/>
          <p:nvPr/>
        </p:nvSpPr>
        <p:spPr>
          <a:xfrm>
            <a:off x="6656832" y="2834640"/>
            <a:ext cx="4672583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担当者間で参照しやすい。</a:t>
            </a:r>
          </a:p>
        </p:txBody>
      </p:sp>
      <p:sp>
        <p:nvSpPr>
          <p:cNvPr id="16" name="decoration"/>
          <p:cNvSpPr/>
          <p:nvPr/>
        </p:nvSpPr>
        <p:spPr>
          <a:xfrm>
            <a:off x="6446520" y="440740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"/>
          <p:cNvSpPr txBox="1"/>
          <p:nvPr/>
        </p:nvSpPr>
        <p:spPr>
          <a:xfrm>
            <a:off x="6656832" y="4297680"/>
            <a:ext cx="4672583" cy="1353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入力手順の共有が必要。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s012, s013, s014, s015, s016, s017, s018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試行から振り返りへ</a:t>
            </a:r>
          </a:p>
        </p:txBody>
      </p:sp>
      <p:sp>
        <p:nvSpPr>
          <p:cNvPr id="4" name="decoration"/>
          <p:cNvSpPr/>
          <p:nvPr/>
        </p:nvSpPr>
        <p:spPr>
          <a:xfrm>
            <a:off x="548640" y="2423160"/>
            <a:ext cx="2533649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713232" y="2606040"/>
            <a:ext cx="220446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defRPr>
            </a:pPr>
            <a:r>
              <a: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13232" y="3200400"/>
            <a:ext cx="2204465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要望の整理</a:t>
            </a:r>
          </a:p>
        </p:txBody>
      </p:sp>
      <p:sp>
        <p:nvSpPr>
          <p:cNvPr id="7" name="decoration"/>
          <p:cNvSpPr/>
          <p:nvPr/>
        </p:nvSpPr>
        <p:spPr>
          <a:xfrm>
            <a:off x="3123437" y="3657600"/>
            <a:ext cx="228600" cy="201168"/>
          </a:xfrm>
          <a:prstGeom prst="chevron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ation"/>
          <p:cNvSpPr/>
          <p:nvPr/>
        </p:nvSpPr>
        <p:spPr>
          <a:xfrm>
            <a:off x="3402329" y="2423160"/>
            <a:ext cx="2533649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el"/>
          <p:cNvSpPr txBox="1"/>
          <p:nvPr/>
        </p:nvSpPr>
        <p:spPr>
          <a:xfrm>
            <a:off x="3566921" y="2606040"/>
            <a:ext cx="220446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defRPr>
            </a:pPr>
            <a:r>
              <a: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566921" y="3200400"/>
            <a:ext cx="2204465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小さく試す</a:t>
            </a:r>
          </a:p>
        </p:txBody>
      </p:sp>
      <p:sp>
        <p:nvSpPr>
          <p:cNvPr id="11" name="decoration"/>
          <p:cNvSpPr/>
          <p:nvPr/>
        </p:nvSpPr>
        <p:spPr>
          <a:xfrm>
            <a:off x="5977127" y="3657600"/>
            <a:ext cx="228600" cy="201168"/>
          </a:xfrm>
          <a:prstGeom prst="chevron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ation"/>
          <p:cNvSpPr/>
          <p:nvPr/>
        </p:nvSpPr>
        <p:spPr>
          <a:xfrm>
            <a:off x="6256019" y="2423160"/>
            <a:ext cx="2533649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"/>
          <p:cNvSpPr txBox="1"/>
          <p:nvPr/>
        </p:nvSpPr>
        <p:spPr>
          <a:xfrm>
            <a:off x="6420611" y="2606040"/>
            <a:ext cx="220446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defRPr>
            </a:pPr>
            <a:r>
              <a: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6420611" y="3200400"/>
            <a:ext cx="2204465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結果の記録</a:t>
            </a:r>
          </a:p>
        </p:txBody>
      </p:sp>
      <p:sp>
        <p:nvSpPr>
          <p:cNvPr id="15" name="decoration"/>
          <p:cNvSpPr/>
          <p:nvPr/>
        </p:nvSpPr>
        <p:spPr>
          <a:xfrm>
            <a:off x="8830817" y="3657600"/>
            <a:ext cx="228600" cy="201168"/>
          </a:xfrm>
          <a:prstGeom prst="chevron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ration"/>
          <p:cNvSpPr/>
          <p:nvPr/>
        </p:nvSpPr>
        <p:spPr>
          <a:xfrm>
            <a:off x="9109709" y="2423160"/>
            <a:ext cx="2533649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el"/>
          <p:cNvSpPr txBox="1"/>
          <p:nvPr/>
        </p:nvSpPr>
        <p:spPr>
          <a:xfrm>
            <a:off x="9274301" y="2606040"/>
            <a:ext cx="220446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defRPr>
            </a:pPr>
            <a:r>
              <a:rPr sz="2200" b="1" lang="ja-JP">
                <a:solidFill>
                  <a:srgbClr val="007C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8" name="body"/>
          <p:cNvSpPr txBox="1"/>
          <p:nvPr/>
        </p:nvSpPr>
        <p:spPr>
          <a:xfrm>
            <a:off x="9274301" y="3200400"/>
            <a:ext cx="2204465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運用の見直し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s019, s020, s021, s022, s023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試行の予定を共有する</a:t>
            </a:r>
          </a:p>
        </p:txBody>
      </p:sp>
      <p:graphicFrame>
        <p:nvGraphicFramePr>
          <p:cNvPr id="4" name="native_table"/>
          <p:cNvGraphicFramePr>
            <a:graphicFrameLocks noGrp="1"/>
          </p:cNvGraphicFramePr>
          <p:nvPr/>
        </p:nvGraphicFramePr>
        <p:xfrm>
          <a:off x="548640" y="1828800"/>
          <a:ext cx="1109471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239"/>
                <a:gridCol w="3698239"/>
                <a:gridCol w="3698241"/>
              </a:tblGrid>
              <a:tr h="1040130"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lang="ja-JP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1" lang="ja-JP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段階</a:t>
                      </a:r>
                    </a:p>
                  </a:txBody>
                  <a:tcPr marL="91440" marR="91440" marT="36576" marB="36576">
                    <a:solidFill>
                      <a:srgbClr val="13233B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lang="ja-JP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1" lang="ja-JP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作業</a:t>
                      </a:r>
                    </a:p>
                  </a:txBody>
                  <a:tcPr marL="91440" marR="91440" marT="36576" marB="36576">
                    <a:solidFill>
                      <a:srgbClr val="13233B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lang="ja-JP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1" lang="ja-JP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確認内容</a:t>
                      </a:r>
                    </a:p>
                  </a:txBody>
                  <a:tcPr marL="91440" marR="91440" marT="36576" marB="36576">
                    <a:solidFill>
                      <a:srgbClr val="13233B"/>
                    </a:solidFill>
                  </a:tcPr>
                </a:tc>
              </a:tr>
              <a:tr h="1040130"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準備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記録表を作成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項目の不足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試行</a:t>
                      </a:r>
                    </a:p>
                  </a:txBody>
                  <a:tcPr marL="91440" marR="91440" marT="36576" marB="36576">
                    <a:solidFill>
                      <a:srgbClr val="E8EEF4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受付で利用</a:t>
                      </a:r>
                    </a:p>
                  </a:txBody>
                  <a:tcPr marL="91440" marR="91440" marT="36576" marB="36576">
                    <a:solidFill>
                      <a:srgbClr val="E8EEF4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記入の負担</a:t>
                      </a:r>
                    </a:p>
                  </a:txBody>
                  <a:tcPr marL="91440" marR="91440" marT="36576" marB="36576">
                    <a:solidFill>
                      <a:srgbClr val="E8EEF4"/>
                    </a:solidFill>
                  </a:tcPr>
                </a:tc>
              </a:tr>
              <a:tr h="1040130"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振り返り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記録を確認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t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defRPr>
                      </a:pPr>
                      <a:r>
                        <a:rPr sz="2000" b="0" lang="ja-JP">
                          <a:solidFill>
                            <a:srgbClr val="13233B"/>
                          </a:solidFill>
                          <a:latin typeface="Meiryo"/>
                          <a:ea typeface="Meiryo"/>
                          <a:cs typeface="Meiryo"/>
                        </a:rPr>
                        <a:t>改善する箇所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s024, s025, s026, s027, s028, s029, s030, s031, s032, s033, s034, s035, s036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記録件数を確認する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548640" y="1828800"/>
            <a:ext cx="110947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8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記録件数</a:t>
            </a:r>
          </a:p>
        </p:txBody>
      </p:sp>
      <p:graphicFrame>
        <p:nvGraphicFramePr>
          <p:cNvPr id="5" name="native_chart"/>
          <p:cNvGraphicFramePr>
            <a:graphicFrameLocks noGrp="1"/>
          </p:cNvGraphicFramePr>
          <p:nvPr/>
        </p:nvGraphicFramePr>
        <p:xfrm>
          <a:off x="548640" y="2212848"/>
          <a:ext cx="11094719" cy="29992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lead"/>
          <p:cNvSpPr txBox="1"/>
          <p:nvPr/>
        </p:nvSpPr>
        <p:spPr>
          <a:xfrm>
            <a:off x="548640" y="5349240"/>
            <a:ext cx="1109471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8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単位：件。架空の数値であり、改善効果を示すものではありません。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s037, s038, s039, s040, s041, s042, s043, s044, s045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次の試行に向けて</a:t>
            </a:r>
          </a:p>
        </p:txBody>
      </p:sp>
      <p:sp>
        <p:nvSpPr>
          <p:cNvPr id="4" name="decoration"/>
          <p:cNvSpPr/>
          <p:nvPr/>
        </p:nvSpPr>
        <p:spPr>
          <a:xfrm>
            <a:off x="822959" y="23957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1033271" y="2286000"/>
            <a:ext cx="9756648" cy="957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記録の取り方を担当者間で確認する。</a:t>
            </a:r>
          </a:p>
        </p:txBody>
      </p:sp>
      <p:sp>
        <p:nvSpPr>
          <p:cNvPr id="6" name="decoration"/>
          <p:cNvSpPr/>
          <p:nvPr/>
        </p:nvSpPr>
        <p:spPr>
          <a:xfrm>
            <a:off x="822959" y="34625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"/>
          <p:cNvSpPr txBox="1"/>
          <p:nvPr/>
        </p:nvSpPr>
        <p:spPr>
          <a:xfrm>
            <a:off x="1033271" y="3352800"/>
            <a:ext cx="9756648" cy="957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不明な点を残したまま効果を断定しない。</a:t>
            </a:r>
          </a:p>
        </p:txBody>
      </p:sp>
      <p:sp>
        <p:nvSpPr>
          <p:cNvPr id="8" name="decoration"/>
          <p:cNvSpPr/>
          <p:nvPr/>
        </p:nvSpPr>
        <p:spPr>
          <a:xfrm>
            <a:off x="822959" y="45293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1033271" y="4419600"/>
            <a:ext cx="9756648" cy="957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運用に合わせて文章や表を手直しする。</a:t>
            </a:r>
          </a:p>
        </p:txBody>
      </p:sp>
      <p:sp>
        <p:nvSpPr>
          <p:cNvPr id="10" name="decoration"/>
          <p:cNvSpPr/>
          <p:nvPr/>
        </p:nvSpPr>
        <p:spPr>
          <a:xfrm>
            <a:off x="11109960" y="2286000"/>
            <a:ext cx="137160" cy="320040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 s046, s047, s048, s049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地域図書室の運営改善（架空例）</dc:title>
  <dc:subject>Source-traceable editable slides</dc:subject>
  <dc:creator>slide-layout-agent</dc:creator>
  <cp:keywords/>
  <dc:description>Independent implementation. Source references are recorded in slide notes.</dc:description>
  <cp:lastModifiedBy>slide-layout-agent</cp:lastModifiedBy>
  <cp:revision>1</cp:revision>
  <dcterms:created xsi:type="dcterms:W3CDTF">2013-01-27T09:14:16Z</dcterms:created>
  <dcterms:modified xsi:type="dcterms:W3CDTF">2013-01-27T09:15:58Z</dcterms:modified>
  <cp:category/>
</cp:coreProperties>
</file>